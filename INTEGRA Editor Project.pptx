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799" autoAdjust="0"/>
  </p:normalViewPr>
  <p:slideViewPr>
    <p:cSldViewPr snapToGrid="0">
      <p:cViewPr varScale="1">
        <p:scale>
          <a:sx n="92" d="100"/>
          <a:sy n="92" d="100"/>
        </p:scale>
        <p:origin x="42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B31DFF-8840-2291-2E41-DAEB89D45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6A25C2C-7DF8-DDC4-8456-6EE860BBD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5B6DCF-039A-6FF2-2CBC-FE297CA30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A5209-3173-DFB6-1A17-A865DE489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71C2C0-A359-45C3-6930-3DDD16DF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820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239BE4-90B0-A169-194C-AEC30DCB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F1D89D-5B66-09DE-C0CD-E153F34D5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4396EB-1138-2090-3615-76F1952EC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1552FC2-DCBE-6365-6A3D-7D9620509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E26521-3BE0-27A3-8D00-46EEBA67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490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05370A-BAAF-7E6B-AA19-F878D783B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8C7E451-E2B1-38BF-CD36-CFC92AFA6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8939AE-9B31-FDE9-BB0E-686688C1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BD68529-56AD-184B-E387-D53673F2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443560-00B9-52F1-A360-748BAC4B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431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BBCFA5-D4D9-EB80-E63F-579C4F130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B41686-5253-7C26-B454-D0DB63754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57E6D98-296F-F3E7-A686-F1BB9DD16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0699D31-27F8-A54D-8670-2E980F1E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F58AD2E-E98A-14AA-7C3F-3840D45B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3A99630-C559-D9CC-DF44-47F2CFBA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2220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1096C7-7CA3-A3E2-B148-F3102BC9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A52C9FE-C369-59E3-4B73-8CDBFE73C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E754AEE-8A2F-2DAC-40F7-DBC86E84A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C6D0440-1DE2-322E-F31E-0FBB7A623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714AB78-DC1A-5265-8072-FB1770D69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C59671A-0BED-8587-93B7-48E77C49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E24ED3-0142-7849-B603-715C38EAC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46D731F-D888-C6FE-70F4-9846DBFC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517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2EBCA2-2AD5-2F68-927E-63B7DBC1D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57BE60B-F6B7-686E-431F-AB05B62E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C5998BE-8DC3-1747-A122-E2B78A8B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91C277A-10BD-29F0-5A84-DF0EC3CD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710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E55AE1D-D869-73B1-966D-CADC111EE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922C26D-A2C0-4B0A-3785-9DF4DCAB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6F24E3-A5C5-D38B-BF85-17294547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20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8E0E46-8524-C45E-4709-5EDDE539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C0F4F0-FBE8-954A-0DA3-F1467B606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F12CBFD-AC93-EFCC-932E-8994B5FD8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338979A-67BD-848B-1726-D98CE756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B6A8626-EAA7-D3B0-B141-5A38C2D06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3C4D552-045E-2379-C18B-68377AB9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517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CF0FBC-7465-A92B-A02A-9129B59DE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F0F8527-9704-2D61-9E1A-A5494B6216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E5FE396-1E29-02B2-B82F-677397EA1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D8C2566-0BF4-D51B-DF86-BA37A22A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FE6019A-EF53-5778-D993-1A4BED7B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CF01485-0FAE-E619-A1D1-DA586E00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874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81F8D0-1F5A-923B-B94C-72CA7ED42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1DCF00-78B6-57AF-15D1-2C2A0B733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16D7EE-5BD4-C1F1-E233-ED656CAF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53992A-1D0A-5EFE-2BEB-3C096945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CD90CA-7D46-E2B3-B9E1-2F32E98D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331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91DDE10-5979-B162-8E61-75ADF4132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9A0446A-DC8D-1DEF-B2DB-879354C56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8F17A85-415C-EC00-F205-BA9B832D9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53528-5108-B57E-1E23-E0F085B7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E9DF3C-BF51-3158-550F-67614D06D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964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7FF4254-EA84-DCF3-2C71-7C510A4A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F76DA62-D71D-6980-675C-624593325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E8432B6-BEB6-A784-3E73-E57F11060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13C40-EE66-436C-AD33-4DC4D8836D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552D3C-EF38-70CE-7A45-C0F2023C3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5C64C1-1EDE-6AFE-F611-F008CBE85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666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6246B9-7412-C7DC-EABD-3AE0783BD40C}"/>
              </a:ext>
            </a:extLst>
          </p:cNvPr>
          <p:cNvSpPr txBox="1"/>
          <p:nvPr/>
        </p:nvSpPr>
        <p:spPr>
          <a:xfrm>
            <a:off x="294968" y="255638"/>
            <a:ext cx="2858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Integra </a:t>
            </a:r>
            <a:r>
              <a:rPr lang="it-IT" sz="2800" dirty="0" err="1"/>
              <a:t>Overview</a:t>
            </a:r>
            <a:r>
              <a:rPr lang="it-IT" sz="2800" dirty="0"/>
              <a:t>: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3CCA339-21CB-5013-192A-8ABA3EC5E090}"/>
              </a:ext>
            </a:extLst>
          </p:cNvPr>
          <p:cNvSpPr txBox="1"/>
          <p:nvPr/>
        </p:nvSpPr>
        <p:spPr>
          <a:xfrm>
            <a:off x="580630" y="1166841"/>
            <a:ext cx="2512233" cy="187743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b="1" dirty="0"/>
              <a:t>Front-end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Angular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PrimeNg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PrimeBlocks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Apache </a:t>
            </a:r>
            <a:r>
              <a:rPr lang="it-IT" sz="1600" dirty="0" err="1"/>
              <a:t>Echarts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JointJS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Quadtree</a:t>
            </a:r>
            <a:endParaRPr lang="it-IT" sz="1600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C1E0CA5-2F15-535C-EF19-9CC536F7DC7C}"/>
              </a:ext>
            </a:extLst>
          </p:cNvPr>
          <p:cNvSpPr txBox="1"/>
          <p:nvPr/>
        </p:nvSpPr>
        <p:spPr>
          <a:xfrm>
            <a:off x="4414158" y="551289"/>
            <a:ext cx="7197212" cy="31085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b="1" dirty="0"/>
              <a:t>WASM Solver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WASM </a:t>
            </a:r>
            <a:r>
              <a:rPr lang="it-IT" sz="1600" dirty="0" err="1"/>
              <a:t>based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Rust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Dual-</a:t>
            </a:r>
            <a:r>
              <a:rPr lang="it-IT" sz="1600" dirty="0" err="1"/>
              <a:t>interface</a:t>
            </a:r>
            <a:r>
              <a:rPr lang="it-IT" sz="1600" dirty="0"/>
              <a:t> (</a:t>
            </a:r>
            <a:r>
              <a:rPr lang="it-IT" sz="1600" dirty="0" err="1"/>
              <a:t>wasm</a:t>
            </a:r>
            <a:r>
              <a:rPr lang="it-IT" sz="1600" dirty="0"/>
              <a:t> e nativo)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Request</a:t>
            </a:r>
            <a:r>
              <a:rPr lang="it-IT" sz="1600" dirty="0"/>
              <a:t>/</a:t>
            </a:r>
            <a:r>
              <a:rPr lang="it-IT" sz="1600" dirty="0" err="1"/>
              <a:t>Response</a:t>
            </a:r>
            <a:r>
              <a:rPr lang="it-IT" sz="1600" dirty="0"/>
              <a:t> pattern to </a:t>
            </a:r>
            <a:r>
              <a:rPr lang="it-IT" sz="1600" dirty="0" err="1"/>
              <a:t>interface</a:t>
            </a:r>
            <a:r>
              <a:rPr lang="it-IT" sz="1600" dirty="0"/>
              <a:t> with front-end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Pre-defined</a:t>
            </a:r>
            <a:r>
              <a:rPr lang="it-IT" sz="1600" dirty="0"/>
              <a:t> JSON </a:t>
            </a:r>
            <a:r>
              <a:rPr lang="it-IT" sz="1600" dirty="0" err="1"/>
              <a:t>messages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Implemented</a:t>
            </a:r>
            <a:r>
              <a:rPr lang="it-IT" sz="1600" dirty="0"/>
              <a:t> Simulators (Budget, </a:t>
            </a:r>
            <a:r>
              <a:rPr lang="it-IT" sz="1600" dirty="0" err="1"/>
              <a:t>Sparameter</a:t>
            </a:r>
            <a:r>
              <a:rPr lang="it-IT" sz="1600" dirty="0"/>
              <a:t>, AC, DC, </a:t>
            </a:r>
            <a:r>
              <a:rPr lang="it-IT" sz="1600" dirty="0" err="1"/>
              <a:t>Transient</a:t>
            </a:r>
            <a:r>
              <a:rPr lang="it-IT" sz="1600" dirty="0"/>
              <a:t>, HB, FTDT)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Netlist</a:t>
            </a:r>
            <a:r>
              <a:rPr lang="it-IT" sz="1600" dirty="0"/>
              <a:t> parser from </a:t>
            </a:r>
            <a:r>
              <a:rPr lang="it-IT" sz="1600" dirty="0" err="1"/>
              <a:t>JointJS</a:t>
            </a:r>
            <a:r>
              <a:rPr lang="it-IT" sz="1600" dirty="0"/>
              <a:t> </a:t>
            </a:r>
            <a:r>
              <a:rPr lang="it-IT" sz="1600" dirty="0" err="1"/>
              <a:t>Graph</a:t>
            </a:r>
            <a:r>
              <a:rPr lang="it-IT" sz="1600" dirty="0"/>
              <a:t>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Factory</a:t>
            </a:r>
            <a:r>
              <a:rPr lang="it-IT" sz="1600" dirty="0"/>
              <a:t> pattern to </a:t>
            </a:r>
            <a:r>
              <a:rPr lang="it-IT" sz="1600" dirty="0" err="1"/>
              <a:t>manage</a:t>
            </a:r>
            <a:r>
              <a:rPr lang="it-IT" sz="1600" dirty="0"/>
              <a:t> model of the </a:t>
            </a:r>
            <a:r>
              <a:rPr lang="it-IT" sz="1600" dirty="0" err="1"/>
              <a:t>components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Simulation</a:t>
            </a:r>
            <a:r>
              <a:rPr lang="it-IT" sz="1600" dirty="0"/>
              <a:t> </a:t>
            </a:r>
            <a:r>
              <a:rPr lang="it-IT" sz="1600" dirty="0" err="1"/>
              <a:t>Orchestration</a:t>
            </a:r>
            <a:r>
              <a:rPr lang="it-IT" sz="1600" dirty="0"/>
              <a:t> + controller + light </a:t>
            </a:r>
            <a:r>
              <a:rPr lang="it-IT" sz="1600" dirty="0" err="1"/>
              <a:t>calculations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Dataset to put </a:t>
            </a:r>
            <a:r>
              <a:rPr lang="it-IT" sz="1600" dirty="0" err="1"/>
              <a:t>all</a:t>
            </a:r>
            <a:r>
              <a:rPr lang="it-IT" sz="1600" dirty="0"/>
              <a:t> </a:t>
            </a:r>
            <a:r>
              <a:rPr lang="it-IT" sz="1600" dirty="0" err="1"/>
              <a:t>required</a:t>
            </a:r>
            <a:r>
              <a:rPr lang="it-IT" sz="1600" dirty="0"/>
              <a:t> data </a:t>
            </a:r>
            <a:r>
              <a:rPr lang="it-IT" sz="1600" dirty="0" err="1"/>
              <a:t>results</a:t>
            </a:r>
            <a:r>
              <a:rPr lang="it-IT" sz="1600" dirty="0"/>
              <a:t> from the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webGPUs</a:t>
            </a:r>
            <a:r>
              <a:rPr lang="it-IT" sz="1600" dirty="0"/>
              <a:t> + shaders for heavy </a:t>
            </a:r>
            <a:r>
              <a:rPr lang="it-IT" sz="1600" dirty="0" err="1"/>
              <a:t>computational</a:t>
            </a:r>
            <a:r>
              <a:rPr lang="it-IT" sz="1600" dirty="0"/>
              <a:t> </a:t>
            </a:r>
            <a:r>
              <a:rPr lang="it-IT" sz="1600" dirty="0" err="1"/>
              <a:t>algorithm</a:t>
            </a:r>
            <a:r>
              <a:rPr lang="it-IT" sz="1600" dirty="0"/>
              <a:t> of the </a:t>
            </a:r>
            <a:r>
              <a:rPr lang="it-IT" sz="1600" dirty="0" err="1"/>
              <a:t>solvers</a:t>
            </a:r>
            <a:endParaRPr lang="it-IT" sz="1600" dirty="0"/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2EFB2B3D-955B-3811-BACB-EDFE092E4D7B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3092863" y="2105560"/>
            <a:ext cx="1321295" cy="1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0BFB5981-2A97-913D-6556-8D31EF3C8DD2}"/>
              </a:ext>
            </a:extLst>
          </p:cNvPr>
          <p:cNvSpPr txBox="1"/>
          <p:nvPr/>
        </p:nvSpPr>
        <p:spPr>
          <a:xfrm>
            <a:off x="3238370" y="1747246"/>
            <a:ext cx="1069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dirty="0"/>
              <a:t>JSON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756C32C0-EFFE-3234-33D1-ACC2171788DD}"/>
              </a:ext>
            </a:extLst>
          </p:cNvPr>
          <p:cNvSpPr txBox="1"/>
          <p:nvPr/>
        </p:nvSpPr>
        <p:spPr>
          <a:xfrm>
            <a:off x="4414158" y="4388103"/>
            <a:ext cx="7197212" cy="2369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b="1" dirty="0"/>
              <a:t>GPU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Dual-</a:t>
            </a:r>
            <a:r>
              <a:rPr lang="it-IT" sz="1600" dirty="0" err="1"/>
              <a:t>application</a:t>
            </a:r>
            <a:r>
              <a:rPr lang="it-IT" sz="1600" dirty="0"/>
              <a:t>: web app and desktop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WebGPU</a:t>
            </a:r>
            <a:r>
              <a:rPr lang="it-IT" sz="1600" dirty="0"/>
              <a:t> </a:t>
            </a:r>
            <a:r>
              <a:rPr lang="it-IT" sz="1600" dirty="0" err="1"/>
              <a:t>based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WGSL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RF Budget Analyzer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Sub-network </a:t>
            </a:r>
            <a:r>
              <a:rPr lang="it-IT" sz="1600" dirty="0" err="1"/>
              <a:t>growth</a:t>
            </a:r>
            <a:r>
              <a:rPr lang="it-IT" sz="1600" dirty="0"/>
              <a:t> </a:t>
            </a:r>
            <a:r>
              <a:rPr lang="it-IT" sz="1600" dirty="0" err="1"/>
              <a:t>algorithm</a:t>
            </a:r>
            <a:r>
              <a:rPr lang="it-IT" sz="1600" dirty="0"/>
              <a:t> for S-</a:t>
            </a:r>
            <a:r>
              <a:rPr lang="it-IT" sz="1600" dirty="0" err="1"/>
              <a:t>parameter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Linear Matrix </a:t>
            </a:r>
            <a:r>
              <a:rPr lang="it-IT" sz="1600" dirty="0" err="1"/>
              <a:t>calculation</a:t>
            </a:r>
            <a:r>
              <a:rPr lang="it-IT" sz="1600" dirty="0"/>
              <a:t> (to be </a:t>
            </a:r>
            <a:r>
              <a:rPr lang="it-IT" sz="1600" dirty="0" err="1"/>
              <a:t>defined</a:t>
            </a:r>
            <a:r>
              <a:rPr lang="it-IT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FFT </a:t>
            </a:r>
            <a:r>
              <a:rPr lang="it-IT" sz="1600" dirty="0" err="1"/>
              <a:t>calculation</a:t>
            </a:r>
            <a:r>
              <a:rPr lang="it-IT" sz="1600" dirty="0"/>
              <a:t> (to be </a:t>
            </a:r>
            <a:r>
              <a:rPr lang="it-IT" sz="1600" dirty="0" err="1"/>
              <a:t>defined</a:t>
            </a:r>
            <a:r>
              <a:rPr lang="it-IT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</p:txBody>
      </p:sp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8F686E94-D17F-5DA3-5430-D88328AADD7A}"/>
              </a:ext>
            </a:extLst>
          </p:cNvPr>
          <p:cNvCxnSpPr>
            <a:cxnSpLocks/>
            <a:stCxn id="17" idx="2"/>
            <a:endCxn id="61" idx="0"/>
          </p:cNvCxnSpPr>
          <p:nvPr/>
        </p:nvCxnSpPr>
        <p:spPr>
          <a:xfrm>
            <a:off x="8012764" y="3659832"/>
            <a:ext cx="0" cy="728271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0523DFA3-AF1A-17A1-F99E-091041D82D1C}"/>
              </a:ext>
            </a:extLst>
          </p:cNvPr>
          <p:cNvSpPr txBox="1"/>
          <p:nvPr/>
        </p:nvSpPr>
        <p:spPr>
          <a:xfrm>
            <a:off x="8001747" y="3688337"/>
            <a:ext cx="1534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Buffer IN</a:t>
            </a:r>
          </a:p>
          <a:p>
            <a:r>
              <a:rPr lang="it-IT" sz="1600" b="1" dirty="0"/>
              <a:t>Buffer OUT</a:t>
            </a:r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E431608C-4216-8AF2-F2CE-AA2C808BEC84}"/>
              </a:ext>
            </a:extLst>
          </p:cNvPr>
          <p:cNvSpPr txBox="1"/>
          <p:nvPr/>
        </p:nvSpPr>
        <p:spPr>
          <a:xfrm>
            <a:off x="351970" y="3659832"/>
            <a:ext cx="1446475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b="1" dirty="0"/>
              <a:t>Local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IndexedDB</a:t>
            </a:r>
            <a:endParaRPr lang="it-IT" sz="1600" dirty="0"/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A1FCE3A5-87A9-ADE8-0666-DFC2B5B69325}"/>
              </a:ext>
            </a:extLst>
          </p:cNvPr>
          <p:cNvSpPr txBox="1"/>
          <p:nvPr/>
        </p:nvSpPr>
        <p:spPr>
          <a:xfrm>
            <a:off x="2151272" y="3657518"/>
            <a:ext cx="1446475" cy="8925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b="1" dirty="0"/>
              <a:t>Back-end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Springboot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Postgres</a:t>
            </a:r>
            <a:endParaRPr lang="it-IT" sz="1600" dirty="0"/>
          </a:p>
        </p:txBody>
      </p:sp>
      <p:cxnSp>
        <p:nvCxnSpPr>
          <p:cNvPr id="82" name="Connettore a gomito 81">
            <a:extLst>
              <a:ext uri="{FF2B5EF4-FFF2-40B4-BE49-F238E27FC236}">
                <a16:creationId xmlns:a16="http://schemas.microsoft.com/office/drawing/2014/main" id="{5655CD98-3F08-C79C-D70C-CD12A9FDD4D9}"/>
              </a:ext>
            </a:extLst>
          </p:cNvPr>
          <p:cNvCxnSpPr>
            <a:stCxn id="14" idx="2"/>
            <a:endCxn id="79" idx="0"/>
          </p:cNvCxnSpPr>
          <p:nvPr/>
        </p:nvCxnSpPr>
        <p:spPr>
          <a:xfrm rot="5400000">
            <a:off x="1148201" y="2971286"/>
            <a:ext cx="615554" cy="761539"/>
          </a:xfrm>
          <a:prstGeom prst="bentConnector3">
            <a:avLst/>
          </a:prstGeom>
          <a:ln>
            <a:headEnd type="stealth"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nettore a gomito 82">
            <a:extLst>
              <a:ext uri="{FF2B5EF4-FFF2-40B4-BE49-F238E27FC236}">
                <a16:creationId xmlns:a16="http://schemas.microsoft.com/office/drawing/2014/main" id="{7E6144FC-1170-BECD-8F76-DDD2F3608E1F}"/>
              </a:ext>
            </a:extLst>
          </p:cNvPr>
          <p:cNvCxnSpPr>
            <a:cxnSpLocks/>
            <a:stCxn id="14" idx="2"/>
            <a:endCxn id="80" idx="0"/>
          </p:cNvCxnSpPr>
          <p:nvPr/>
        </p:nvCxnSpPr>
        <p:spPr>
          <a:xfrm rot="16200000" flipH="1">
            <a:off x="2049008" y="2832016"/>
            <a:ext cx="613240" cy="1037763"/>
          </a:xfrm>
          <a:prstGeom prst="bentConnector3">
            <a:avLst/>
          </a:prstGeom>
          <a:ln>
            <a:headEnd type="stealth"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532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A1CA2-63CB-418A-B9A0-9A6B72260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ABFF810-3B58-37C3-EFC2-9EB4EDB323D4}"/>
              </a:ext>
            </a:extLst>
          </p:cNvPr>
          <p:cNvSpPr/>
          <p:nvPr/>
        </p:nvSpPr>
        <p:spPr>
          <a:xfrm>
            <a:off x="3058630" y="749147"/>
            <a:ext cx="8244675" cy="57728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22A55A8-044B-7A99-1859-F1D1140C863B}"/>
              </a:ext>
            </a:extLst>
          </p:cNvPr>
          <p:cNvSpPr/>
          <p:nvPr/>
        </p:nvSpPr>
        <p:spPr>
          <a:xfrm>
            <a:off x="980501" y="749146"/>
            <a:ext cx="2082188" cy="57728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AA52BC6-29AD-F653-174C-F76447AD4ED8}"/>
              </a:ext>
            </a:extLst>
          </p:cNvPr>
          <p:cNvSpPr txBox="1"/>
          <p:nvPr/>
        </p:nvSpPr>
        <p:spPr>
          <a:xfrm>
            <a:off x="1784116" y="914651"/>
            <a:ext cx="485902" cy="276999"/>
          </a:xfrm>
          <a:custGeom>
            <a:avLst/>
            <a:gdLst>
              <a:gd name="connsiteX0" fmla="*/ 0 w 485902"/>
              <a:gd name="connsiteY0" fmla="*/ 0 h 276999"/>
              <a:gd name="connsiteX1" fmla="*/ 485902 w 485902"/>
              <a:gd name="connsiteY1" fmla="*/ 0 h 276999"/>
              <a:gd name="connsiteX2" fmla="*/ 485902 w 485902"/>
              <a:gd name="connsiteY2" fmla="*/ 276999 h 276999"/>
              <a:gd name="connsiteX3" fmla="*/ 0 w 485902"/>
              <a:gd name="connsiteY3" fmla="*/ 276999 h 276999"/>
              <a:gd name="connsiteX4" fmla="*/ 0 w 485902"/>
              <a:gd name="connsiteY4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5902" h="276999" fill="none" extrusionOk="0">
                <a:moveTo>
                  <a:pt x="0" y="0"/>
                </a:moveTo>
                <a:cubicBezTo>
                  <a:pt x="169053" y="-40641"/>
                  <a:pt x="345844" y="21112"/>
                  <a:pt x="485902" y="0"/>
                </a:cubicBezTo>
                <a:cubicBezTo>
                  <a:pt x="496862" y="109854"/>
                  <a:pt x="455254" y="219022"/>
                  <a:pt x="485902" y="276999"/>
                </a:cubicBezTo>
                <a:cubicBezTo>
                  <a:pt x="370978" y="308300"/>
                  <a:pt x="173874" y="256177"/>
                  <a:pt x="0" y="276999"/>
                </a:cubicBezTo>
                <a:cubicBezTo>
                  <a:pt x="-12769" y="168538"/>
                  <a:pt x="13287" y="65664"/>
                  <a:pt x="0" y="0"/>
                </a:cubicBezTo>
                <a:close/>
              </a:path>
              <a:path w="485902" h="276999" stroke="0" extrusionOk="0">
                <a:moveTo>
                  <a:pt x="0" y="0"/>
                </a:moveTo>
                <a:cubicBezTo>
                  <a:pt x="139953" y="-19832"/>
                  <a:pt x="335346" y="37233"/>
                  <a:pt x="485902" y="0"/>
                </a:cubicBezTo>
                <a:cubicBezTo>
                  <a:pt x="496743" y="100549"/>
                  <a:pt x="469921" y="219324"/>
                  <a:pt x="485902" y="276999"/>
                </a:cubicBezTo>
                <a:cubicBezTo>
                  <a:pt x="277744" y="325492"/>
                  <a:pt x="114991" y="248646"/>
                  <a:pt x="0" y="276999"/>
                </a:cubicBezTo>
                <a:cubicBezTo>
                  <a:pt x="-29237" y="187790"/>
                  <a:pt x="11007" y="74165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New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6772767-2D8D-CBAC-AAB0-C0F7A6D5EE3D}"/>
              </a:ext>
            </a:extLst>
          </p:cNvPr>
          <p:cNvSpPr txBox="1"/>
          <p:nvPr/>
        </p:nvSpPr>
        <p:spPr>
          <a:xfrm>
            <a:off x="1538055" y="1323260"/>
            <a:ext cx="963021" cy="276999"/>
          </a:xfrm>
          <a:custGeom>
            <a:avLst/>
            <a:gdLst>
              <a:gd name="connsiteX0" fmla="*/ 0 w 963021"/>
              <a:gd name="connsiteY0" fmla="*/ 0 h 276999"/>
              <a:gd name="connsiteX1" fmla="*/ 481511 w 963021"/>
              <a:gd name="connsiteY1" fmla="*/ 0 h 276999"/>
              <a:gd name="connsiteX2" fmla="*/ 963021 w 963021"/>
              <a:gd name="connsiteY2" fmla="*/ 0 h 276999"/>
              <a:gd name="connsiteX3" fmla="*/ 963021 w 963021"/>
              <a:gd name="connsiteY3" fmla="*/ 276999 h 276999"/>
              <a:gd name="connsiteX4" fmla="*/ 500771 w 963021"/>
              <a:gd name="connsiteY4" fmla="*/ 276999 h 276999"/>
              <a:gd name="connsiteX5" fmla="*/ 0 w 963021"/>
              <a:gd name="connsiteY5" fmla="*/ 276999 h 276999"/>
              <a:gd name="connsiteX6" fmla="*/ 0 w 963021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3021" h="276999" fill="none" extrusionOk="0">
                <a:moveTo>
                  <a:pt x="0" y="0"/>
                </a:moveTo>
                <a:cubicBezTo>
                  <a:pt x="171126" y="-19488"/>
                  <a:pt x="342684" y="53932"/>
                  <a:pt x="481511" y="0"/>
                </a:cubicBezTo>
                <a:cubicBezTo>
                  <a:pt x="620338" y="-53932"/>
                  <a:pt x="735420" y="11935"/>
                  <a:pt x="963021" y="0"/>
                </a:cubicBezTo>
                <a:cubicBezTo>
                  <a:pt x="965707" y="91091"/>
                  <a:pt x="952029" y="209961"/>
                  <a:pt x="963021" y="276999"/>
                </a:cubicBezTo>
                <a:cubicBezTo>
                  <a:pt x="787801" y="300212"/>
                  <a:pt x="624793" y="225126"/>
                  <a:pt x="500771" y="276999"/>
                </a:cubicBezTo>
                <a:cubicBezTo>
                  <a:pt x="376749" y="328872"/>
                  <a:pt x="169272" y="271118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963021" h="276999" stroke="0" extrusionOk="0">
                <a:moveTo>
                  <a:pt x="0" y="0"/>
                </a:moveTo>
                <a:cubicBezTo>
                  <a:pt x="124605" y="-24295"/>
                  <a:pt x="337697" y="36566"/>
                  <a:pt x="462250" y="0"/>
                </a:cubicBezTo>
                <a:cubicBezTo>
                  <a:pt x="586803" y="-36566"/>
                  <a:pt x="752343" y="35425"/>
                  <a:pt x="963021" y="0"/>
                </a:cubicBezTo>
                <a:cubicBezTo>
                  <a:pt x="971764" y="110938"/>
                  <a:pt x="958487" y="181448"/>
                  <a:pt x="963021" y="276999"/>
                </a:cubicBezTo>
                <a:cubicBezTo>
                  <a:pt x="826382" y="278324"/>
                  <a:pt x="723442" y="275335"/>
                  <a:pt x="500771" y="276999"/>
                </a:cubicBezTo>
                <a:cubicBezTo>
                  <a:pt x="278100" y="278663"/>
                  <a:pt x="141567" y="240073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 err="1"/>
              <a:t>Find</a:t>
            </a:r>
            <a:r>
              <a:rPr lang="it-IT" sz="1200" dirty="0"/>
              <a:t> Design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C77DD49-0BBF-1D81-4009-2751DB351E0B}"/>
              </a:ext>
            </a:extLst>
          </p:cNvPr>
          <p:cNvSpPr txBox="1"/>
          <p:nvPr/>
        </p:nvSpPr>
        <p:spPr>
          <a:xfrm>
            <a:off x="1709031" y="1722900"/>
            <a:ext cx="636072" cy="276999"/>
          </a:xfrm>
          <a:custGeom>
            <a:avLst/>
            <a:gdLst>
              <a:gd name="connsiteX0" fmla="*/ 0 w 636072"/>
              <a:gd name="connsiteY0" fmla="*/ 0 h 276999"/>
              <a:gd name="connsiteX1" fmla="*/ 318036 w 636072"/>
              <a:gd name="connsiteY1" fmla="*/ 0 h 276999"/>
              <a:gd name="connsiteX2" fmla="*/ 636072 w 636072"/>
              <a:gd name="connsiteY2" fmla="*/ 0 h 276999"/>
              <a:gd name="connsiteX3" fmla="*/ 636072 w 636072"/>
              <a:gd name="connsiteY3" fmla="*/ 276999 h 276999"/>
              <a:gd name="connsiteX4" fmla="*/ 330757 w 636072"/>
              <a:gd name="connsiteY4" fmla="*/ 276999 h 276999"/>
              <a:gd name="connsiteX5" fmla="*/ 0 w 636072"/>
              <a:gd name="connsiteY5" fmla="*/ 276999 h 276999"/>
              <a:gd name="connsiteX6" fmla="*/ 0 w 636072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6072" h="276999" fill="none" extrusionOk="0">
                <a:moveTo>
                  <a:pt x="0" y="0"/>
                </a:moveTo>
                <a:cubicBezTo>
                  <a:pt x="72076" y="-1434"/>
                  <a:pt x="219667" y="36205"/>
                  <a:pt x="318036" y="0"/>
                </a:cubicBezTo>
                <a:cubicBezTo>
                  <a:pt x="416405" y="-36205"/>
                  <a:pt x="493284" y="12652"/>
                  <a:pt x="636072" y="0"/>
                </a:cubicBezTo>
                <a:cubicBezTo>
                  <a:pt x="638758" y="91091"/>
                  <a:pt x="625080" y="209961"/>
                  <a:pt x="636072" y="276999"/>
                </a:cubicBezTo>
                <a:cubicBezTo>
                  <a:pt x="498638" y="310619"/>
                  <a:pt x="442495" y="274419"/>
                  <a:pt x="330757" y="276999"/>
                </a:cubicBezTo>
                <a:cubicBezTo>
                  <a:pt x="219020" y="279579"/>
                  <a:pt x="72117" y="251119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636072" h="276999" stroke="0" extrusionOk="0">
                <a:moveTo>
                  <a:pt x="0" y="0"/>
                </a:moveTo>
                <a:cubicBezTo>
                  <a:pt x="95351" y="-22782"/>
                  <a:pt x="228558" y="18"/>
                  <a:pt x="305315" y="0"/>
                </a:cubicBezTo>
                <a:cubicBezTo>
                  <a:pt x="382072" y="-18"/>
                  <a:pt x="529935" y="34188"/>
                  <a:pt x="636072" y="0"/>
                </a:cubicBezTo>
                <a:cubicBezTo>
                  <a:pt x="644815" y="110938"/>
                  <a:pt x="631538" y="181448"/>
                  <a:pt x="636072" y="276999"/>
                </a:cubicBezTo>
                <a:cubicBezTo>
                  <a:pt x="524260" y="284192"/>
                  <a:pt x="428409" y="266682"/>
                  <a:pt x="330757" y="276999"/>
                </a:cubicBezTo>
                <a:cubicBezTo>
                  <a:pt x="233106" y="287316"/>
                  <a:pt x="91086" y="251185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Library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1617B61-4E9D-5A10-8B83-5AA3DFD37E21}"/>
              </a:ext>
            </a:extLst>
          </p:cNvPr>
          <p:cNvSpPr txBox="1"/>
          <p:nvPr/>
        </p:nvSpPr>
        <p:spPr>
          <a:xfrm>
            <a:off x="1091860" y="2699043"/>
            <a:ext cx="524503" cy="276999"/>
          </a:xfrm>
          <a:custGeom>
            <a:avLst/>
            <a:gdLst>
              <a:gd name="connsiteX0" fmla="*/ 0 w 524503"/>
              <a:gd name="connsiteY0" fmla="*/ 0 h 276999"/>
              <a:gd name="connsiteX1" fmla="*/ 524503 w 524503"/>
              <a:gd name="connsiteY1" fmla="*/ 0 h 276999"/>
              <a:gd name="connsiteX2" fmla="*/ 524503 w 524503"/>
              <a:gd name="connsiteY2" fmla="*/ 276999 h 276999"/>
              <a:gd name="connsiteX3" fmla="*/ 0 w 524503"/>
              <a:gd name="connsiteY3" fmla="*/ 276999 h 276999"/>
              <a:gd name="connsiteX4" fmla="*/ 0 w 524503"/>
              <a:gd name="connsiteY4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503" h="276999" fill="none" extrusionOk="0">
                <a:moveTo>
                  <a:pt x="0" y="0"/>
                </a:moveTo>
                <a:cubicBezTo>
                  <a:pt x="162863" y="-54835"/>
                  <a:pt x="295328" y="5895"/>
                  <a:pt x="524503" y="0"/>
                </a:cubicBezTo>
                <a:cubicBezTo>
                  <a:pt x="535463" y="109854"/>
                  <a:pt x="493855" y="219022"/>
                  <a:pt x="524503" y="276999"/>
                </a:cubicBezTo>
                <a:cubicBezTo>
                  <a:pt x="321689" y="312635"/>
                  <a:pt x="178935" y="226224"/>
                  <a:pt x="0" y="276999"/>
                </a:cubicBezTo>
                <a:cubicBezTo>
                  <a:pt x="-12769" y="168538"/>
                  <a:pt x="13287" y="65664"/>
                  <a:pt x="0" y="0"/>
                </a:cubicBezTo>
                <a:close/>
              </a:path>
              <a:path w="524503" h="276999" stroke="0" extrusionOk="0">
                <a:moveTo>
                  <a:pt x="0" y="0"/>
                </a:moveTo>
                <a:cubicBezTo>
                  <a:pt x="217650" y="-51622"/>
                  <a:pt x="271883" y="39441"/>
                  <a:pt x="524503" y="0"/>
                </a:cubicBezTo>
                <a:cubicBezTo>
                  <a:pt x="535344" y="100549"/>
                  <a:pt x="508522" y="219324"/>
                  <a:pt x="524503" y="276999"/>
                </a:cubicBezTo>
                <a:cubicBezTo>
                  <a:pt x="337449" y="291465"/>
                  <a:pt x="204356" y="262313"/>
                  <a:pt x="0" y="276999"/>
                </a:cubicBezTo>
                <a:cubicBezTo>
                  <a:pt x="-29237" y="187790"/>
                  <a:pt x="11007" y="74165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Apps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853F465-A42A-C488-6330-312D50BC0CD8}"/>
              </a:ext>
            </a:extLst>
          </p:cNvPr>
          <p:cNvSpPr txBox="1"/>
          <p:nvPr/>
        </p:nvSpPr>
        <p:spPr>
          <a:xfrm>
            <a:off x="1679824" y="2908815"/>
            <a:ext cx="679481" cy="276999"/>
          </a:xfrm>
          <a:custGeom>
            <a:avLst/>
            <a:gdLst>
              <a:gd name="connsiteX0" fmla="*/ 0 w 679481"/>
              <a:gd name="connsiteY0" fmla="*/ 0 h 276999"/>
              <a:gd name="connsiteX1" fmla="*/ 339741 w 679481"/>
              <a:gd name="connsiteY1" fmla="*/ 0 h 276999"/>
              <a:gd name="connsiteX2" fmla="*/ 679481 w 679481"/>
              <a:gd name="connsiteY2" fmla="*/ 0 h 276999"/>
              <a:gd name="connsiteX3" fmla="*/ 679481 w 679481"/>
              <a:gd name="connsiteY3" fmla="*/ 276999 h 276999"/>
              <a:gd name="connsiteX4" fmla="*/ 353330 w 679481"/>
              <a:gd name="connsiteY4" fmla="*/ 276999 h 276999"/>
              <a:gd name="connsiteX5" fmla="*/ 0 w 679481"/>
              <a:gd name="connsiteY5" fmla="*/ 276999 h 276999"/>
              <a:gd name="connsiteX6" fmla="*/ 0 w 679481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481" h="276999" fill="none" extrusionOk="0">
                <a:moveTo>
                  <a:pt x="0" y="0"/>
                </a:moveTo>
                <a:cubicBezTo>
                  <a:pt x="120952" y="-19244"/>
                  <a:pt x="232176" y="17682"/>
                  <a:pt x="339741" y="0"/>
                </a:cubicBezTo>
                <a:cubicBezTo>
                  <a:pt x="447306" y="-17682"/>
                  <a:pt x="542018" y="3221"/>
                  <a:pt x="679481" y="0"/>
                </a:cubicBezTo>
                <a:cubicBezTo>
                  <a:pt x="682167" y="91091"/>
                  <a:pt x="668489" y="209961"/>
                  <a:pt x="679481" y="276999"/>
                </a:cubicBezTo>
                <a:cubicBezTo>
                  <a:pt x="595712" y="288858"/>
                  <a:pt x="429489" y="250185"/>
                  <a:pt x="353330" y="276999"/>
                </a:cubicBezTo>
                <a:cubicBezTo>
                  <a:pt x="277171" y="303813"/>
                  <a:pt x="131083" y="243434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679481" h="276999" stroke="0" extrusionOk="0">
                <a:moveTo>
                  <a:pt x="0" y="0"/>
                </a:moveTo>
                <a:cubicBezTo>
                  <a:pt x="69171" y="-21572"/>
                  <a:pt x="168708" y="36438"/>
                  <a:pt x="326151" y="0"/>
                </a:cubicBezTo>
                <a:cubicBezTo>
                  <a:pt x="483594" y="-36438"/>
                  <a:pt x="541655" y="11705"/>
                  <a:pt x="679481" y="0"/>
                </a:cubicBezTo>
                <a:cubicBezTo>
                  <a:pt x="688224" y="110938"/>
                  <a:pt x="674947" y="181448"/>
                  <a:pt x="679481" y="276999"/>
                </a:cubicBezTo>
                <a:cubicBezTo>
                  <a:pt x="561040" y="313933"/>
                  <a:pt x="446452" y="245657"/>
                  <a:pt x="353330" y="276999"/>
                </a:cubicBezTo>
                <a:cubicBezTo>
                  <a:pt x="260208" y="308341"/>
                  <a:pt x="137427" y="253037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 err="1"/>
              <a:t>Explore</a:t>
            </a:r>
            <a:endParaRPr lang="it-IT" sz="12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52D5C3E-7188-3BFF-421D-A8FBCDD98122}"/>
              </a:ext>
            </a:extLst>
          </p:cNvPr>
          <p:cNvSpPr txBox="1"/>
          <p:nvPr/>
        </p:nvSpPr>
        <p:spPr>
          <a:xfrm>
            <a:off x="1398976" y="3355267"/>
            <a:ext cx="1241174" cy="276999"/>
          </a:xfrm>
          <a:custGeom>
            <a:avLst/>
            <a:gdLst>
              <a:gd name="connsiteX0" fmla="*/ 0 w 1241174"/>
              <a:gd name="connsiteY0" fmla="*/ 0 h 276999"/>
              <a:gd name="connsiteX1" fmla="*/ 426136 w 1241174"/>
              <a:gd name="connsiteY1" fmla="*/ 0 h 276999"/>
              <a:gd name="connsiteX2" fmla="*/ 827449 w 1241174"/>
              <a:gd name="connsiteY2" fmla="*/ 0 h 276999"/>
              <a:gd name="connsiteX3" fmla="*/ 1241174 w 1241174"/>
              <a:gd name="connsiteY3" fmla="*/ 0 h 276999"/>
              <a:gd name="connsiteX4" fmla="*/ 1241174 w 1241174"/>
              <a:gd name="connsiteY4" fmla="*/ 276999 h 276999"/>
              <a:gd name="connsiteX5" fmla="*/ 839861 w 1241174"/>
              <a:gd name="connsiteY5" fmla="*/ 276999 h 276999"/>
              <a:gd name="connsiteX6" fmla="*/ 413725 w 1241174"/>
              <a:gd name="connsiteY6" fmla="*/ 276999 h 276999"/>
              <a:gd name="connsiteX7" fmla="*/ 0 w 1241174"/>
              <a:gd name="connsiteY7" fmla="*/ 276999 h 276999"/>
              <a:gd name="connsiteX8" fmla="*/ 0 w 1241174"/>
              <a:gd name="connsiteY8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1174" h="276999" fill="none" extrusionOk="0">
                <a:moveTo>
                  <a:pt x="0" y="0"/>
                </a:moveTo>
                <a:cubicBezTo>
                  <a:pt x="162462" y="-21348"/>
                  <a:pt x="221099" y="21217"/>
                  <a:pt x="426136" y="0"/>
                </a:cubicBezTo>
                <a:cubicBezTo>
                  <a:pt x="631173" y="-21217"/>
                  <a:pt x="737871" y="21684"/>
                  <a:pt x="827449" y="0"/>
                </a:cubicBezTo>
                <a:cubicBezTo>
                  <a:pt x="917027" y="-21684"/>
                  <a:pt x="1150831" y="11697"/>
                  <a:pt x="1241174" y="0"/>
                </a:cubicBezTo>
                <a:cubicBezTo>
                  <a:pt x="1255527" y="116925"/>
                  <a:pt x="1209333" y="154060"/>
                  <a:pt x="1241174" y="276999"/>
                </a:cubicBezTo>
                <a:cubicBezTo>
                  <a:pt x="1155164" y="281508"/>
                  <a:pt x="1013988" y="270900"/>
                  <a:pt x="839861" y="276999"/>
                </a:cubicBezTo>
                <a:cubicBezTo>
                  <a:pt x="665734" y="283098"/>
                  <a:pt x="580420" y="252236"/>
                  <a:pt x="413725" y="276999"/>
                </a:cubicBezTo>
                <a:cubicBezTo>
                  <a:pt x="247030" y="301762"/>
                  <a:pt x="93556" y="240906"/>
                  <a:pt x="0" y="276999"/>
                </a:cubicBezTo>
                <a:cubicBezTo>
                  <a:pt x="-17788" y="202079"/>
                  <a:pt x="30734" y="114213"/>
                  <a:pt x="0" y="0"/>
                </a:cubicBezTo>
                <a:close/>
              </a:path>
              <a:path w="1241174" h="276999" stroke="0" extrusionOk="0">
                <a:moveTo>
                  <a:pt x="0" y="0"/>
                </a:moveTo>
                <a:cubicBezTo>
                  <a:pt x="168724" y="-10470"/>
                  <a:pt x="200422" y="33847"/>
                  <a:pt x="388901" y="0"/>
                </a:cubicBezTo>
                <a:cubicBezTo>
                  <a:pt x="577380" y="-33847"/>
                  <a:pt x="606945" y="48663"/>
                  <a:pt x="802626" y="0"/>
                </a:cubicBezTo>
                <a:cubicBezTo>
                  <a:pt x="998308" y="-48663"/>
                  <a:pt x="1088022" y="4718"/>
                  <a:pt x="1241174" y="0"/>
                </a:cubicBezTo>
                <a:cubicBezTo>
                  <a:pt x="1261473" y="69364"/>
                  <a:pt x="1236220" y="195611"/>
                  <a:pt x="1241174" y="276999"/>
                </a:cubicBezTo>
                <a:cubicBezTo>
                  <a:pt x="1047423" y="282269"/>
                  <a:pt x="1018511" y="239890"/>
                  <a:pt x="839861" y="276999"/>
                </a:cubicBezTo>
                <a:cubicBezTo>
                  <a:pt x="661211" y="314108"/>
                  <a:pt x="580048" y="230348"/>
                  <a:pt x="401313" y="276999"/>
                </a:cubicBezTo>
                <a:cubicBezTo>
                  <a:pt x="222578" y="323650"/>
                  <a:pt x="192895" y="238535"/>
                  <a:pt x="0" y="276999"/>
                </a:cubicBezTo>
                <a:cubicBezTo>
                  <a:pt x="-2592" y="141076"/>
                  <a:pt x="25815" y="6864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Preferite App #1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3B4A65A-8CC2-2D59-7B77-0B06E0075F73}"/>
              </a:ext>
            </a:extLst>
          </p:cNvPr>
          <p:cNvSpPr txBox="1"/>
          <p:nvPr/>
        </p:nvSpPr>
        <p:spPr>
          <a:xfrm>
            <a:off x="1412202" y="3855299"/>
            <a:ext cx="1268424" cy="276999"/>
          </a:xfrm>
          <a:custGeom>
            <a:avLst/>
            <a:gdLst>
              <a:gd name="connsiteX0" fmla="*/ 0 w 1268424"/>
              <a:gd name="connsiteY0" fmla="*/ 0 h 276999"/>
              <a:gd name="connsiteX1" fmla="*/ 435492 w 1268424"/>
              <a:gd name="connsiteY1" fmla="*/ 0 h 276999"/>
              <a:gd name="connsiteX2" fmla="*/ 845616 w 1268424"/>
              <a:gd name="connsiteY2" fmla="*/ 0 h 276999"/>
              <a:gd name="connsiteX3" fmla="*/ 1268424 w 1268424"/>
              <a:gd name="connsiteY3" fmla="*/ 0 h 276999"/>
              <a:gd name="connsiteX4" fmla="*/ 1268424 w 1268424"/>
              <a:gd name="connsiteY4" fmla="*/ 276999 h 276999"/>
              <a:gd name="connsiteX5" fmla="*/ 858300 w 1268424"/>
              <a:gd name="connsiteY5" fmla="*/ 276999 h 276999"/>
              <a:gd name="connsiteX6" fmla="*/ 422808 w 1268424"/>
              <a:gd name="connsiteY6" fmla="*/ 276999 h 276999"/>
              <a:gd name="connsiteX7" fmla="*/ 0 w 1268424"/>
              <a:gd name="connsiteY7" fmla="*/ 276999 h 276999"/>
              <a:gd name="connsiteX8" fmla="*/ 0 w 1268424"/>
              <a:gd name="connsiteY8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68424" h="276999" fill="none" extrusionOk="0">
                <a:moveTo>
                  <a:pt x="0" y="0"/>
                </a:moveTo>
                <a:cubicBezTo>
                  <a:pt x="212420" y="-15043"/>
                  <a:pt x="313424" y="36997"/>
                  <a:pt x="435492" y="0"/>
                </a:cubicBezTo>
                <a:cubicBezTo>
                  <a:pt x="557560" y="-36997"/>
                  <a:pt x="672271" y="23541"/>
                  <a:pt x="845616" y="0"/>
                </a:cubicBezTo>
                <a:cubicBezTo>
                  <a:pt x="1018961" y="-23541"/>
                  <a:pt x="1165511" y="29489"/>
                  <a:pt x="1268424" y="0"/>
                </a:cubicBezTo>
                <a:cubicBezTo>
                  <a:pt x="1282777" y="116925"/>
                  <a:pt x="1236583" y="154060"/>
                  <a:pt x="1268424" y="276999"/>
                </a:cubicBezTo>
                <a:cubicBezTo>
                  <a:pt x="1068187" y="282945"/>
                  <a:pt x="968093" y="242063"/>
                  <a:pt x="858300" y="276999"/>
                </a:cubicBezTo>
                <a:cubicBezTo>
                  <a:pt x="748507" y="311935"/>
                  <a:pt x="581999" y="241629"/>
                  <a:pt x="422808" y="276999"/>
                </a:cubicBezTo>
                <a:cubicBezTo>
                  <a:pt x="263617" y="312369"/>
                  <a:pt x="102747" y="240788"/>
                  <a:pt x="0" y="276999"/>
                </a:cubicBezTo>
                <a:cubicBezTo>
                  <a:pt x="-17788" y="202079"/>
                  <a:pt x="30734" y="114213"/>
                  <a:pt x="0" y="0"/>
                </a:cubicBezTo>
                <a:close/>
              </a:path>
              <a:path w="1268424" h="276999" stroke="0" extrusionOk="0">
                <a:moveTo>
                  <a:pt x="0" y="0"/>
                </a:moveTo>
                <a:cubicBezTo>
                  <a:pt x="149582" y="-10691"/>
                  <a:pt x="316373" y="41881"/>
                  <a:pt x="397440" y="0"/>
                </a:cubicBezTo>
                <a:cubicBezTo>
                  <a:pt x="478507" y="-41881"/>
                  <a:pt x="668051" y="6691"/>
                  <a:pt x="820248" y="0"/>
                </a:cubicBezTo>
                <a:cubicBezTo>
                  <a:pt x="972445" y="-6691"/>
                  <a:pt x="1132988" y="48452"/>
                  <a:pt x="1268424" y="0"/>
                </a:cubicBezTo>
                <a:cubicBezTo>
                  <a:pt x="1288723" y="69364"/>
                  <a:pt x="1263470" y="195611"/>
                  <a:pt x="1268424" y="276999"/>
                </a:cubicBezTo>
                <a:cubicBezTo>
                  <a:pt x="1128049" y="318151"/>
                  <a:pt x="1014015" y="272774"/>
                  <a:pt x="858300" y="276999"/>
                </a:cubicBezTo>
                <a:cubicBezTo>
                  <a:pt x="702585" y="281224"/>
                  <a:pt x="559221" y="236244"/>
                  <a:pt x="410124" y="276999"/>
                </a:cubicBezTo>
                <a:cubicBezTo>
                  <a:pt x="261027" y="317754"/>
                  <a:pt x="124454" y="238119"/>
                  <a:pt x="0" y="276999"/>
                </a:cubicBezTo>
                <a:cubicBezTo>
                  <a:pt x="-2592" y="141076"/>
                  <a:pt x="25815" y="6864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Preferite App #N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FCEA18B-E1B8-08A4-7030-5EC9B760F145}"/>
              </a:ext>
            </a:extLst>
          </p:cNvPr>
          <p:cNvSpPr txBox="1"/>
          <p:nvPr/>
        </p:nvSpPr>
        <p:spPr>
          <a:xfrm>
            <a:off x="1091860" y="4344532"/>
            <a:ext cx="720069" cy="276999"/>
          </a:xfrm>
          <a:custGeom>
            <a:avLst/>
            <a:gdLst>
              <a:gd name="connsiteX0" fmla="*/ 0 w 720069"/>
              <a:gd name="connsiteY0" fmla="*/ 0 h 276999"/>
              <a:gd name="connsiteX1" fmla="*/ 360035 w 720069"/>
              <a:gd name="connsiteY1" fmla="*/ 0 h 276999"/>
              <a:gd name="connsiteX2" fmla="*/ 720069 w 720069"/>
              <a:gd name="connsiteY2" fmla="*/ 0 h 276999"/>
              <a:gd name="connsiteX3" fmla="*/ 720069 w 720069"/>
              <a:gd name="connsiteY3" fmla="*/ 276999 h 276999"/>
              <a:gd name="connsiteX4" fmla="*/ 374436 w 720069"/>
              <a:gd name="connsiteY4" fmla="*/ 276999 h 276999"/>
              <a:gd name="connsiteX5" fmla="*/ 0 w 720069"/>
              <a:gd name="connsiteY5" fmla="*/ 276999 h 276999"/>
              <a:gd name="connsiteX6" fmla="*/ 0 w 720069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0069" h="276999" fill="none" extrusionOk="0">
                <a:moveTo>
                  <a:pt x="0" y="0"/>
                </a:moveTo>
                <a:cubicBezTo>
                  <a:pt x="81750" y="-24095"/>
                  <a:pt x="227946" y="5548"/>
                  <a:pt x="360035" y="0"/>
                </a:cubicBezTo>
                <a:cubicBezTo>
                  <a:pt x="492124" y="-5548"/>
                  <a:pt x="574694" y="14477"/>
                  <a:pt x="720069" y="0"/>
                </a:cubicBezTo>
                <a:cubicBezTo>
                  <a:pt x="722755" y="91091"/>
                  <a:pt x="709077" y="209961"/>
                  <a:pt x="720069" y="276999"/>
                </a:cubicBezTo>
                <a:cubicBezTo>
                  <a:pt x="555466" y="293917"/>
                  <a:pt x="505109" y="239513"/>
                  <a:pt x="374436" y="276999"/>
                </a:cubicBezTo>
                <a:cubicBezTo>
                  <a:pt x="243763" y="314485"/>
                  <a:pt x="164985" y="232125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720069" h="276999" stroke="0" extrusionOk="0">
                <a:moveTo>
                  <a:pt x="0" y="0"/>
                </a:moveTo>
                <a:cubicBezTo>
                  <a:pt x="79555" y="-38107"/>
                  <a:pt x="254939" y="25089"/>
                  <a:pt x="345633" y="0"/>
                </a:cubicBezTo>
                <a:cubicBezTo>
                  <a:pt x="436327" y="-25089"/>
                  <a:pt x="560846" y="22390"/>
                  <a:pt x="720069" y="0"/>
                </a:cubicBezTo>
                <a:cubicBezTo>
                  <a:pt x="728812" y="110938"/>
                  <a:pt x="715535" y="181448"/>
                  <a:pt x="720069" y="276999"/>
                </a:cubicBezTo>
                <a:cubicBezTo>
                  <a:pt x="601213" y="317192"/>
                  <a:pt x="479529" y="244426"/>
                  <a:pt x="374436" y="276999"/>
                </a:cubicBezTo>
                <a:cubicBezTo>
                  <a:pt x="269343" y="309572"/>
                  <a:pt x="84240" y="275178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Designs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EA547D8-37D6-5167-DC56-D818D85D6D12}"/>
              </a:ext>
            </a:extLst>
          </p:cNvPr>
          <p:cNvSpPr txBox="1"/>
          <p:nvPr/>
        </p:nvSpPr>
        <p:spPr>
          <a:xfrm>
            <a:off x="1611840" y="4627209"/>
            <a:ext cx="841897" cy="276999"/>
          </a:xfrm>
          <a:custGeom>
            <a:avLst/>
            <a:gdLst>
              <a:gd name="connsiteX0" fmla="*/ 0 w 841897"/>
              <a:gd name="connsiteY0" fmla="*/ 0 h 276999"/>
              <a:gd name="connsiteX1" fmla="*/ 420949 w 841897"/>
              <a:gd name="connsiteY1" fmla="*/ 0 h 276999"/>
              <a:gd name="connsiteX2" fmla="*/ 841897 w 841897"/>
              <a:gd name="connsiteY2" fmla="*/ 0 h 276999"/>
              <a:gd name="connsiteX3" fmla="*/ 841897 w 841897"/>
              <a:gd name="connsiteY3" fmla="*/ 276999 h 276999"/>
              <a:gd name="connsiteX4" fmla="*/ 437786 w 841897"/>
              <a:gd name="connsiteY4" fmla="*/ 276999 h 276999"/>
              <a:gd name="connsiteX5" fmla="*/ 0 w 841897"/>
              <a:gd name="connsiteY5" fmla="*/ 276999 h 276999"/>
              <a:gd name="connsiteX6" fmla="*/ 0 w 841897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1897" h="276999" fill="none" extrusionOk="0">
                <a:moveTo>
                  <a:pt x="0" y="0"/>
                </a:moveTo>
                <a:cubicBezTo>
                  <a:pt x="194545" y="-6917"/>
                  <a:pt x="302199" y="48410"/>
                  <a:pt x="420949" y="0"/>
                </a:cubicBezTo>
                <a:cubicBezTo>
                  <a:pt x="539699" y="-48410"/>
                  <a:pt x="742874" y="34633"/>
                  <a:pt x="841897" y="0"/>
                </a:cubicBezTo>
                <a:cubicBezTo>
                  <a:pt x="844583" y="91091"/>
                  <a:pt x="830905" y="209961"/>
                  <a:pt x="841897" y="276999"/>
                </a:cubicBezTo>
                <a:cubicBezTo>
                  <a:pt x="759446" y="318769"/>
                  <a:pt x="607104" y="246815"/>
                  <a:pt x="437786" y="276999"/>
                </a:cubicBezTo>
                <a:cubicBezTo>
                  <a:pt x="268468" y="307183"/>
                  <a:pt x="203469" y="241234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841897" h="276999" stroke="0" extrusionOk="0">
                <a:moveTo>
                  <a:pt x="0" y="0"/>
                </a:moveTo>
                <a:cubicBezTo>
                  <a:pt x="193743" y="-46614"/>
                  <a:pt x="261756" y="39517"/>
                  <a:pt x="404111" y="0"/>
                </a:cubicBezTo>
                <a:cubicBezTo>
                  <a:pt x="546466" y="-39517"/>
                  <a:pt x="739734" y="16271"/>
                  <a:pt x="841897" y="0"/>
                </a:cubicBezTo>
                <a:cubicBezTo>
                  <a:pt x="850640" y="110938"/>
                  <a:pt x="837363" y="181448"/>
                  <a:pt x="841897" y="276999"/>
                </a:cubicBezTo>
                <a:cubicBezTo>
                  <a:pt x="679381" y="279750"/>
                  <a:pt x="566010" y="240437"/>
                  <a:pt x="437786" y="276999"/>
                </a:cubicBezTo>
                <a:cubicBezTo>
                  <a:pt x="309562" y="313561"/>
                  <a:pt x="123069" y="250916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Design #1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C8F7632-CE1A-EA04-489A-573178BFF078}"/>
              </a:ext>
            </a:extLst>
          </p:cNvPr>
          <p:cNvSpPr txBox="1"/>
          <p:nvPr/>
        </p:nvSpPr>
        <p:spPr>
          <a:xfrm>
            <a:off x="1611840" y="5167427"/>
            <a:ext cx="869149" cy="276999"/>
          </a:xfrm>
          <a:custGeom>
            <a:avLst/>
            <a:gdLst>
              <a:gd name="connsiteX0" fmla="*/ 0 w 869149"/>
              <a:gd name="connsiteY0" fmla="*/ 0 h 276999"/>
              <a:gd name="connsiteX1" fmla="*/ 434575 w 869149"/>
              <a:gd name="connsiteY1" fmla="*/ 0 h 276999"/>
              <a:gd name="connsiteX2" fmla="*/ 869149 w 869149"/>
              <a:gd name="connsiteY2" fmla="*/ 0 h 276999"/>
              <a:gd name="connsiteX3" fmla="*/ 869149 w 869149"/>
              <a:gd name="connsiteY3" fmla="*/ 276999 h 276999"/>
              <a:gd name="connsiteX4" fmla="*/ 451957 w 869149"/>
              <a:gd name="connsiteY4" fmla="*/ 276999 h 276999"/>
              <a:gd name="connsiteX5" fmla="*/ 0 w 869149"/>
              <a:gd name="connsiteY5" fmla="*/ 276999 h 276999"/>
              <a:gd name="connsiteX6" fmla="*/ 0 w 869149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9149" h="276999" fill="none" extrusionOk="0">
                <a:moveTo>
                  <a:pt x="0" y="0"/>
                </a:moveTo>
                <a:cubicBezTo>
                  <a:pt x="206067" y="-27243"/>
                  <a:pt x="230857" y="3680"/>
                  <a:pt x="434575" y="0"/>
                </a:cubicBezTo>
                <a:cubicBezTo>
                  <a:pt x="638294" y="-3680"/>
                  <a:pt x="655014" y="14863"/>
                  <a:pt x="869149" y="0"/>
                </a:cubicBezTo>
                <a:cubicBezTo>
                  <a:pt x="871835" y="91091"/>
                  <a:pt x="858157" y="209961"/>
                  <a:pt x="869149" y="276999"/>
                </a:cubicBezTo>
                <a:cubicBezTo>
                  <a:pt x="675468" y="280915"/>
                  <a:pt x="653987" y="227120"/>
                  <a:pt x="451957" y="276999"/>
                </a:cubicBezTo>
                <a:cubicBezTo>
                  <a:pt x="249927" y="326878"/>
                  <a:pt x="180752" y="224248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869149" h="276999" stroke="0" extrusionOk="0">
                <a:moveTo>
                  <a:pt x="0" y="0"/>
                </a:moveTo>
                <a:cubicBezTo>
                  <a:pt x="186702" y="-20439"/>
                  <a:pt x="295001" y="47413"/>
                  <a:pt x="417192" y="0"/>
                </a:cubicBezTo>
                <a:cubicBezTo>
                  <a:pt x="539383" y="-47413"/>
                  <a:pt x="763290" y="24108"/>
                  <a:pt x="869149" y="0"/>
                </a:cubicBezTo>
                <a:cubicBezTo>
                  <a:pt x="877892" y="110938"/>
                  <a:pt x="864615" y="181448"/>
                  <a:pt x="869149" y="276999"/>
                </a:cubicBezTo>
                <a:cubicBezTo>
                  <a:pt x="726122" y="299216"/>
                  <a:pt x="577145" y="235443"/>
                  <a:pt x="451957" y="276999"/>
                </a:cubicBezTo>
                <a:cubicBezTo>
                  <a:pt x="326769" y="318555"/>
                  <a:pt x="221931" y="276538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Design #N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28477384-0591-8D25-5E5F-5F96ADA2D23C}"/>
              </a:ext>
            </a:extLst>
          </p:cNvPr>
          <p:cNvSpPr txBox="1"/>
          <p:nvPr/>
        </p:nvSpPr>
        <p:spPr>
          <a:xfrm>
            <a:off x="1665364" y="2146155"/>
            <a:ext cx="708399" cy="276999"/>
          </a:xfrm>
          <a:custGeom>
            <a:avLst/>
            <a:gdLst>
              <a:gd name="connsiteX0" fmla="*/ 0 w 708399"/>
              <a:gd name="connsiteY0" fmla="*/ 0 h 276999"/>
              <a:gd name="connsiteX1" fmla="*/ 354200 w 708399"/>
              <a:gd name="connsiteY1" fmla="*/ 0 h 276999"/>
              <a:gd name="connsiteX2" fmla="*/ 708399 w 708399"/>
              <a:gd name="connsiteY2" fmla="*/ 0 h 276999"/>
              <a:gd name="connsiteX3" fmla="*/ 708399 w 708399"/>
              <a:gd name="connsiteY3" fmla="*/ 276999 h 276999"/>
              <a:gd name="connsiteX4" fmla="*/ 368367 w 708399"/>
              <a:gd name="connsiteY4" fmla="*/ 276999 h 276999"/>
              <a:gd name="connsiteX5" fmla="*/ 0 w 708399"/>
              <a:gd name="connsiteY5" fmla="*/ 276999 h 276999"/>
              <a:gd name="connsiteX6" fmla="*/ 0 w 708399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8399" h="276999" fill="none" extrusionOk="0">
                <a:moveTo>
                  <a:pt x="0" y="0"/>
                </a:moveTo>
                <a:cubicBezTo>
                  <a:pt x="135615" y="-22083"/>
                  <a:pt x="193710" y="8414"/>
                  <a:pt x="354200" y="0"/>
                </a:cubicBezTo>
                <a:cubicBezTo>
                  <a:pt x="514690" y="-8414"/>
                  <a:pt x="538010" y="592"/>
                  <a:pt x="708399" y="0"/>
                </a:cubicBezTo>
                <a:cubicBezTo>
                  <a:pt x="711085" y="91091"/>
                  <a:pt x="697407" y="209961"/>
                  <a:pt x="708399" y="276999"/>
                </a:cubicBezTo>
                <a:cubicBezTo>
                  <a:pt x="584405" y="301599"/>
                  <a:pt x="461202" y="270323"/>
                  <a:pt x="368367" y="276999"/>
                </a:cubicBezTo>
                <a:cubicBezTo>
                  <a:pt x="275532" y="283675"/>
                  <a:pt x="104111" y="261184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708399" h="276999" stroke="0" extrusionOk="0">
                <a:moveTo>
                  <a:pt x="0" y="0"/>
                </a:moveTo>
                <a:cubicBezTo>
                  <a:pt x="131700" y="-34537"/>
                  <a:pt x="232591" y="4786"/>
                  <a:pt x="340032" y="0"/>
                </a:cubicBezTo>
                <a:cubicBezTo>
                  <a:pt x="447473" y="-4786"/>
                  <a:pt x="531158" y="10881"/>
                  <a:pt x="708399" y="0"/>
                </a:cubicBezTo>
                <a:cubicBezTo>
                  <a:pt x="717142" y="110938"/>
                  <a:pt x="703865" y="181448"/>
                  <a:pt x="708399" y="276999"/>
                </a:cubicBezTo>
                <a:cubicBezTo>
                  <a:pt x="632154" y="312870"/>
                  <a:pt x="488913" y="236616"/>
                  <a:pt x="368367" y="276999"/>
                </a:cubicBezTo>
                <a:cubicBezTo>
                  <a:pt x="247821" y="317382"/>
                  <a:pt x="82931" y="269669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Dataset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CB8FD7D-CFE8-44CB-63E7-97A5905E2E93}"/>
              </a:ext>
            </a:extLst>
          </p:cNvPr>
          <p:cNvSpPr txBox="1"/>
          <p:nvPr/>
        </p:nvSpPr>
        <p:spPr>
          <a:xfrm>
            <a:off x="1640894" y="5605675"/>
            <a:ext cx="646331" cy="276999"/>
          </a:xfrm>
          <a:custGeom>
            <a:avLst/>
            <a:gdLst>
              <a:gd name="connsiteX0" fmla="*/ 0 w 646331"/>
              <a:gd name="connsiteY0" fmla="*/ 0 h 276999"/>
              <a:gd name="connsiteX1" fmla="*/ 323166 w 646331"/>
              <a:gd name="connsiteY1" fmla="*/ 0 h 276999"/>
              <a:gd name="connsiteX2" fmla="*/ 646331 w 646331"/>
              <a:gd name="connsiteY2" fmla="*/ 0 h 276999"/>
              <a:gd name="connsiteX3" fmla="*/ 646331 w 646331"/>
              <a:gd name="connsiteY3" fmla="*/ 276999 h 276999"/>
              <a:gd name="connsiteX4" fmla="*/ 336092 w 646331"/>
              <a:gd name="connsiteY4" fmla="*/ 276999 h 276999"/>
              <a:gd name="connsiteX5" fmla="*/ 0 w 646331"/>
              <a:gd name="connsiteY5" fmla="*/ 276999 h 276999"/>
              <a:gd name="connsiteX6" fmla="*/ 0 w 646331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6331" h="276999" fill="none" extrusionOk="0">
                <a:moveTo>
                  <a:pt x="0" y="0"/>
                </a:moveTo>
                <a:cubicBezTo>
                  <a:pt x="108017" y="-2672"/>
                  <a:pt x="256043" y="26163"/>
                  <a:pt x="323166" y="0"/>
                </a:cubicBezTo>
                <a:cubicBezTo>
                  <a:pt x="390289" y="-26163"/>
                  <a:pt x="577304" y="7309"/>
                  <a:pt x="646331" y="0"/>
                </a:cubicBezTo>
                <a:cubicBezTo>
                  <a:pt x="649017" y="91091"/>
                  <a:pt x="635339" y="209961"/>
                  <a:pt x="646331" y="276999"/>
                </a:cubicBezTo>
                <a:cubicBezTo>
                  <a:pt x="529572" y="301460"/>
                  <a:pt x="465524" y="255401"/>
                  <a:pt x="336092" y="276999"/>
                </a:cubicBezTo>
                <a:cubicBezTo>
                  <a:pt x="206660" y="298597"/>
                  <a:pt x="88517" y="274425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646331" h="276999" stroke="0" extrusionOk="0">
                <a:moveTo>
                  <a:pt x="0" y="0"/>
                </a:moveTo>
                <a:cubicBezTo>
                  <a:pt x="121199" y="-20596"/>
                  <a:pt x="181630" y="6768"/>
                  <a:pt x="310239" y="0"/>
                </a:cubicBezTo>
                <a:cubicBezTo>
                  <a:pt x="438848" y="-6768"/>
                  <a:pt x="499929" y="15141"/>
                  <a:pt x="646331" y="0"/>
                </a:cubicBezTo>
                <a:cubicBezTo>
                  <a:pt x="655074" y="110938"/>
                  <a:pt x="641797" y="181448"/>
                  <a:pt x="646331" y="276999"/>
                </a:cubicBezTo>
                <a:cubicBezTo>
                  <a:pt x="549340" y="287539"/>
                  <a:pt x="465592" y="244488"/>
                  <a:pt x="336092" y="276999"/>
                </a:cubicBezTo>
                <a:cubicBezTo>
                  <a:pt x="206592" y="309510"/>
                  <a:pt x="71724" y="273769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App #1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DB28AFB-A62E-064F-CCDD-32AEF42A6786}"/>
              </a:ext>
            </a:extLst>
          </p:cNvPr>
          <p:cNvSpPr txBox="1"/>
          <p:nvPr/>
        </p:nvSpPr>
        <p:spPr>
          <a:xfrm>
            <a:off x="1640894" y="6145893"/>
            <a:ext cx="673582" cy="276999"/>
          </a:xfrm>
          <a:custGeom>
            <a:avLst/>
            <a:gdLst>
              <a:gd name="connsiteX0" fmla="*/ 0 w 673582"/>
              <a:gd name="connsiteY0" fmla="*/ 0 h 276999"/>
              <a:gd name="connsiteX1" fmla="*/ 336791 w 673582"/>
              <a:gd name="connsiteY1" fmla="*/ 0 h 276999"/>
              <a:gd name="connsiteX2" fmla="*/ 673582 w 673582"/>
              <a:gd name="connsiteY2" fmla="*/ 0 h 276999"/>
              <a:gd name="connsiteX3" fmla="*/ 673582 w 673582"/>
              <a:gd name="connsiteY3" fmla="*/ 276999 h 276999"/>
              <a:gd name="connsiteX4" fmla="*/ 350263 w 673582"/>
              <a:gd name="connsiteY4" fmla="*/ 276999 h 276999"/>
              <a:gd name="connsiteX5" fmla="*/ 0 w 673582"/>
              <a:gd name="connsiteY5" fmla="*/ 276999 h 276999"/>
              <a:gd name="connsiteX6" fmla="*/ 0 w 673582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3582" h="276999" fill="none" extrusionOk="0">
                <a:moveTo>
                  <a:pt x="0" y="0"/>
                </a:moveTo>
                <a:cubicBezTo>
                  <a:pt x="140583" y="-35755"/>
                  <a:pt x="246128" y="37040"/>
                  <a:pt x="336791" y="0"/>
                </a:cubicBezTo>
                <a:cubicBezTo>
                  <a:pt x="427454" y="-37040"/>
                  <a:pt x="574715" y="10033"/>
                  <a:pt x="673582" y="0"/>
                </a:cubicBezTo>
                <a:cubicBezTo>
                  <a:pt x="676268" y="91091"/>
                  <a:pt x="662590" y="209961"/>
                  <a:pt x="673582" y="276999"/>
                </a:cubicBezTo>
                <a:cubicBezTo>
                  <a:pt x="607343" y="310352"/>
                  <a:pt x="460506" y="248563"/>
                  <a:pt x="350263" y="276999"/>
                </a:cubicBezTo>
                <a:cubicBezTo>
                  <a:pt x="240020" y="305435"/>
                  <a:pt x="96245" y="256732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673582" h="276999" stroke="0" extrusionOk="0">
                <a:moveTo>
                  <a:pt x="0" y="0"/>
                </a:moveTo>
                <a:cubicBezTo>
                  <a:pt x="127604" y="-9873"/>
                  <a:pt x="176512" y="29985"/>
                  <a:pt x="323319" y="0"/>
                </a:cubicBezTo>
                <a:cubicBezTo>
                  <a:pt x="470126" y="-29985"/>
                  <a:pt x="551384" y="3754"/>
                  <a:pt x="673582" y="0"/>
                </a:cubicBezTo>
                <a:cubicBezTo>
                  <a:pt x="682325" y="110938"/>
                  <a:pt x="669048" y="181448"/>
                  <a:pt x="673582" y="276999"/>
                </a:cubicBezTo>
                <a:cubicBezTo>
                  <a:pt x="546580" y="285893"/>
                  <a:pt x="456961" y="264523"/>
                  <a:pt x="350263" y="276999"/>
                </a:cubicBezTo>
                <a:cubicBezTo>
                  <a:pt x="243565" y="289475"/>
                  <a:pt x="133801" y="268135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App #N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B9646988-F0F4-932E-F783-C0DA1D829F88}"/>
              </a:ext>
            </a:extLst>
          </p:cNvPr>
          <p:cNvSpPr txBox="1"/>
          <p:nvPr/>
        </p:nvSpPr>
        <p:spPr>
          <a:xfrm>
            <a:off x="6467440" y="902964"/>
            <a:ext cx="578235" cy="276999"/>
          </a:xfrm>
          <a:custGeom>
            <a:avLst/>
            <a:gdLst>
              <a:gd name="connsiteX0" fmla="*/ 0 w 578235"/>
              <a:gd name="connsiteY0" fmla="*/ 0 h 276999"/>
              <a:gd name="connsiteX1" fmla="*/ 578235 w 578235"/>
              <a:gd name="connsiteY1" fmla="*/ 0 h 276999"/>
              <a:gd name="connsiteX2" fmla="*/ 578235 w 578235"/>
              <a:gd name="connsiteY2" fmla="*/ 276999 h 276999"/>
              <a:gd name="connsiteX3" fmla="*/ 0 w 578235"/>
              <a:gd name="connsiteY3" fmla="*/ 276999 h 276999"/>
              <a:gd name="connsiteX4" fmla="*/ 0 w 578235"/>
              <a:gd name="connsiteY4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235" h="276999" fill="none" extrusionOk="0">
                <a:moveTo>
                  <a:pt x="0" y="0"/>
                </a:moveTo>
                <a:cubicBezTo>
                  <a:pt x="214489" y="-38821"/>
                  <a:pt x="324655" y="62853"/>
                  <a:pt x="578235" y="0"/>
                </a:cubicBezTo>
                <a:cubicBezTo>
                  <a:pt x="589195" y="109854"/>
                  <a:pt x="547587" y="219022"/>
                  <a:pt x="578235" y="276999"/>
                </a:cubicBezTo>
                <a:cubicBezTo>
                  <a:pt x="438324" y="335746"/>
                  <a:pt x="213155" y="225589"/>
                  <a:pt x="0" y="276999"/>
                </a:cubicBezTo>
                <a:cubicBezTo>
                  <a:pt x="-12769" y="168538"/>
                  <a:pt x="13287" y="65664"/>
                  <a:pt x="0" y="0"/>
                </a:cubicBezTo>
                <a:close/>
              </a:path>
              <a:path w="578235" h="276999" stroke="0" extrusionOk="0">
                <a:moveTo>
                  <a:pt x="0" y="0"/>
                </a:moveTo>
                <a:cubicBezTo>
                  <a:pt x="204871" y="-34814"/>
                  <a:pt x="429940" y="46757"/>
                  <a:pt x="578235" y="0"/>
                </a:cubicBezTo>
                <a:cubicBezTo>
                  <a:pt x="589076" y="100549"/>
                  <a:pt x="562254" y="219324"/>
                  <a:pt x="578235" y="276999"/>
                </a:cubicBezTo>
                <a:cubicBezTo>
                  <a:pt x="461773" y="309279"/>
                  <a:pt x="285268" y="213079"/>
                  <a:pt x="0" y="276999"/>
                </a:cubicBezTo>
                <a:cubicBezTo>
                  <a:pt x="-29237" y="187790"/>
                  <a:pt x="11007" y="74165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Editor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B60CE6CA-5C12-F9D4-050A-A18618A9F37D}"/>
              </a:ext>
            </a:extLst>
          </p:cNvPr>
          <p:cNvSpPr txBox="1"/>
          <p:nvPr/>
        </p:nvSpPr>
        <p:spPr>
          <a:xfrm>
            <a:off x="7045063" y="902964"/>
            <a:ext cx="558166" cy="276999"/>
          </a:xfrm>
          <a:custGeom>
            <a:avLst/>
            <a:gdLst>
              <a:gd name="connsiteX0" fmla="*/ 0 w 558166"/>
              <a:gd name="connsiteY0" fmla="*/ 0 h 276999"/>
              <a:gd name="connsiteX1" fmla="*/ 558166 w 558166"/>
              <a:gd name="connsiteY1" fmla="*/ 0 h 276999"/>
              <a:gd name="connsiteX2" fmla="*/ 558166 w 558166"/>
              <a:gd name="connsiteY2" fmla="*/ 276999 h 276999"/>
              <a:gd name="connsiteX3" fmla="*/ 0 w 558166"/>
              <a:gd name="connsiteY3" fmla="*/ 276999 h 276999"/>
              <a:gd name="connsiteX4" fmla="*/ 0 w 558166"/>
              <a:gd name="connsiteY4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166" h="276999" fill="none" extrusionOk="0">
                <a:moveTo>
                  <a:pt x="0" y="0"/>
                </a:moveTo>
                <a:cubicBezTo>
                  <a:pt x="112578" y="-42736"/>
                  <a:pt x="330045" y="40077"/>
                  <a:pt x="558166" y="0"/>
                </a:cubicBezTo>
                <a:cubicBezTo>
                  <a:pt x="569126" y="109854"/>
                  <a:pt x="527518" y="219022"/>
                  <a:pt x="558166" y="276999"/>
                </a:cubicBezTo>
                <a:cubicBezTo>
                  <a:pt x="363621" y="302556"/>
                  <a:pt x="265985" y="242029"/>
                  <a:pt x="0" y="276999"/>
                </a:cubicBezTo>
                <a:cubicBezTo>
                  <a:pt x="-12769" y="168538"/>
                  <a:pt x="13287" y="65664"/>
                  <a:pt x="0" y="0"/>
                </a:cubicBezTo>
                <a:close/>
              </a:path>
              <a:path w="558166" h="276999" stroke="0" extrusionOk="0">
                <a:moveTo>
                  <a:pt x="0" y="0"/>
                </a:moveTo>
                <a:cubicBezTo>
                  <a:pt x="226056" y="-12974"/>
                  <a:pt x="415694" y="29882"/>
                  <a:pt x="558166" y="0"/>
                </a:cubicBezTo>
                <a:cubicBezTo>
                  <a:pt x="569007" y="100549"/>
                  <a:pt x="542185" y="219324"/>
                  <a:pt x="558166" y="276999"/>
                </a:cubicBezTo>
                <a:cubicBezTo>
                  <a:pt x="434106" y="289185"/>
                  <a:pt x="162003" y="247766"/>
                  <a:pt x="0" y="276999"/>
                </a:cubicBezTo>
                <a:cubicBezTo>
                  <a:pt x="-29237" y="187790"/>
                  <a:pt x="11007" y="74165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Chart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75E2FD1B-6916-48C7-3605-0B5131927C84}"/>
              </a:ext>
            </a:extLst>
          </p:cNvPr>
          <p:cNvSpPr/>
          <p:nvPr/>
        </p:nvSpPr>
        <p:spPr>
          <a:xfrm>
            <a:off x="3294043" y="1861399"/>
            <a:ext cx="373539" cy="37442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TOO</a:t>
            </a:r>
          </a:p>
          <a:p>
            <a:pPr algn="ctr"/>
            <a:r>
              <a:rPr lang="it-IT" sz="1600" dirty="0">
                <a:solidFill>
                  <a:schemeClr val="tx1"/>
                </a:solidFill>
              </a:rPr>
              <a:t>L</a:t>
            </a:r>
          </a:p>
          <a:p>
            <a:pPr algn="ctr"/>
            <a:r>
              <a:rPr lang="it-IT" sz="1600" dirty="0">
                <a:solidFill>
                  <a:schemeClr val="tx1"/>
                </a:solidFill>
              </a:rPr>
              <a:t>BA</a:t>
            </a:r>
          </a:p>
          <a:p>
            <a:pPr algn="ctr"/>
            <a:r>
              <a:rPr lang="it-IT" sz="1600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D19F0BF7-C3AB-E13E-FCBC-1E2E9981303E}"/>
              </a:ext>
            </a:extLst>
          </p:cNvPr>
          <p:cNvSpPr/>
          <p:nvPr/>
        </p:nvSpPr>
        <p:spPr>
          <a:xfrm>
            <a:off x="9391879" y="5989068"/>
            <a:ext cx="1555214" cy="3136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ZOOMBAR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4586C08D-5898-9436-E83B-FBE7EAD0192E}"/>
              </a:ext>
            </a:extLst>
          </p:cNvPr>
          <p:cNvSpPr/>
          <p:nvPr/>
        </p:nvSpPr>
        <p:spPr>
          <a:xfrm>
            <a:off x="3294043" y="866314"/>
            <a:ext cx="2626788" cy="3136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WS + SAVE + UNDO/REDO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0F0AA2C6-CB9E-DE5F-3DF0-A52C2903FA7D}"/>
              </a:ext>
            </a:extLst>
          </p:cNvPr>
          <p:cNvSpPr/>
          <p:nvPr/>
        </p:nvSpPr>
        <p:spPr>
          <a:xfrm>
            <a:off x="9391879" y="902964"/>
            <a:ext cx="1555214" cy="3136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93E60051-54A1-6FC2-DD99-9602CE68A83E}"/>
              </a:ext>
            </a:extLst>
          </p:cNvPr>
          <p:cNvSpPr txBox="1"/>
          <p:nvPr/>
        </p:nvSpPr>
        <p:spPr>
          <a:xfrm>
            <a:off x="211464" y="92800"/>
            <a:ext cx="2022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Integra GUI:</a:t>
            </a:r>
          </a:p>
        </p:txBody>
      </p:sp>
    </p:spTree>
    <p:extLst>
      <p:ext uri="{BB962C8B-B14F-4D97-AF65-F5344CB8AC3E}">
        <p14:creationId xmlns:p14="http://schemas.microsoft.com/office/powerpoint/2010/main" val="4034199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1B9A0-D38B-8A27-41C7-0FAC4ACB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C951CFD7-3E3F-36C8-88CE-33BB0B3D04F3}"/>
              </a:ext>
            </a:extLst>
          </p:cNvPr>
          <p:cNvSpPr txBox="1"/>
          <p:nvPr/>
        </p:nvSpPr>
        <p:spPr>
          <a:xfrm>
            <a:off x="211464" y="92800"/>
            <a:ext cx="3764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General </a:t>
            </a:r>
            <a:r>
              <a:rPr lang="it-IT" sz="2800" dirty="0" err="1"/>
              <a:t>Requirements</a:t>
            </a:r>
            <a:r>
              <a:rPr lang="it-IT" sz="2800" dirty="0"/>
              <a:t>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7D1777F-44F6-FF77-BAE2-680AD70083E9}"/>
              </a:ext>
            </a:extLst>
          </p:cNvPr>
          <p:cNvSpPr txBox="1"/>
          <p:nvPr/>
        </p:nvSpPr>
        <p:spPr>
          <a:xfrm>
            <a:off x="211464" y="649994"/>
            <a:ext cx="11631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Simulation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Locker</a:t>
            </a:r>
            <a:r>
              <a:rPr lang="it-IT" sz="1600" dirty="0">
                <a:highlight>
                  <a:srgbClr val="FFFF00"/>
                </a:highlight>
              </a:rPr>
              <a:t> to </a:t>
            </a:r>
            <a:r>
              <a:rPr lang="it-IT" sz="1600" dirty="0" err="1">
                <a:highlight>
                  <a:srgbClr val="FFFF00"/>
                </a:highlight>
              </a:rPr>
              <a:t>avoid</a:t>
            </a:r>
            <a:r>
              <a:rPr lang="it-IT" sz="1600" dirty="0">
                <a:highlight>
                  <a:srgbClr val="FFFF00"/>
                </a:highlight>
              </a:rPr>
              <a:t> running the solver </a:t>
            </a:r>
            <a:r>
              <a:rPr lang="it-IT" sz="1600" dirty="0" err="1">
                <a:highlight>
                  <a:srgbClr val="FFFF00"/>
                </a:highlight>
              </a:rPr>
              <a:t>engine</a:t>
            </a:r>
            <a:r>
              <a:rPr lang="it-IT" sz="1600" dirty="0">
                <a:highlight>
                  <a:srgbClr val="FFFF00"/>
                </a:highlight>
              </a:rPr>
              <a:t> more </a:t>
            </a:r>
            <a:r>
              <a:rPr lang="it-IT" sz="1600" dirty="0" err="1">
                <a:highlight>
                  <a:srgbClr val="FFFF00"/>
                </a:highlight>
              </a:rPr>
              <a:t>than</a:t>
            </a:r>
            <a:r>
              <a:rPr lang="it-IT" sz="1600" dirty="0">
                <a:highlight>
                  <a:srgbClr val="FFFF00"/>
                </a:highlight>
              </a:rPr>
              <a:t> one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Absolutely</a:t>
            </a:r>
            <a:r>
              <a:rPr lang="it-IT" sz="1600" dirty="0">
                <a:highlight>
                  <a:srgbClr val="FFFF00"/>
                </a:highlight>
              </a:rPr>
              <a:t> one </a:t>
            </a:r>
            <a:r>
              <a:rPr lang="it-IT" sz="1600" dirty="0" err="1">
                <a:highlight>
                  <a:srgbClr val="FFFF00"/>
                </a:highlight>
              </a:rPr>
              <a:t>simulation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at</a:t>
            </a:r>
            <a:r>
              <a:rPr lang="it-IT" sz="1600" dirty="0">
                <a:highlight>
                  <a:srgbClr val="FFFF00"/>
                </a:highlight>
              </a:rPr>
              <a:t> the time on the </a:t>
            </a:r>
            <a:r>
              <a:rPr lang="it-IT" sz="1600" dirty="0" err="1">
                <a:highlight>
                  <a:srgbClr val="FFFF00"/>
                </a:highlight>
              </a:rPr>
              <a:t>same</a:t>
            </a:r>
            <a:r>
              <a:rPr lang="it-IT" sz="1600" dirty="0">
                <a:highlight>
                  <a:srgbClr val="FFFF00"/>
                </a:highlight>
              </a:rPr>
              <a:t> PC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No </a:t>
            </a:r>
            <a:r>
              <a:rPr lang="it-IT" sz="1600" dirty="0" err="1">
                <a:highlight>
                  <a:srgbClr val="FFFF00"/>
                </a:highlight>
              </a:rPr>
              <a:t>simulations</a:t>
            </a:r>
            <a:r>
              <a:rPr lang="it-IT" sz="1600" dirty="0">
                <a:highlight>
                  <a:srgbClr val="FFFF00"/>
                </a:highlight>
              </a:rPr>
              <a:t> on Android</a:t>
            </a:r>
          </a:p>
        </p:txBody>
      </p:sp>
    </p:spTree>
    <p:extLst>
      <p:ext uri="{BB962C8B-B14F-4D97-AF65-F5344CB8AC3E}">
        <p14:creationId xmlns:p14="http://schemas.microsoft.com/office/powerpoint/2010/main" val="3372666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C23F5-34BE-81FD-6431-3E6BFFD07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C72A9A9E-302D-5937-8D72-4410D613C719}"/>
              </a:ext>
            </a:extLst>
          </p:cNvPr>
          <p:cNvSpPr txBox="1"/>
          <p:nvPr/>
        </p:nvSpPr>
        <p:spPr>
          <a:xfrm>
            <a:off x="211464" y="92800"/>
            <a:ext cx="4059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Front-end </a:t>
            </a:r>
            <a:r>
              <a:rPr lang="it-IT" sz="2800" dirty="0" err="1"/>
              <a:t>Requirements</a:t>
            </a:r>
            <a:r>
              <a:rPr lang="it-IT" sz="2800" dirty="0"/>
              <a:t>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C5C043E-7835-B618-38F6-F3CB5ABFE100}"/>
              </a:ext>
            </a:extLst>
          </p:cNvPr>
          <p:cNvSpPr txBox="1"/>
          <p:nvPr/>
        </p:nvSpPr>
        <p:spPr>
          <a:xfrm>
            <a:off x="211464" y="649994"/>
            <a:ext cx="1163166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GUI </a:t>
            </a:r>
            <a:r>
              <a:rPr lang="it-IT" sz="1600" dirty="0" err="1">
                <a:highlight>
                  <a:srgbClr val="FFFF00"/>
                </a:highlight>
              </a:rPr>
              <a:t>chatGPT</a:t>
            </a:r>
            <a:r>
              <a:rPr lang="it-IT" sz="1600" dirty="0">
                <a:highlight>
                  <a:srgbClr val="FFFF00"/>
                </a:highlight>
              </a:rPr>
              <a:t> like </a:t>
            </a:r>
            <a:r>
              <a:rPr lang="it-IT" sz="1600" dirty="0" err="1">
                <a:highlight>
                  <a:srgbClr val="FFFF00"/>
                </a:highlight>
              </a:rPr>
              <a:t>where</a:t>
            </a:r>
            <a:endParaRPr lang="it-IT" sz="1600" dirty="0">
              <a:highlight>
                <a:srgbClr val="FFFF00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The chats are </a:t>
            </a:r>
            <a:r>
              <a:rPr lang="it-IT" sz="1600" dirty="0" err="1">
                <a:highlight>
                  <a:srgbClr val="FFFF00"/>
                </a:highlight>
              </a:rPr>
              <a:t>actually</a:t>
            </a:r>
            <a:r>
              <a:rPr lang="it-IT" sz="1600" dirty="0">
                <a:highlight>
                  <a:srgbClr val="FFFF00"/>
                </a:highlight>
              </a:rPr>
              <a:t> the boards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The apps are </a:t>
            </a:r>
            <a:r>
              <a:rPr lang="it-IT" sz="1600" dirty="0" err="1">
                <a:highlight>
                  <a:srgbClr val="FFFF00"/>
                </a:highlight>
              </a:rPr>
              <a:t>actually</a:t>
            </a:r>
            <a:r>
              <a:rPr lang="it-IT" sz="1600" dirty="0">
                <a:highlight>
                  <a:srgbClr val="FFFF00"/>
                </a:highlight>
              </a:rPr>
              <a:t> the </a:t>
            </a:r>
            <a:r>
              <a:rPr lang="it-IT" sz="1600" dirty="0" err="1">
                <a:highlight>
                  <a:srgbClr val="FFFF00"/>
                </a:highlight>
              </a:rPr>
              <a:t>GPTs</a:t>
            </a:r>
            <a:endParaRPr lang="it-IT" sz="1600" dirty="0">
              <a:highlight>
                <a:srgbClr val="FFFF0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Charts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Regular chart: </a:t>
            </a:r>
            <a:r>
              <a:rPr lang="it-IT" sz="1600" dirty="0" err="1">
                <a:highlight>
                  <a:srgbClr val="FFFF00"/>
                </a:highlight>
              </a:rPr>
              <a:t>already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integrated</a:t>
            </a:r>
            <a:r>
              <a:rPr lang="it-IT" sz="1600" dirty="0">
                <a:highlight>
                  <a:srgbClr val="FFFF00"/>
                </a:highlight>
              </a:rPr>
              <a:t> inside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Global chart: a new item in the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Memory </a:t>
            </a:r>
            <a:r>
              <a:rPr lang="it-IT" sz="1600" dirty="0" err="1">
                <a:highlight>
                  <a:srgbClr val="FFFF00"/>
                </a:highlight>
              </a:rPr>
              <a:t>optimization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saving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netlists</a:t>
            </a:r>
            <a:r>
              <a:rPr lang="it-IT" sz="1600" dirty="0">
                <a:highlight>
                  <a:srgbClr val="FFFF00"/>
                </a:highlight>
              </a:rPr>
              <a:t> and </a:t>
            </a:r>
            <a:r>
              <a:rPr lang="it-IT" sz="1600" dirty="0" err="1">
                <a:highlight>
                  <a:srgbClr val="FFFF00"/>
                </a:highlight>
              </a:rPr>
              <a:t>results</a:t>
            </a:r>
            <a:r>
              <a:rPr lang="it-IT" sz="1600" dirty="0">
                <a:highlight>
                  <a:srgbClr val="FFFF00"/>
                </a:highlight>
              </a:rPr>
              <a:t> on </a:t>
            </a:r>
            <a:r>
              <a:rPr lang="it-IT" sz="1600" dirty="0" err="1">
                <a:highlight>
                  <a:srgbClr val="FFFF00"/>
                </a:highlight>
              </a:rPr>
              <a:t>indexedDB</a:t>
            </a:r>
            <a:endParaRPr lang="it-IT" sz="1600" dirty="0">
              <a:highlight>
                <a:srgbClr val="FFFF00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One </a:t>
            </a:r>
            <a:r>
              <a:rPr lang="it-IT" sz="1600" dirty="0" err="1">
                <a:highlight>
                  <a:srgbClr val="FFFF00"/>
                </a:highlight>
              </a:rPr>
              <a:t>circuit</a:t>
            </a:r>
            <a:r>
              <a:rPr lang="it-IT" sz="1600" dirty="0">
                <a:highlight>
                  <a:srgbClr val="FFFF00"/>
                </a:highlight>
              </a:rPr>
              <a:t> can be </a:t>
            </a:r>
            <a:r>
              <a:rPr lang="it-IT" sz="1600" dirty="0" err="1">
                <a:highlight>
                  <a:srgbClr val="FFFF00"/>
                </a:highlight>
              </a:rPr>
              <a:t>plotted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at</a:t>
            </a:r>
            <a:r>
              <a:rPr lang="it-IT" sz="1600" dirty="0">
                <a:highlight>
                  <a:srgbClr val="FFFF00"/>
                </a:highlight>
              </a:rPr>
              <a:t> the time and </a:t>
            </a:r>
            <a:r>
              <a:rPr lang="it-IT" sz="1600" dirty="0" err="1">
                <a:highlight>
                  <a:srgbClr val="FFFF00"/>
                </a:highlight>
              </a:rPr>
              <a:t>any</a:t>
            </a:r>
            <a:r>
              <a:rPr lang="it-IT" sz="1600" dirty="0">
                <a:highlight>
                  <a:srgbClr val="FFFF00"/>
                </a:highlight>
              </a:rPr>
              <a:t> time </a:t>
            </a:r>
            <a:r>
              <a:rPr lang="it-IT" sz="1600" dirty="0" err="1">
                <a:highlight>
                  <a:srgbClr val="FFFF00"/>
                </a:highlight>
              </a:rPr>
              <a:t>it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is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reloaded</a:t>
            </a:r>
            <a:r>
              <a:rPr lang="it-IT" sz="1600" dirty="0">
                <a:highlight>
                  <a:srgbClr val="FFFF00"/>
                </a:highlight>
              </a:rPr>
              <a:t> from the storage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One chart or group of charts (global charts)</a:t>
            </a:r>
          </a:p>
        </p:txBody>
      </p:sp>
    </p:spTree>
    <p:extLst>
      <p:ext uri="{BB962C8B-B14F-4D97-AF65-F5344CB8AC3E}">
        <p14:creationId xmlns:p14="http://schemas.microsoft.com/office/powerpoint/2010/main" val="94573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A85B9-C16D-0AC5-9455-32B84CD2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81666CE8-9402-696E-DEA0-10866490E63E}"/>
              </a:ext>
            </a:extLst>
          </p:cNvPr>
          <p:cNvSpPr txBox="1"/>
          <p:nvPr/>
        </p:nvSpPr>
        <p:spPr>
          <a:xfrm>
            <a:off x="211464" y="92800"/>
            <a:ext cx="3504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Solver </a:t>
            </a:r>
            <a:r>
              <a:rPr lang="it-IT" sz="2800" dirty="0" err="1"/>
              <a:t>Requirements</a:t>
            </a:r>
            <a:r>
              <a:rPr lang="it-IT" sz="2800" dirty="0"/>
              <a:t>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FD2F64A-A470-501B-2720-323833E13007}"/>
              </a:ext>
            </a:extLst>
          </p:cNvPr>
          <p:cNvSpPr txBox="1"/>
          <p:nvPr/>
        </p:nvSpPr>
        <p:spPr>
          <a:xfrm>
            <a:off x="211464" y="649994"/>
            <a:ext cx="1163166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GUI </a:t>
            </a:r>
            <a:r>
              <a:rPr lang="it-IT" sz="1600" dirty="0" err="1">
                <a:highlight>
                  <a:srgbClr val="FFFF00"/>
                </a:highlight>
              </a:rPr>
              <a:t>chatGPT</a:t>
            </a:r>
            <a:r>
              <a:rPr lang="it-IT" sz="1600" dirty="0">
                <a:highlight>
                  <a:srgbClr val="FFFF00"/>
                </a:highlight>
              </a:rPr>
              <a:t> like </a:t>
            </a:r>
            <a:r>
              <a:rPr lang="it-IT" sz="1600" dirty="0" err="1">
                <a:highlight>
                  <a:srgbClr val="FFFF00"/>
                </a:highlight>
              </a:rPr>
              <a:t>where</a:t>
            </a:r>
            <a:endParaRPr lang="it-IT" sz="1600" dirty="0">
              <a:highlight>
                <a:srgbClr val="FFFF00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The chats are </a:t>
            </a:r>
            <a:r>
              <a:rPr lang="it-IT" sz="1600" dirty="0" err="1">
                <a:highlight>
                  <a:srgbClr val="FFFF00"/>
                </a:highlight>
              </a:rPr>
              <a:t>actually</a:t>
            </a:r>
            <a:r>
              <a:rPr lang="it-IT" sz="1600" dirty="0">
                <a:highlight>
                  <a:srgbClr val="FFFF00"/>
                </a:highlight>
              </a:rPr>
              <a:t> the boards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The apps are </a:t>
            </a:r>
            <a:r>
              <a:rPr lang="it-IT" sz="1600" dirty="0" err="1">
                <a:highlight>
                  <a:srgbClr val="FFFF00"/>
                </a:highlight>
              </a:rPr>
              <a:t>actually</a:t>
            </a:r>
            <a:r>
              <a:rPr lang="it-IT" sz="1600" dirty="0">
                <a:highlight>
                  <a:srgbClr val="FFFF00"/>
                </a:highlight>
              </a:rPr>
              <a:t> the </a:t>
            </a:r>
            <a:r>
              <a:rPr lang="it-IT" sz="1600" dirty="0" err="1">
                <a:highlight>
                  <a:srgbClr val="FFFF00"/>
                </a:highlight>
              </a:rPr>
              <a:t>GPTs</a:t>
            </a:r>
            <a:endParaRPr lang="it-IT" sz="1600" dirty="0">
              <a:highlight>
                <a:srgbClr val="FFFF0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Simulation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Locker</a:t>
            </a:r>
            <a:r>
              <a:rPr lang="it-IT" sz="1600" dirty="0">
                <a:highlight>
                  <a:srgbClr val="FFFF00"/>
                </a:highlight>
              </a:rPr>
              <a:t> to </a:t>
            </a:r>
            <a:r>
              <a:rPr lang="it-IT" sz="1600" dirty="0" err="1">
                <a:highlight>
                  <a:srgbClr val="FFFF00"/>
                </a:highlight>
              </a:rPr>
              <a:t>avoid</a:t>
            </a:r>
            <a:r>
              <a:rPr lang="it-IT" sz="1600" dirty="0">
                <a:highlight>
                  <a:srgbClr val="FFFF00"/>
                </a:highlight>
              </a:rPr>
              <a:t> running the solver </a:t>
            </a:r>
            <a:r>
              <a:rPr lang="it-IT" sz="1600" dirty="0" err="1">
                <a:highlight>
                  <a:srgbClr val="FFFF00"/>
                </a:highlight>
              </a:rPr>
              <a:t>engine</a:t>
            </a:r>
            <a:r>
              <a:rPr lang="it-IT" sz="1600" dirty="0">
                <a:highlight>
                  <a:srgbClr val="FFFF00"/>
                </a:highlight>
              </a:rPr>
              <a:t> more </a:t>
            </a:r>
            <a:r>
              <a:rPr lang="it-IT" sz="1600" dirty="0" err="1">
                <a:highlight>
                  <a:srgbClr val="FFFF00"/>
                </a:highlight>
              </a:rPr>
              <a:t>than</a:t>
            </a:r>
            <a:r>
              <a:rPr lang="it-IT" sz="1600" dirty="0">
                <a:highlight>
                  <a:srgbClr val="FFFF00"/>
                </a:highlight>
              </a:rPr>
              <a:t> one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Absolutely</a:t>
            </a:r>
            <a:r>
              <a:rPr lang="it-IT" sz="1600" dirty="0">
                <a:highlight>
                  <a:srgbClr val="FFFF00"/>
                </a:highlight>
              </a:rPr>
              <a:t> one </a:t>
            </a:r>
            <a:r>
              <a:rPr lang="it-IT" sz="1600" dirty="0" err="1">
                <a:highlight>
                  <a:srgbClr val="FFFF00"/>
                </a:highlight>
              </a:rPr>
              <a:t>simulation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at</a:t>
            </a:r>
            <a:r>
              <a:rPr lang="it-IT" sz="1600" dirty="0">
                <a:highlight>
                  <a:srgbClr val="FFFF00"/>
                </a:highlight>
              </a:rPr>
              <a:t> the time on the </a:t>
            </a:r>
            <a:r>
              <a:rPr lang="it-IT" sz="1600" dirty="0" err="1">
                <a:highlight>
                  <a:srgbClr val="FFFF00"/>
                </a:highlight>
              </a:rPr>
              <a:t>same</a:t>
            </a:r>
            <a:r>
              <a:rPr lang="it-IT" sz="1600" dirty="0">
                <a:highlight>
                  <a:srgbClr val="FFFF00"/>
                </a:highlight>
              </a:rPr>
              <a:t> PC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No </a:t>
            </a:r>
            <a:r>
              <a:rPr lang="it-IT" sz="1600" dirty="0" err="1">
                <a:highlight>
                  <a:srgbClr val="FFFF00"/>
                </a:highlight>
              </a:rPr>
              <a:t>simulations</a:t>
            </a:r>
            <a:r>
              <a:rPr lang="it-IT" sz="1600" dirty="0">
                <a:highlight>
                  <a:srgbClr val="FFFF00"/>
                </a:highlight>
              </a:rPr>
              <a:t> on Android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Charts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Regular chart: </a:t>
            </a:r>
            <a:r>
              <a:rPr lang="it-IT" sz="1600" dirty="0" err="1">
                <a:highlight>
                  <a:srgbClr val="FFFF00"/>
                </a:highlight>
              </a:rPr>
              <a:t>already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integrated</a:t>
            </a:r>
            <a:r>
              <a:rPr lang="it-IT" sz="1600" dirty="0">
                <a:highlight>
                  <a:srgbClr val="FFFF00"/>
                </a:highlight>
              </a:rPr>
              <a:t> inside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Global chart: a new item in the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Memory </a:t>
            </a:r>
            <a:r>
              <a:rPr lang="it-IT" sz="1600" dirty="0" err="1">
                <a:highlight>
                  <a:srgbClr val="FFFF00"/>
                </a:highlight>
              </a:rPr>
              <a:t>optimization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saving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netlists</a:t>
            </a:r>
            <a:r>
              <a:rPr lang="it-IT" sz="1600" dirty="0">
                <a:highlight>
                  <a:srgbClr val="FFFF00"/>
                </a:highlight>
              </a:rPr>
              <a:t> and </a:t>
            </a:r>
            <a:r>
              <a:rPr lang="it-IT" sz="1600" dirty="0" err="1">
                <a:highlight>
                  <a:srgbClr val="FFFF00"/>
                </a:highlight>
              </a:rPr>
              <a:t>results</a:t>
            </a:r>
            <a:r>
              <a:rPr lang="it-IT" sz="1600" dirty="0">
                <a:highlight>
                  <a:srgbClr val="FFFF00"/>
                </a:highlight>
              </a:rPr>
              <a:t> on </a:t>
            </a:r>
            <a:r>
              <a:rPr lang="it-IT" sz="1600" dirty="0" err="1">
                <a:highlight>
                  <a:srgbClr val="FFFF00"/>
                </a:highlight>
              </a:rPr>
              <a:t>indexedDB</a:t>
            </a:r>
            <a:endParaRPr lang="it-IT" sz="1600" dirty="0">
              <a:highlight>
                <a:srgbClr val="FFFF00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One </a:t>
            </a:r>
            <a:r>
              <a:rPr lang="it-IT" sz="1600" dirty="0" err="1">
                <a:highlight>
                  <a:srgbClr val="FFFF00"/>
                </a:highlight>
              </a:rPr>
              <a:t>circuit</a:t>
            </a:r>
            <a:r>
              <a:rPr lang="it-IT" sz="1600" dirty="0">
                <a:highlight>
                  <a:srgbClr val="FFFF00"/>
                </a:highlight>
              </a:rPr>
              <a:t> can be </a:t>
            </a:r>
            <a:r>
              <a:rPr lang="it-IT" sz="1600" dirty="0" err="1">
                <a:highlight>
                  <a:srgbClr val="FFFF00"/>
                </a:highlight>
              </a:rPr>
              <a:t>plotted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at</a:t>
            </a:r>
            <a:r>
              <a:rPr lang="it-IT" sz="1600" dirty="0">
                <a:highlight>
                  <a:srgbClr val="FFFF00"/>
                </a:highlight>
              </a:rPr>
              <a:t> the time and </a:t>
            </a:r>
            <a:r>
              <a:rPr lang="it-IT" sz="1600" dirty="0" err="1">
                <a:highlight>
                  <a:srgbClr val="FFFF00"/>
                </a:highlight>
              </a:rPr>
              <a:t>any</a:t>
            </a:r>
            <a:r>
              <a:rPr lang="it-IT" sz="1600" dirty="0">
                <a:highlight>
                  <a:srgbClr val="FFFF00"/>
                </a:highlight>
              </a:rPr>
              <a:t> time </a:t>
            </a:r>
            <a:r>
              <a:rPr lang="it-IT" sz="1600" dirty="0" err="1">
                <a:highlight>
                  <a:srgbClr val="FFFF00"/>
                </a:highlight>
              </a:rPr>
              <a:t>it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is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reloaded</a:t>
            </a:r>
            <a:r>
              <a:rPr lang="it-IT" sz="1600" dirty="0">
                <a:highlight>
                  <a:srgbClr val="FFFF00"/>
                </a:highlight>
              </a:rPr>
              <a:t> from the storage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One chart or group of charts (global charts)</a:t>
            </a:r>
          </a:p>
        </p:txBody>
      </p:sp>
    </p:spTree>
    <p:extLst>
      <p:ext uri="{BB962C8B-B14F-4D97-AF65-F5344CB8AC3E}">
        <p14:creationId xmlns:p14="http://schemas.microsoft.com/office/powerpoint/2010/main" val="275000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4208E-E11F-FC9D-362D-B50B7FAE1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B60FF94-DFC1-8A3C-1A3D-6FE7E629B5C8}"/>
              </a:ext>
            </a:extLst>
          </p:cNvPr>
          <p:cNvSpPr txBox="1"/>
          <p:nvPr/>
        </p:nvSpPr>
        <p:spPr>
          <a:xfrm>
            <a:off x="211464" y="92800"/>
            <a:ext cx="4022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Back-end </a:t>
            </a:r>
            <a:r>
              <a:rPr lang="it-IT" sz="2800" dirty="0" err="1"/>
              <a:t>Requirements</a:t>
            </a:r>
            <a:r>
              <a:rPr lang="it-IT" sz="2800" dirty="0"/>
              <a:t>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843A20D-7822-4D58-5A06-3CB18DC60D9B}"/>
              </a:ext>
            </a:extLst>
          </p:cNvPr>
          <p:cNvSpPr txBox="1"/>
          <p:nvPr/>
        </p:nvSpPr>
        <p:spPr>
          <a:xfrm>
            <a:off x="211464" y="649994"/>
            <a:ext cx="1163166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GUI </a:t>
            </a:r>
            <a:r>
              <a:rPr lang="it-IT" sz="1600" dirty="0" err="1">
                <a:highlight>
                  <a:srgbClr val="FFFF00"/>
                </a:highlight>
              </a:rPr>
              <a:t>chatGPT</a:t>
            </a:r>
            <a:r>
              <a:rPr lang="it-IT" sz="1600" dirty="0">
                <a:highlight>
                  <a:srgbClr val="FFFF00"/>
                </a:highlight>
              </a:rPr>
              <a:t> like </a:t>
            </a:r>
            <a:r>
              <a:rPr lang="it-IT" sz="1600" dirty="0" err="1">
                <a:highlight>
                  <a:srgbClr val="FFFF00"/>
                </a:highlight>
              </a:rPr>
              <a:t>where</a:t>
            </a:r>
            <a:endParaRPr lang="it-IT" sz="1600" dirty="0">
              <a:highlight>
                <a:srgbClr val="FFFF00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The chats are </a:t>
            </a:r>
            <a:r>
              <a:rPr lang="it-IT" sz="1600" dirty="0" err="1">
                <a:highlight>
                  <a:srgbClr val="FFFF00"/>
                </a:highlight>
              </a:rPr>
              <a:t>actually</a:t>
            </a:r>
            <a:r>
              <a:rPr lang="it-IT" sz="1600" dirty="0">
                <a:highlight>
                  <a:srgbClr val="FFFF00"/>
                </a:highlight>
              </a:rPr>
              <a:t> the boards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The apps are </a:t>
            </a:r>
            <a:r>
              <a:rPr lang="it-IT" sz="1600" dirty="0" err="1">
                <a:highlight>
                  <a:srgbClr val="FFFF00"/>
                </a:highlight>
              </a:rPr>
              <a:t>actually</a:t>
            </a:r>
            <a:r>
              <a:rPr lang="it-IT" sz="1600" dirty="0">
                <a:highlight>
                  <a:srgbClr val="FFFF00"/>
                </a:highlight>
              </a:rPr>
              <a:t> the </a:t>
            </a:r>
            <a:r>
              <a:rPr lang="it-IT" sz="1600" dirty="0" err="1">
                <a:highlight>
                  <a:srgbClr val="FFFF00"/>
                </a:highlight>
              </a:rPr>
              <a:t>GPTs</a:t>
            </a:r>
            <a:endParaRPr lang="it-IT" sz="1600" dirty="0">
              <a:highlight>
                <a:srgbClr val="FFFF0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Simulation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Locker</a:t>
            </a:r>
            <a:r>
              <a:rPr lang="it-IT" sz="1600" dirty="0">
                <a:highlight>
                  <a:srgbClr val="FFFF00"/>
                </a:highlight>
              </a:rPr>
              <a:t> to </a:t>
            </a:r>
            <a:r>
              <a:rPr lang="it-IT" sz="1600" dirty="0" err="1">
                <a:highlight>
                  <a:srgbClr val="FFFF00"/>
                </a:highlight>
              </a:rPr>
              <a:t>avoid</a:t>
            </a:r>
            <a:r>
              <a:rPr lang="it-IT" sz="1600" dirty="0">
                <a:highlight>
                  <a:srgbClr val="FFFF00"/>
                </a:highlight>
              </a:rPr>
              <a:t> running the solver </a:t>
            </a:r>
            <a:r>
              <a:rPr lang="it-IT" sz="1600" dirty="0" err="1">
                <a:highlight>
                  <a:srgbClr val="FFFF00"/>
                </a:highlight>
              </a:rPr>
              <a:t>engine</a:t>
            </a:r>
            <a:r>
              <a:rPr lang="it-IT" sz="1600" dirty="0">
                <a:highlight>
                  <a:srgbClr val="FFFF00"/>
                </a:highlight>
              </a:rPr>
              <a:t> more </a:t>
            </a:r>
            <a:r>
              <a:rPr lang="it-IT" sz="1600" dirty="0" err="1">
                <a:highlight>
                  <a:srgbClr val="FFFF00"/>
                </a:highlight>
              </a:rPr>
              <a:t>than</a:t>
            </a:r>
            <a:r>
              <a:rPr lang="it-IT" sz="1600" dirty="0">
                <a:highlight>
                  <a:srgbClr val="FFFF00"/>
                </a:highlight>
              </a:rPr>
              <a:t> one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Absolutely</a:t>
            </a:r>
            <a:r>
              <a:rPr lang="it-IT" sz="1600" dirty="0">
                <a:highlight>
                  <a:srgbClr val="FFFF00"/>
                </a:highlight>
              </a:rPr>
              <a:t> one </a:t>
            </a:r>
            <a:r>
              <a:rPr lang="it-IT" sz="1600" dirty="0" err="1">
                <a:highlight>
                  <a:srgbClr val="FFFF00"/>
                </a:highlight>
              </a:rPr>
              <a:t>simulation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at</a:t>
            </a:r>
            <a:r>
              <a:rPr lang="it-IT" sz="1600" dirty="0">
                <a:highlight>
                  <a:srgbClr val="FFFF00"/>
                </a:highlight>
              </a:rPr>
              <a:t> the time on the </a:t>
            </a:r>
            <a:r>
              <a:rPr lang="it-IT" sz="1600" dirty="0" err="1">
                <a:highlight>
                  <a:srgbClr val="FFFF00"/>
                </a:highlight>
              </a:rPr>
              <a:t>same</a:t>
            </a:r>
            <a:r>
              <a:rPr lang="it-IT" sz="1600" dirty="0">
                <a:highlight>
                  <a:srgbClr val="FFFF00"/>
                </a:highlight>
              </a:rPr>
              <a:t> PC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No </a:t>
            </a:r>
            <a:r>
              <a:rPr lang="it-IT" sz="1600" dirty="0" err="1">
                <a:highlight>
                  <a:srgbClr val="FFFF00"/>
                </a:highlight>
              </a:rPr>
              <a:t>simulations</a:t>
            </a:r>
            <a:r>
              <a:rPr lang="it-IT" sz="1600" dirty="0">
                <a:highlight>
                  <a:srgbClr val="FFFF00"/>
                </a:highlight>
              </a:rPr>
              <a:t> on Android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Charts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Regular chart: </a:t>
            </a:r>
            <a:r>
              <a:rPr lang="it-IT" sz="1600" dirty="0" err="1">
                <a:highlight>
                  <a:srgbClr val="FFFF00"/>
                </a:highlight>
              </a:rPr>
              <a:t>already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integrated</a:t>
            </a:r>
            <a:r>
              <a:rPr lang="it-IT" sz="1600" dirty="0">
                <a:highlight>
                  <a:srgbClr val="FFFF00"/>
                </a:highlight>
              </a:rPr>
              <a:t> inside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Global chart: a new item in the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Memory </a:t>
            </a:r>
            <a:r>
              <a:rPr lang="it-IT" sz="1600" dirty="0" err="1">
                <a:highlight>
                  <a:srgbClr val="FFFF00"/>
                </a:highlight>
              </a:rPr>
              <a:t>optimization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saving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netlists</a:t>
            </a:r>
            <a:r>
              <a:rPr lang="it-IT" sz="1600" dirty="0">
                <a:highlight>
                  <a:srgbClr val="FFFF00"/>
                </a:highlight>
              </a:rPr>
              <a:t> and </a:t>
            </a:r>
            <a:r>
              <a:rPr lang="it-IT" sz="1600" dirty="0" err="1">
                <a:highlight>
                  <a:srgbClr val="FFFF00"/>
                </a:highlight>
              </a:rPr>
              <a:t>results</a:t>
            </a:r>
            <a:r>
              <a:rPr lang="it-IT" sz="1600" dirty="0">
                <a:highlight>
                  <a:srgbClr val="FFFF00"/>
                </a:highlight>
              </a:rPr>
              <a:t> on </a:t>
            </a:r>
            <a:r>
              <a:rPr lang="it-IT" sz="1600" dirty="0" err="1">
                <a:highlight>
                  <a:srgbClr val="FFFF00"/>
                </a:highlight>
              </a:rPr>
              <a:t>indexedDB</a:t>
            </a:r>
            <a:endParaRPr lang="it-IT" sz="1600" dirty="0">
              <a:highlight>
                <a:srgbClr val="FFFF00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One </a:t>
            </a:r>
            <a:r>
              <a:rPr lang="it-IT" sz="1600" dirty="0" err="1">
                <a:highlight>
                  <a:srgbClr val="FFFF00"/>
                </a:highlight>
              </a:rPr>
              <a:t>circuit</a:t>
            </a:r>
            <a:r>
              <a:rPr lang="it-IT" sz="1600" dirty="0">
                <a:highlight>
                  <a:srgbClr val="FFFF00"/>
                </a:highlight>
              </a:rPr>
              <a:t> can be </a:t>
            </a:r>
            <a:r>
              <a:rPr lang="it-IT" sz="1600" dirty="0" err="1">
                <a:highlight>
                  <a:srgbClr val="FFFF00"/>
                </a:highlight>
              </a:rPr>
              <a:t>plotted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at</a:t>
            </a:r>
            <a:r>
              <a:rPr lang="it-IT" sz="1600" dirty="0">
                <a:highlight>
                  <a:srgbClr val="FFFF00"/>
                </a:highlight>
              </a:rPr>
              <a:t> the time and </a:t>
            </a:r>
            <a:r>
              <a:rPr lang="it-IT" sz="1600" dirty="0" err="1">
                <a:highlight>
                  <a:srgbClr val="FFFF00"/>
                </a:highlight>
              </a:rPr>
              <a:t>any</a:t>
            </a:r>
            <a:r>
              <a:rPr lang="it-IT" sz="1600" dirty="0">
                <a:highlight>
                  <a:srgbClr val="FFFF00"/>
                </a:highlight>
              </a:rPr>
              <a:t> time </a:t>
            </a:r>
            <a:r>
              <a:rPr lang="it-IT" sz="1600" dirty="0" err="1">
                <a:highlight>
                  <a:srgbClr val="FFFF00"/>
                </a:highlight>
              </a:rPr>
              <a:t>it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is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reloaded</a:t>
            </a:r>
            <a:r>
              <a:rPr lang="it-IT" sz="1600" dirty="0">
                <a:highlight>
                  <a:srgbClr val="FFFF00"/>
                </a:highlight>
              </a:rPr>
              <a:t> from the storage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One chart or group of charts (global charts)</a:t>
            </a:r>
          </a:p>
        </p:txBody>
      </p:sp>
    </p:spTree>
    <p:extLst>
      <p:ext uri="{BB962C8B-B14F-4D97-AF65-F5344CB8AC3E}">
        <p14:creationId xmlns:p14="http://schemas.microsoft.com/office/powerpoint/2010/main" val="3009243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41C5E-0457-0F68-0982-8982924A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857862DA-0955-18AF-AADF-B65B8E95F554}"/>
              </a:ext>
            </a:extLst>
          </p:cNvPr>
          <p:cNvSpPr txBox="1"/>
          <p:nvPr/>
        </p:nvSpPr>
        <p:spPr>
          <a:xfrm>
            <a:off x="211464" y="92800"/>
            <a:ext cx="81705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Front-end to Solver Communications </a:t>
            </a:r>
            <a:r>
              <a:rPr lang="it-IT" sz="2800" dirty="0" err="1"/>
              <a:t>Requirements</a:t>
            </a:r>
            <a:r>
              <a:rPr lang="it-IT" sz="2800" dirty="0"/>
              <a:t>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881F491-6F99-BEF2-94B5-8076900A30FC}"/>
              </a:ext>
            </a:extLst>
          </p:cNvPr>
          <p:cNvSpPr txBox="1"/>
          <p:nvPr/>
        </p:nvSpPr>
        <p:spPr>
          <a:xfrm>
            <a:off x="211464" y="649994"/>
            <a:ext cx="1163166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GUI </a:t>
            </a:r>
            <a:r>
              <a:rPr lang="it-IT" sz="1600" dirty="0" err="1">
                <a:highlight>
                  <a:srgbClr val="FFFF00"/>
                </a:highlight>
              </a:rPr>
              <a:t>chatGPT</a:t>
            </a:r>
            <a:r>
              <a:rPr lang="it-IT" sz="1600" dirty="0">
                <a:highlight>
                  <a:srgbClr val="FFFF00"/>
                </a:highlight>
              </a:rPr>
              <a:t> like </a:t>
            </a:r>
            <a:r>
              <a:rPr lang="it-IT" sz="1600" dirty="0" err="1">
                <a:highlight>
                  <a:srgbClr val="FFFF00"/>
                </a:highlight>
              </a:rPr>
              <a:t>where</a:t>
            </a:r>
            <a:endParaRPr lang="it-IT" sz="1600" dirty="0">
              <a:highlight>
                <a:srgbClr val="FFFF00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The chats are </a:t>
            </a:r>
            <a:r>
              <a:rPr lang="it-IT" sz="1600" dirty="0" err="1">
                <a:highlight>
                  <a:srgbClr val="FFFF00"/>
                </a:highlight>
              </a:rPr>
              <a:t>actually</a:t>
            </a:r>
            <a:r>
              <a:rPr lang="it-IT" sz="1600" dirty="0">
                <a:highlight>
                  <a:srgbClr val="FFFF00"/>
                </a:highlight>
              </a:rPr>
              <a:t> the boards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The apps are </a:t>
            </a:r>
            <a:r>
              <a:rPr lang="it-IT" sz="1600" dirty="0" err="1">
                <a:highlight>
                  <a:srgbClr val="FFFF00"/>
                </a:highlight>
              </a:rPr>
              <a:t>actually</a:t>
            </a:r>
            <a:r>
              <a:rPr lang="it-IT" sz="1600" dirty="0">
                <a:highlight>
                  <a:srgbClr val="FFFF00"/>
                </a:highlight>
              </a:rPr>
              <a:t> the </a:t>
            </a:r>
            <a:r>
              <a:rPr lang="it-IT" sz="1600" dirty="0" err="1">
                <a:highlight>
                  <a:srgbClr val="FFFF00"/>
                </a:highlight>
              </a:rPr>
              <a:t>GPTs</a:t>
            </a:r>
            <a:endParaRPr lang="it-IT" sz="1600" dirty="0">
              <a:highlight>
                <a:srgbClr val="FFFF0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Simulation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Locker</a:t>
            </a:r>
            <a:r>
              <a:rPr lang="it-IT" sz="1600" dirty="0">
                <a:highlight>
                  <a:srgbClr val="FFFF00"/>
                </a:highlight>
              </a:rPr>
              <a:t> to </a:t>
            </a:r>
            <a:r>
              <a:rPr lang="it-IT" sz="1600" dirty="0" err="1">
                <a:highlight>
                  <a:srgbClr val="FFFF00"/>
                </a:highlight>
              </a:rPr>
              <a:t>avoid</a:t>
            </a:r>
            <a:r>
              <a:rPr lang="it-IT" sz="1600" dirty="0">
                <a:highlight>
                  <a:srgbClr val="FFFF00"/>
                </a:highlight>
              </a:rPr>
              <a:t> running the solver </a:t>
            </a:r>
            <a:r>
              <a:rPr lang="it-IT" sz="1600" dirty="0" err="1">
                <a:highlight>
                  <a:srgbClr val="FFFF00"/>
                </a:highlight>
              </a:rPr>
              <a:t>engine</a:t>
            </a:r>
            <a:r>
              <a:rPr lang="it-IT" sz="1600" dirty="0">
                <a:highlight>
                  <a:srgbClr val="FFFF00"/>
                </a:highlight>
              </a:rPr>
              <a:t> more </a:t>
            </a:r>
            <a:r>
              <a:rPr lang="it-IT" sz="1600" dirty="0" err="1">
                <a:highlight>
                  <a:srgbClr val="FFFF00"/>
                </a:highlight>
              </a:rPr>
              <a:t>than</a:t>
            </a:r>
            <a:r>
              <a:rPr lang="it-IT" sz="1600" dirty="0">
                <a:highlight>
                  <a:srgbClr val="FFFF00"/>
                </a:highlight>
              </a:rPr>
              <a:t> one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Absolutely</a:t>
            </a:r>
            <a:r>
              <a:rPr lang="it-IT" sz="1600" dirty="0">
                <a:highlight>
                  <a:srgbClr val="FFFF00"/>
                </a:highlight>
              </a:rPr>
              <a:t> one </a:t>
            </a:r>
            <a:r>
              <a:rPr lang="it-IT" sz="1600" dirty="0" err="1">
                <a:highlight>
                  <a:srgbClr val="FFFF00"/>
                </a:highlight>
              </a:rPr>
              <a:t>simulation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at</a:t>
            </a:r>
            <a:r>
              <a:rPr lang="it-IT" sz="1600" dirty="0">
                <a:highlight>
                  <a:srgbClr val="FFFF00"/>
                </a:highlight>
              </a:rPr>
              <a:t> the time on the </a:t>
            </a:r>
            <a:r>
              <a:rPr lang="it-IT" sz="1600" dirty="0" err="1">
                <a:highlight>
                  <a:srgbClr val="FFFF00"/>
                </a:highlight>
              </a:rPr>
              <a:t>same</a:t>
            </a:r>
            <a:r>
              <a:rPr lang="it-IT" sz="1600" dirty="0">
                <a:highlight>
                  <a:srgbClr val="FFFF00"/>
                </a:highlight>
              </a:rPr>
              <a:t> PC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No </a:t>
            </a:r>
            <a:r>
              <a:rPr lang="it-IT" sz="1600" dirty="0" err="1">
                <a:highlight>
                  <a:srgbClr val="FFFF00"/>
                </a:highlight>
              </a:rPr>
              <a:t>simulations</a:t>
            </a:r>
            <a:r>
              <a:rPr lang="it-IT" sz="1600" dirty="0">
                <a:highlight>
                  <a:srgbClr val="FFFF00"/>
                </a:highlight>
              </a:rPr>
              <a:t> on Android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Charts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Regular chart: </a:t>
            </a:r>
            <a:r>
              <a:rPr lang="it-IT" sz="1600" dirty="0" err="1">
                <a:highlight>
                  <a:srgbClr val="FFFF00"/>
                </a:highlight>
              </a:rPr>
              <a:t>already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integrated</a:t>
            </a:r>
            <a:r>
              <a:rPr lang="it-IT" sz="1600" dirty="0">
                <a:highlight>
                  <a:srgbClr val="FFFF00"/>
                </a:highlight>
              </a:rPr>
              <a:t> inside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Global chart: a new item in the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Memory </a:t>
            </a:r>
            <a:r>
              <a:rPr lang="it-IT" sz="1600" dirty="0" err="1">
                <a:highlight>
                  <a:srgbClr val="FFFF00"/>
                </a:highlight>
              </a:rPr>
              <a:t>optimization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saving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netlists</a:t>
            </a:r>
            <a:r>
              <a:rPr lang="it-IT" sz="1600" dirty="0">
                <a:highlight>
                  <a:srgbClr val="FFFF00"/>
                </a:highlight>
              </a:rPr>
              <a:t> and </a:t>
            </a:r>
            <a:r>
              <a:rPr lang="it-IT" sz="1600" dirty="0" err="1">
                <a:highlight>
                  <a:srgbClr val="FFFF00"/>
                </a:highlight>
              </a:rPr>
              <a:t>results</a:t>
            </a:r>
            <a:r>
              <a:rPr lang="it-IT" sz="1600" dirty="0">
                <a:highlight>
                  <a:srgbClr val="FFFF00"/>
                </a:highlight>
              </a:rPr>
              <a:t> on </a:t>
            </a:r>
            <a:r>
              <a:rPr lang="it-IT" sz="1600" dirty="0" err="1">
                <a:highlight>
                  <a:srgbClr val="FFFF00"/>
                </a:highlight>
              </a:rPr>
              <a:t>indexedDB</a:t>
            </a:r>
            <a:endParaRPr lang="it-IT" sz="1600" dirty="0">
              <a:highlight>
                <a:srgbClr val="FFFF00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One </a:t>
            </a:r>
            <a:r>
              <a:rPr lang="it-IT" sz="1600" dirty="0" err="1">
                <a:highlight>
                  <a:srgbClr val="FFFF00"/>
                </a:highlight>
              </a:rPr>
              <a:t>circuit</a:t>
            </a:r>
            <a:r>
              <a:rPr lang="it-IT" sz="1600" dirty="0">
                <a:highlight>
                  <a:srgbClr val="FFFF00"/>
                </a:highlight>
              </a:rPr>
              <a:t> can be </a:t>
            </a:r>
            <a:r>
              <a:rPr lang="it-IT" sz="1600" dirty="0" err="1">
                <a:highlight>
                  <a:srgbClr val="FFFF00"/>
                </a:highlight>
              </a:rPr>
              <a:t>plotted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at</a:t>
            </a:r>
            <a:r>
              <a:rPr lang="it-IT" sz="1600" dirty="0">
                <a:highlight>
                  <a:srgbClr val="FFFF00"/>
                </a:highlight>
              </a:rPr>
              <a:t> the time and </a:t>
            </a:r>
            <a:r>
              <a:rPr lang="it-IT" sz="1600" dirty="0" err="1">
                <a:highlight>
                  <a:srgbClr val="FFFF00"/>
                </a:highlight>
              </a:rPr>
              <a:t>any</a:t>
            </a:r>
            <a:r>
              <a:rPr lang="it-IT" sz="1600" dirty="0">
                <a:highlight>
                  <a:srgbClr val="FFFF00"/>
                </a:highlight>
              </a:rPr>
              <a:t> time </a:t>
            </a:r>
            <a:r>
              <a:rPr lang="it-IT" sz="1600" dirty="0" err="1">
                <a:highlight>
                  <a:srgbClr val="FFFF00"/>
                </a:highlight>
              </a:rPr>
              <a:t>it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is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reloaded</a:t>
            </a:r>
            <a:r>
              <a:rPr lang="it-IT" sz="1600" dirty="0">
                <a:highlight>
                  <a:srgbClr val="FFFF00"/>
                </a:highlight>
              </a:rPr>
              <a:t> from the storage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One chart or group of charts (global charts)</a:t>
            </a:r>
          </a:p>
        </p:txBody>
      </p:sp>
    </p:spTree>
    <p:extLst>
      <p:ext uri="{BB962C8B-B14F-4D97-AF65-F5344CB8AC3E}">
        <p14:creationId xmlns:p14="http://schemas.microsoft.com/office/powerpoint/2010/main" val="3599782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1BB8-9370-B787-2285-1FE841F5D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636CC7B6-9CF1-475E-8B13-BDAFDCAC3077}"/>
              </a:ext>
            </a:extLst>
          </p:cNvPr>
          <p:cNvSpPr txBox="1"/>
          <p:nvPr/>
        </p:nvSpPr>
        <p:spPr>
          <a:xfrm>
            <a:off x="211464" y="92800"/>
            <a:ext cx="8244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Solver to Front-end Communications </a:t>
            </a:r>
            <a:r>
              <a:rPr lang="it-IT" sz="2800" dirty="0" err="1"/>
              <a:t>Requirements</a:t>
            </a:r>
            <a:r>
              <a:rPr lang="it-IT" sz="2800" dirty="0"/>
              <a:t>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281081-0F7F-DADF-87C0-342DBA4B4B4E}"/>
              </a:ext>
            </a:extLst>
          </p:cNvPr>
          <p:cNvSpPr txBox="1"/>
          <p:nvPr/>
        </p:nvSpPr>
        <p:spPr>
          <a:xfrm>
            <a:off x="211464" y="649994"/>
            <a:ext cx="1163166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GUI </a:t>
            </a:r>
            <a:r>
              <a:rPr lang="it-IT" sz="1600" dirty="0" err="1">
                <a:highlight>
                  <a:srgbClr val="FFFF00"/>
                </a:highlight>
              </a:rPr>
              <a:t>chatGPT</a:t>
            </a:r>
            <a:r>
              <a:rPr lang="it-IT" sz="1600" dirty="0">
                <a:highlight>
                  <a:srgbClr val="FFFF00"/>
                </a:highlight>
              </a:rPr>
              <a:t> like </a:t>
            </a:r>
            <a:r>
              <a:rPr lang="it-IT" sz="1600" dirty="0" err="1">
                <a:highlight>
                  <a:srgbClr val="FFFF00"/>
                </a:highlight>
              </a:rPr>
              <a:t>where</a:t>
            </a:r>
            <a:endParaRPr lang="it-IT" sz="1600" dirty="0">
              <a:highlight>
                <a:srgbClr val="FFFF00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The chats are </a:t>
            </a:r>
            <a:r>
              <a:rPr lang="it-IT" sz="1600" dirty="0" err="1">
                <a:highlight>
                  <a:srgbClr val="FFFF00"/>
                </a:highlight>
              </a:rPr>
              <a:t>actually</a:t>
            </a:r>
            <a:r>
              <a:rPr lang="it-IT" sz="1600" dirty="0">
                <a:highlight>
                  <a:srgbClr val="FFFF00"/>
                </a:highlight>
              </a:rPr>
              <a:t> the boards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The apps are </a:t>
            </a:r>
            <a:r>
              <a:rPr lang="it-IT" sz="1600" dirty="0" err="1">
                <a:highlight>
                  <a:srgbClr val="FFFF00"/>
                </a:highlight>
              </a:rPr>
              <a:t>actually</a:t>
            </a:r>
            <a:r>
              <a:rPr lang="it-IT" sz="1600" dirty="0">
                <a:highlight>
                  <a:srgbClr val="FFFF00"/>
                </a:highlight>
              </a:rPr>
              <a:t> the </a:t>
            </a:r>
            <a:r>
              <a:rPr lang="it-IT" sz="1600" dirty="0" err="1">
                <a:highlight>
                  <a:srgbClr val="FFFF00"/>
                </a:highlight>
              </a:rPr>
              <a:t>GPTs</a:t>
            </a:r>
            <a:endParaRPr lang="it-IT" sz="1600" dirty="0">
              <a:highlight>
                <a:srgbClr val="FFFF0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Simulation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Locker</a:t>
            </a:r>
            <a:r>
              <a:rPr lang="it-IT" sz="1600" dirty="0">
                <a:highlight>
                  <a:srgbClr val="FFFF00"/>
                </a:highlight>
              </a:rPr>
              <a:t> to </a:t>
            </a:r>
            <a:r>
              <a:rPr lang="it-IT" sz="1600" dirty="0" err="1">
                <a:highlight>
                  <a:srgbClr val="FFFF00"/>
                </a:highlight>
              </a:rPr>
              <a:t>avoid</a:t>
            </a:r>
            <a:r>
              <a:rPr lang="it-IT" sz="1600" dirty="0">
                <a:highlight>
                  <a:srgbClr val="FFFF00"/>
                </a:highlight>
              </a:rPr>
              <a:t> running the solver </a:t>
            </a:r>
            <a:r>
              <a:rPr lang="it-IT" sz="1600" dirty="0" err="1">
                <a:highlight>
                  <a:srgbClr val="FFFF00"/>
                </a:highlight>
              </a:rPr>
              <a:t>engine</a:t>
            </a:r>
            <a:r>
              <a:rPr lang="it-IT" sz="1600" dirty="0">
                <a:highlight>
                  <a:srgbClr val="FFFF00"/>
                </a:highlight>
              </a:rPr>
              <a:t> more </a:t>
            </a:r>
            <a:r>
              <a:rPr lang="it-IT" sz="1600" dirty="0" err="1">
                <a:highlight>
                  <a:srgbClr val="FFFF00"/>
                </a:highlight>
              </a:rPr>
              <a:t>than</a:t>
            </a:r>
            <a:r>
              <a:rPr lang="it-IT" sz="1600" dirty="0">
                <a:highlight>
                  <a:srgbClr val="FFFF00"/>
                </a:highlight>
              </a:rPr>
              <a:t> one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Absolutely</a:t>
            </a:r>
            <a:r>
              <a:rPr lang="it-IT" sz="1600" dirty="0">
                <a:highlight>
                  <a:srgbClr val="FFFF00"/>
                </a:highlight>
              </a:rPr>
              <a:t> one </a:t>
            </a:r>
            <a:r>
              <a:rPr lang="it-IT" sz="1600" dirty="0" err="1">
                <a:highlight>
                  <a:srgbClr val="FFFF00"/>
                </a:highlight>
              </a:rPr>
              <a:t>simulation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at</a:t>
            </a:r>
            <a:r>
              <a:rPr lang="it-IT" sz="1600" dirty="0">
                <a:highlight>
                  <a:srgbClr val="FFFF00"/>
                </a:highlight>
              </a:rPr>
              <a:t> the time on the </a:t>
            </a:r>
            <a:r>
              <a:rPr lang="it-IT" sz="1600" dirty="0" err="1">
                <a:highlight>
                  <a:srgbClr val="FFFF00"/>
                </a:highlight>
              </a:rPr>
              <a:t>same</a:t>
            </a:r>
            <a:r>
              <a:rPr lang="it-IT" sz="1600" dirty="0">
                <a:highlight>
                  <a:srgbClr val="FFFF00"/>
                </a:highlight>
              </a:rPr>
              <a:t> PC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No </a:t>
            </a:r>
            <a:r>
              <a:rPr lang="it-IT" sz="1600" dirty="0" err="1">
                <a:highlight>
                  <a:srgbClr val="FFFF00"/>
                </a:highlight>
              </a:rPr>
              <a:t>simulations</a:t>
            </a:r>
            <a:r>
              <a:rPr lang="it-IT" sz="1600" dirty="0">
                <a:highlight>
                  <a:srgbClr val="FFFF00"/>
                </a:highlight>
              </a:rPr>
              <a:t> on Android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Charts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Regular chart: </a:t>
            </a:r>
            <a:r>
              <a:rPr lang="it-IT" sz="1600" dirty="0" err="1">
                <a:highlight>
                  <a:srgbClr val="FFFF00"/>
                </a:highlight>
              </a:rPr>
              <a:t>already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integrated</a:t>
            </a:r>
            <a:r>
              <a:rPr lang="it-IT" sz="1600" dirty="0">
                <a:highlight>
                  <a:srgbClr val="FFFF00"/>
                </a:highlight>
              </a:rPr>
              <a:t> inside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Global chart: a new item in the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Memory </a:t>
            </a:r>
            <a:r>
              <a:rPr lang="it-IT" sz="1600" dirty="0" err="1">
                <a:highlight>
                  <a:srgbClr val="FFFF00"/>
                </a:highlight>
              </a:rPr>
              <a:t>optimization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>
                <a:highlight>
                  <a:srgbClr val="FFFF00"/>
                </a:highlight>
              </a:rPr>
              <a:t>saving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netlists</a:t>
            </a:r>
            <a:r>
              <a:rPr lang="it-IT" sz="1600" dirty="0">
                <a:highlight>
                  <a:srgbClr val="FFFF00"/>
                </a:highlight>
              </a:rPr>
              <a:t> and </a:t>
            </a:r>
            <a:r>
              <a:rPr lang="it-IT" sz="1600" dirty="0" err="1">
                <a:highlight>
                  <a:srgbClr val="FFFF00"/>
                </a:highlight>
              </a:rPr>
              <a:t>results</a:t>
            </a:r>
            <a:r>
              <a:rPr lang="it-IT" sz="1600" dirty="0">
                <a:highlight>
                  <a:srgbClr val="FFFF00"/>
                </a:highlight>
              </a:rPr>
              <a:t> on </a:t>
            </a:r>
            <a:r>
              <a:rPr lang="it-IT" sz="1600" dirty="0" err="1">
                <a:highlight>
                  <a:srgbClr val="FFFF00"/>
                </a:highlight>
              </a:rPr>
              <a:t>indexedDB</a:t>
            </a:r>
            <a:endParaRPr lang="it-IT" sz="1600" dirty="0">
              <a:highlight>
                <a:srgbClr val="FFFF00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One </a:t>
            </a:r>
            <a:r>
              <a:rPr lang="it-IT" sz="1600" dirty="0" err="1">
                <a:highlight>
                  <a:srgbClr val="FFFF00"/>
                </a:highlight>
              </a:rPr>
              <a:t>circuit</a:t>
            </a:r>
            <a:r>
              <a:rPr lang="it-IT" sz="1600" dirty="0">
                <a:highlight>
                  <a:srgbClr val="FFFF00"/>
                </a:highlight>
              </a:rPr>
              <a:t> can be </a:t>
            </a:r>
            <a:r>
              <a:rPr lang="it-IT" sz="1600" dirty="0" err="1">
                <a:highlight>
                  <a:srgbClr val="FFFF00"/>
                </a:highlight>
              </a:rPr>
              <a:t>plotted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at</a:t>
            </a:r>
            <a:r>
              <a:rPr lang="it-IT" sz="1600" dirty="0">
                <a:highlight>
                  <a:srgbClr val="FFFF00"/>
                </a:highlight>
              </a:rPr>
              <a:t> the time and </a:t>
            </a:r>
            <a:r>
              <a:rPr lang="it-IT" sz="1600" dirty="0" err="1">
                <a:highlight>
                  <a:srgbClr val="FFFF00"/>
                </a:highlight>
              </a:rPr>
              <a:t>any</a:t>
            </a:r>
            <a:r>
              <a:rPr lang="it-IT" sz="1600" dirty="0">
                <a:highlight>
                  <a:srgbClr val="FFFF00"/>
                </a:highlight>
              </a:rPr>
              <a:t> time </a:t>
            </a:r>
            <a:r>
              <a:rPr lang="it-IT" sz="1600" dirty="0" err="1">
                <a:highlight>
                  <a:srgbClr val="FFFF00"/>
                </a:highlight>
              </a:rPr>
              <a:t>it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is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 err="1">
                <a:highlight>
                  <a:srgbClr val="FFFF00"/>
                </a:highlight>
              </a:rPr>
              <a:t>reloaded</a:t>
            </a:r>
            <a:r>
              <a:rPr lang="it-IT" sz="1600" dirty="0">
                <a:highlight>
                  <a:srgbClr val="FFFF00"/>
                </a:highlight>
              </a:rPr>
              <a:t> from the storage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>
                <a:highlight>
                  <a:srgbClr val="FFFF00"/>
                </a:highlight>
              </a:rPr>
              <a:t>One chart or group of charts (global charts)</a:t>
            </a:r>
          </a:p>
        </p:txBody>
      </p:sp>
    </p:spTree>
    <p:extLst>
      <p:ext uri="{BB962C8B-B14F-4D97-AF65-F5344CB8AC3E}">
        <p14:creationId xmlns:p14="http://schemas.microsoft.com/office/powerpoint/2010/main" val="3494812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9E066-5697-9E51-975D-EA4B3679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C340A552-B0B3-C053-F399-CF7AA3AE3FE3}"/>
              </a:ext>
            </a:extLst>
          </p:cNvPr>
          <p:cNvSpPr txBox="1"/>
          <p:nvPr/>
        </p:nvSpPr>
        <p:spPr>
          <a:xfrm>
            <a:off x="211464" y="92800"/>
            <a:ext cx="1912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Module #1: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5B71850-91D1-E6CD-8AD8-A425F88B1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045" y="3129072"/>
            <a:ext cx="5107776" cy="2446771"/>
          </a:xfrm>
          <a:prstGeom prst="rect">
            <a:avLst/>
          </a:prstGeom>
        </p:spPr>
      </p:pic>
      <p:pic>
        <p:nvPicPr>
          <p:cNvPr id="1028" name="Picture 4" descr="Class Diagram - UML 2 Tutorial | Sparx Systems">
            <a:extLst>
              <a:ext uri="{FF2B5EF4-FFF2-40B4-BE49-F238E27FC236}">
                <a16:creationId xmlns:a16="http://schemas.microsoft.com/office/drawing/2014/main" id="{8B9BC641-1ED3-4478-373B-B72C486AF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60" y="2489923"/>
            <a:ext cx="5725391" cy="403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37A948C-0CC2-B65A-05CC-AE847D0FF609}"/>
              </a:ext>
            </a:extLst>
          </p:cNvPr>
          <p:cNvSpPr txBox="1"/>
          <p:nvPr/>
        </p:nvSpPr>
        <p:spPr>
          <a:xfrm>
            <a:off x="211464" y="831273"/>
            <a:ext cx="17000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Overview</a:t>
            </a:r>
            <a:r>
              <a:rPr lang="it-IT" dirty="0"/>
              <a:t>: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Constraints</a:t>
            </a:r>
            <a:r>
              <a:rPr lang="it-IT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552651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2533</TotalTime>
  <Words>676</Words>
  <Application>Microsoft Office PowerPoint</Application>
  <PresentationFormat>Widescreen</PresentationFormat>
  <Paragraphs>134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Massimo Del prete</dc:creator>
  <cp:lastModifiedBy>Massimo Del prete</cp:lastModifiedBy>
  <cp:revision>124</cp:revision>
  <dcterms:created xsi:type="dcterms:W3CDTF">2025-11-19T16:40:24Z</dcterms:created>
  <dcterms:modified xsi:type="dcterms:W3CDTF">2025-12-02T21:02:38Z</dcterms:modified>
</cp:coreProperties>
</file>