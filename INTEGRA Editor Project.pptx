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6" r:id="rId3"/>
    <p:sldId id="265" r:id="rId4"/>
    <p:sldId id="257" r:id="rId5"/>
    <p:sldId id="258" r:id="rId6"/>
    <p:sldId id="259" r:id="rId7"/>
    <p:sldId id="260" r:id="rId8"/>
    <p:sldId id="264" r:id="rId9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0799" autoAdjust="0"/>
  </p:normalViewPr>
  <p:slideViewPr>
    <p:cSldViewPr snapToGrid="0">
      <p:cViewPr varScale="1">
        <p:scale>
          <a:sx n="100" d="100"/>
          <a:sy n="100" d="100"/>
        </p:scale>
        <p:origin x="990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1B31DFF-8840-2291-2E41-DAEB89D4539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86A25C2C-7DF8-DDC4-8456-6EE860BBD9E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575B6DCF-039A-6FF2-2CBC-FE297CA30F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813C40-EE66-436C-AD33-4DC4D8836DCF}" type="datetimeFigureOut">
              <a:rPr lang="it-IT" smtClean="0"/>
              <a:t>05/12/2025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1DA5209-3173-DFB6-1A17-A865DE4898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DB71C2C0-A359-45C3-6930-3DDD16DF67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5AB196-C602-44CD-8EA1-EB993AE36885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0118206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0239BE4-90B0-A169-194C-AEC30DCBC1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5F1D89D-5B66-09DE-C0CD-E153F34D56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604396EB-1138-2090-3615-76F1952EC0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813C40-EE66-436C-AD33-4DC4D8836DCF}" type="datetimeFigureOut">
              <a:rPr lang="it-IT" smtClean="0"/>
              <a:t>05/12/2025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01552FC2-DCBE-6365-6A3D-7D96205090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C9E26521-3BE0-27A3-8D00-46EEBA67E6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5AB196-C602-44CD-8EA1-EB993AE36885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8449099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705370A-BAAF-7E6B-AA19-F878D783B7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E8C7E451-E2B1-38BF-CD36-CFC92AFA64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4C8939AE-9B31-FDE9-BB0E-686688C178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813C40-EE66-436C-AD33-4DC4D8836DCF}" type="datetimeFigureOut">
              <a:rPr lang="it-IT" smtClean="0"/>
              <a:t>05/12/2025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4BD68529-56AD-184B-E387-D53673F2D3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17443560-00B9-52F1-A360-748BAC4BED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5AB196-C602-44CD-8EA1-EB993AE36885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5043196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BBBCFA5-D4D9-EB80-E63F-579C4F130A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BB41686-5253-7C26-B454-D0DB637541D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257E6D98-296F-F3E7-A686-F1BB9DD16AF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20699D31-27F8-A54D-8670-2E980F1E9C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813C40-EE66-436C-AD33-4DC4D8836DCF}" type="datetimeFigureOut">
              <a:rPr lang="it-IT" smtClean="0"/>
              <a:t>05/12/2025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CF58AD2E-E98A-14AA-7C3F-3840D45B5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13A99630-C559-D9CC-DF44-47F2CFBA9C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5AB196-C602-44CD-8EA1-EB993AE36885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1422209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C1096C7-7CA3-A3E2-B148-F3102BC946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9A52C9FE-C369-59E3-4B73-8CDBFE73CA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6E754AEE-8A2F-2DAC-40F7-DBC86E84A5D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EC6D0440-1DE2-322E-F31E-0FBB7A623EF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7714AB78-DC1A-5265-8072-FB1770D69A2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3C59671A-0BED-8587-93B7-48E77C4912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813C40-EE66-436C-AD33-4DC4D8836DCF}" type="datetimeFigureOut">
              <a:rPr lang="it-IT" smtClean="0"/>
              <a:t>05/12/2025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4FE24ED3-0142-7849-B603-715C38EAC2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E46D731F-D888-C6FE-70F4-9846DBFC82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5AB196-C602-44CD-8EA1-EB993AE36885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851713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52EBCA2-2AD5-2F68-927E-63B7DBC1D2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057BE60B-F6B7-686E-431F-AB05B62ECE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813C40-EE66-436C-AD33-4DC4D8836DCF}" type="datetimeFigureOut">
              <a:rPr lang="it-IT" smtClean="0"/>
              <a:t>05/12/2025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5C5998BE-8DC3-1747-A122-E2B78A8B3C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E91C277A-10BD-29F0-5A84-DF0EC3CD86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5AB196-C602-44CD-8EA1-EB993AE36885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1771096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EE55AE1D-D869-73B1-966D-CADC111EE5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813C40-EE66-436C-AD33-4DC4D8836DCF}" type="datetimeFigureOut">
              <a:rPr lang="it-IT" smtClean="0"/>
              <a:t>05/12/2025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D922C26D-A2C0-4B0A-3785-9DF4DCAB5A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AC6F24E3-A5C5-D38B-BF85-17294547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5AB196-C602-44CD-8EA1-EB993AE36885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12204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28E0E46-8524-C45E-4709-5EDDE539D4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2C0F4F0-FBE8-954A-0DA3-F1467B6067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AF12CBFD-AC93-EFCC-932E-8994B5FD81E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B338979A-67BD-848B-1726-D98CE7560F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813C40-EE66-436C-AD33-4DC4D8836DCF}" type="datetimeFigureOut">
              <a:rPr lang="it-IT" smtClean="0"/>
              <a:t>05/12/2025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BB6A8626-EAA7-D3B0-B141-5A38C2D065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33C4D552-045E-2379-C18B-68377AB904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5AB196-C602-44CD-8EA1-EB993AE36885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3851722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ECF0FBC-7465-A92B-A02A-9129B59DED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8F0F8527-9704-2D61-9E1A-A5494B62164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AE5FE396-1E29-02B2-B82F-677397EA1E4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DD8C2566-0BF4-D51B-DF86-BA37A22A07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813C40-EE66-436C-AD33-4DC4D8836DCF}" type="datetimeFigureOut">
              <a:rPr lang="it-IT" smtClean="0"/>
              <a:t>05/12/2025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EFE6019A-EF53-5778-D993-1A4BED7BA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FCF01485-0FAE-E619-A1D1-DA586E00E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5AB196-C602-44CD-8EA1-EB993AE36885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0987441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E81F8D0-1F5A-923B-B94C-72CA7ED428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0E1DCF00-78B6-57AF-15D1-2C2A0B733A7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FE16D7EE-5BD4-C1F1-E233-ED656CAFB4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813C40-EE66-436C-AD33-4DC4D8836DCF}" type="datetimeFigureOut">
              <a:rPr lang="it-IT" smtClean="0"/>
              <a:t>05/12/2025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F53992A-1D0A-5EFE-2BEB-3C096945B4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A4CD90CA-7D46-E2B3-B9E1-2F32E98D9E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5AB196-C602-44CD-8EA1-EB993AE36885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8233122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E91DDE10-5979-B162-8E61-75ADF4132E7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99A0446A-DC8D-1DEF-B2DB-879354C569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08F17A85-415C-EC00-F205-BA9B832D99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813C40-EE66-436C-AD33-4DC4D8836DCF}" type="datetimeFigureOut">
              <a:rPr lang="it-IT" smtClean="0"/>
              <a:t>05/12/2025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1D53528-5108-B57E-1E23-E0F085B7DA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52E9DF3C-BF51-3158-550F-67614D06DE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5AB196-C602-44CD-8EA1-EB993AE36885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0696490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D7FF4254-EA84-DCF3-2C71-7C510A4AEF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7F76DA62-D71D-6980-675C-624593325A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DE8432B6-BEB6-A784-3E73-E57F11060B3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B813C40-EE66-436C-AD33-4DC4D8836DCF}" type="datetimeFigureOut">
              <a:rPr lang="it-IT" smtClean="0"/>
              <a:t>05/12/2025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2552D3C-EF38-70CE-7A45-C0F2023C37A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595C64C1-1EDE-6AFE-F611-F008CBE8560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C5AB196-C602-44CD-8EA1-EB993AE36885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9766679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sellaDiTesto 3">
            <a:extLst>
              <a:ext uri="{FF2B5EF4-FFF2-40B4-BE49-F238E27FC236}">
                <a16:creationId xmlns:a16="http://schemas.microsoft.com/office/drawing/2014/main" id="{AA6246B9-7412-C7DC-EABD-3AE0783BD40C}"/>
              </a:ext>
            </a:extLst>
          </p:cNvPr>
          <p:cNvSpPr txBox="1"/>
          <p:nvPr/>
        </p:nvSpPr>
        <p:spPr>
          <a:xfrm>
            <a:off x="294968" y="99773"/>
            <a:ext cx="250902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2800" dirty="0" err="1"/>
              <a:t>Overview</a:t>
            </a:r>
            <a:r>
              <a:rPr lang="it-IT" sz="2800" dirty="0"/>
              <a:t> (1/2):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9450ECAF-07CA-BD1B-0488-36ACFCDD2EF1}"/>
              </a:ext>
            </a:extLst>
          </p:cNvPr>
          <p:cNvSpPr txBox="1"/>
          <p:nvPr/>
        </p:nvSpPr>
        <p:spPr>
          <a:xfrm>
            <a:off x="0" y="608430"/>
            <a:ext cx="12192000" cy="5985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it-IT" sz="1400" dirty="0" err="1"/>
              <a:t>This</a:t>
            </a:r>
            <a:r>
              <a:rPr lang="it-IT" sz="1400" dirty="0"/>
              <a:t> SW </a:t>
            </a:r>
            <a:r>
              <a:rPr lang="it-IT" sz="1400" dirty="0" err="1"/>
              <a:t>will</a:t>
            </a:r>
            <a:r>
              <a:rPr lang="it-IT" sz="1400" dirty="0"/>
              <a:t> target </a:t>
            </a:r>
            <a:r>
              <a:rPr lang="it-IT" sz="1400" dirty="0" err="1"/>
              <a:t>both</a:t>
            </a:r>
            <a:r>
              <a:rPr lang="it-IT" sz="1400" dirty="0"/>
              <a:t> a web </a:t>
            </a:r>
            <a:r>
              <a:rPr lang="it-IT" sz="1400" dirty="0" err="1"/>
              <a:t>application</a:t>
            </a:r>
            <a:r>
              <a:rPr lang="it-IT" sz="1400" dirty="0"/>
              <a:t> </a:t>
            </a:r>
            <a:r>
              <a:rPr lang="it-IT" sz="1400" dirty="0" err="1"/>
              <a:t>using</a:t>
            </a:r>
            <a:r>
              <a:rPr lang="it-IT" sz="1400" dirty="0"/>
              <a:t> </a:t>
            </a:r>
            <a:r>
              <a:rPr lang="it-IT" sz="1400" dirty="0" err="1"/>
              <a:t>Angular</a:t>
            </a:r>
            <a:r>
              <a:rPr lang="it-IT" sz="1400" dirty="0"/>
              <a:t> and a desktop </a:t>
            </a:r>
            <a:r>
              <a:rPr lang="it-IT" sz="1400" dirty="0" err="1"/>
              <a:t>application</a:t>
            </a:r>
            <a:r>
              <a:rPr lang="it-IT" sz="1400" dirty="0"/>
              <a:t> </a:t>
            </a:r>
            <a:r>
              <a:rPr lang="it-IT" sz="1400" dirty="0" err="1"/>
              <a:t>converting</a:t>
            </a:r>
            <a:r>
              <a:rPr lang="it-IT" sz="1400" dirty="0"/>
              <a:t> </a:t>
            </a:r>
            <a:r>
              <a:rPr lang="it-IT" sz="1400" dirty="0" err="1"/>
              <a:t>Angular</a:t>
            </a:r>
            <a:r>
              <a:rPr lang="it-IT" sz="1400" dirty="0"/>
              <a:t> with Electron.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it-IT" sz="1400" dirty="0" err="1"/>
              <a:t>This</a:t>
            </a:r>
            <a:r>
              <a:rPr lang="it-IT" sz="1400" dirty="0"/>
              <a:t> SW </a:t>
            </a:r>
            <a:r>
              <a:rPr lang="it-IT" sz="1400" dirty="0" err="1"/>
              <a:t>will</a:t>
            </a:r>
            <a:r>
              <a:rPr lang="it-IT" sz="1400" dirty="0"/>
              <a:t> </a:t>
            </a:r>
            <a:r>
              <a:rPr lang="it-IT" sz="1400" dirty="0" err="1"/>
              <a:t>implement</a:t>
            </a:r>
            <a:r>
              <a:rPr lang="it-IT" sz="1400" dirty="0"/>
              <a:t> a special editor </a:t>
            </a:r>
            <a:r>
              <a:rPr lang="it-IT" sz="1400" dirty="0" err="1"/>
              <a:t>able</a:t>
            </a:r>
            <a:r>
              <a:rPr lang="it-IT" sz="1400" dirty="0"/>
              <a:t> to </a:t>
            </a:r>
            <a:r>
              <a:rPr lang="it-IT" sz="1400" dirty="0" err="1"/>
              <a:t>run</a:t>
            </a:r>
            <a:r>
              <a:rPr lang="it-IT" sz="1400" dirty="0"/>
              <a:t> </a:t>
            </a:r>
            <a:r>
              <a:rPr lang="it-IT" sz="1400" dirty="0" err="1"/>
              <a:t>simulations</a:t>
            </a:r>
            <a:r>
              <a:rPr lang="it-IT" sz="1400" dirty="0"/>
              <a:t> in the </a:t>
            </a:r>
            <a:r>
              <a:rPr lang="it-IT" sz="1400" dirty="0" err="1"/>
              <a:t>Analog</a:t>
            </a:r>
            <a:r>
              <a:rPr lang="it-IT" sz="1400" dirty="0"/>
              <a:t> and RF Domain.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it-IT" sz="1400" dirty="0"/>
              <a:t>The SW </a:t>
            </a:r>
            <a:r>
              <a:rPr lang="it-IT" sz="1400" dirty="0" err="1"/>
              <a:t>will</a:t>
            </a:r>
            <a:r>
              <a:rPr lang="it-IT" sz="1400" dirty="0"/>
              <a:t> integrate (</a:t>
            </a:r>
            <a:r>
              <a:rPr lang="it-IT" sz="1400" dirty="0" err="1"/>
              <a:t>that</a:t>
            </a:r>
            <a:r>
              <a:rPr lang="it-IT" sz="1400" dirty="0"/>
              <a:t> </a:t>
            </a:r>
            <a:r>
              <a:rPr lang="it-IT" sz="1400" dirty="0" err="1"/>
              <a:t>is</a:t>
            </a:r>
            <a:r>
              <a:rPr lang="it-IT" sz="1400" dirty="0"/>
              <a:t> </a:t>
            </a:r>
            <a:r>
              <a:rPr lang="it-IT" sz="1400" dirty="0" err="1"/>
              <a:t>why</a:t>
            </a:r>
            <a:r>
              <a:rPr lang="it-IT" sz="1400" dirty="0"/>
              <a:t> INTEGRA </a:t>
            </a:r>
            <a:r>
              <a:rPr lang="it-IT" sz="1400" dirty="0" err="1"/>
              <a:t>is</a:t>
            </a:r>
            <a:r>
              <a:rPr lang="it-IT" sz="1400" dirty="0"/>
              <a:t> the name) a </a:t>
            </a:r>
            <a:r>
              <a:rPr lang="it-IT" sz="1400" dirty="0" err="1"/>
              <a:t>number</a:t>
            </a:r>
            <a:r>
              <a:rPr lang="it-IT" sz="1400" dirty="0"/>
              <a:t> </a:t>
            </a:r>
            <a:r>
              <a:rPr lang="it-IT" sz="1400" dirty="0" err="1"/>
              <a:t>solvers</a:t>
            </a:r>
            <a:r>
              <a:rPr lang="it-IT" sz="1400" dirty="0"/>
              <a:t> and </a:t>
            </a:r>
            <a:r>
              <a:rPr lang="it-IT" sz="1400" dirty="0" err="1"/>
              <a:t>calculators</a:t>
            </a:r>
            <a:r>
              <a:rPr lang="it-IT" sz="1400" dirty="0"/>
              <a:t> in the </a:t>
            </a:r>
            <a:r>
              <a:rPr lang="it-IT" sz="1400" dirty="0" err="1"/>
              <a:t>Analog</a:t>
            </a:r>
            <a:r>
              <a:rPr lang="it-IT" sz="1400" dirty="0"/>
              <a:t> and RF Domain.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it-IT" sz="1400" dirty="0"/>
              <a:t>The </a:t>
            </a:r>
            <a:r>
              <a:rPr lang="it-IT" sz="1400" dirty="0" err="1"/>
              <a:t>solvers</a:t>
            </a:r>
            <a:r>
              <a:rPr lang="it-IT" sz="1400" dirty="0"/>
              <a:t> are in general </a:t>
            </a:r>
            <a:r>
              <a:rPr lang="it-IT" sz="1400" dirty="0" err="1"/>
              <a:t>connected</a:t>
            </a:r>
            <a:r>
              <a:rPr lang="it-IT" sz="1400" dirty="0"/>
              <a:t> to a </a:t>
            </a:r>
            <a:r>
              <a:rPr lang="it-IT" sz="1400" b="1" dirty="0"/>
              <a:t>Board</a:t>
            </a:r>
            <a:r>
              <a:rPr lang="it-IT" sz="1400" dirty="0"/>
              <a:t> and </a:t>
            </a:r>
            <a:r>
              <a:rPr lang="it-IT" sz="1400" dirty="0" err="1"/>
              <a:t>they</a:t>
            </a:r>
            <a:r>
              <a:rPr lang="it-IT" sz="1400" dirty="0"/>
              <a:t> </a:t>
            </a:r>
            <a:r>
              <a:rPr lang="it-IT" sz="1400" dirty="0" err="1"/>
              <a:t>have</a:t>
            </a:r>
            <a:r>
              <a:rPr lang="it-IT" sz="1400" dirty="0"/>
              <a:t> a special editor to </a:t>
            </a:r>
            <a:r>
              <a:rPr lang="it-IT" sz="1400" dirty="0" err="1"/>
              <a:t>draw</a:t>
            </a:r>
            <a:r>
              <a:rPr lang="it-IT" sz="1400" dirty="0"/>
              <a:t> the model (</a:t>
            </a:r>
            <a:r>
              <a:rPr lang="it-IT" sz="1400" dirty="0" err="1"/>
              <a:t>i,.e</a:t>
            </a:r>
            <a:r>
              <a:rPr lang="it-IT" sz="1400" dirty="0"/>
              <a:t> </a:t>
            </a:r>
            <a:r>
              <a:rPr lang="it-IT" sz="1400" dirty="0" err="1"/>
              <a:t>schematic</a:t>
            </a:r>
            <a:r>
              <a:rPr lang="it-IT" sz="1400" dirty="0"/>
              <a:t> editor for s-</a:t>
            </a:r>
            <a:r>
              <a:rPr lang="it-IT" sz="1400" dirty="0" err="1"/>
              <a:t>parameters</a:t>
            </a:r>
            <a:r>
              <a:rPr lang="it-IT" sz="1400" dirty="0"/>
              <a:t>, etc.).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it-IT" sz="1400" dirty="0"/>
              <a:t>The </a:t>
            </a:r>
            <a:r>
              <a:rPr lang="it-IT" sz="1400" dirty="0" err="1"/>
              <a:t>calculators</a:t>
            </a:r>
            <a:r>
              <a:rPr lang="it-IT" sz="1400" dirty="0"/>
              <a:t> are </a:t>
            </a:r>
            <a:r>
              <a:rPr lang="it-IT" sz="1400" dirty="0" err="1"/>
              <a:t>instead</a:t>
            </a:r>
            <a:r>
              <a:rPr lang="it-IT" sz="1400" dirty="0"/>
              <a:t> </a:t>
            </a:r>
            <a:r>
              <a:rPr lang="it-IT" sz="1400" dirty="0" err="1"/>
              <a:t>connected</a:t>
            </a:r>
            <a:r>
              <a:rPr lang="it-IT" sz="1400" dirty="0"/>
              <a:t> to an </a:t>
            </a:r>
            <a:r>
              <a:rPr lang="it-IT" sz="1400" b="1" dirty="0"/>
              <a:t>App</a:t>
            </a:r>
            <a:r>
              <a:rPr lang="it-IT" sz="1400" dirty="0"/>
              <a:t> </a:t>
            </a:r>
            <a:r>
              <a:rPr lang="it-IT" sz="1400" dirty="0" err="1"/>
              <a:t>designed</a:t>
            </a:r>
            <a:r>
              <a:rPr lang="it-IT" sz="1400" dirty="0"/>
              <a:t> to </a:t>
            </a:r>
            <a:r>
              <a:rPr lang="it-IT" sz="1400" dirty="0" err="1"/>
              <a:t>get</a:t>
            </a:r>
            <a:r>
              <a:rPr lang="it-IT" sz="1400" dirty="0"/>
              <a:t> the inputs from the user and </a:t>
            </a:r>
            <a:r>
              <a:rPr lang="it-IT" sz="1400" dirty="0" err="1"/>
              <a:t>run</a:t>
            </a:r>
            <a:r>
              <a:rPr lang="it-IT" sz="1400" dirty="0"/>
              <a:t> a fast </a:t>
            </a:r>
            <a:r>
              <a:rPr lang="it-IT" sz="1400" dirty="0" err="1"/>
              <a:t>calculation</a:t>
            </a:r>
            <a:r>
              <a:rPr lang="it-IT" sz="1400" dirty="0"/>
              <a:t> (RF line-up </a:t>
            </a:r>
            <a:r>
              <a:rPr lang="it-IT" sz="1400" dirty="0" err="1"/>
              <a:t>analyzer</a:t>
            </a:r>
            <a:r>
              <a:rPr lang="it-IT" sz="1400" dirty="0"/>
              <a:t>).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it-IT" sz="1400" dirty="0"/>
              <a:t>In </a:t>
            </a:r>
            <a:r>
              <a:rPr lang="it-IT" sz="1400" dirty="0" err="1"/>
              <a:t>addition</a:t>
            </a:r>
            <a:r>
              <a:rPr lang="it-IT" sz="1400" dirty="0"/>
              <a:t> the SW </a:t>
            </a:r>
            <a:r>
              <a:rPr lang="it-IT" sz="1400" dirty="0" err="1"/>
              <a:t>has</a:t>
            </a:r>
            <a:r>
              <a:rPr lang="it-IT" sz="1400" dirty="0"/>
              <a:t> </a:t>
            </a:r>
            <a:r>
              <a:rPr lang="it-IT" sz="1400" dirty="0" err="1"/>
              <a:t>also</a:t>
            </a:r>
            <a:r>
              <a:rPr lang="it-IT" sz="1400" dirty="0"/>
              <a:t> </a:t>
            </a:r>
            <a:r>
              <a:rPr lang="it-IT" sz="1400" b="1" dirty="0"/>
              <a:t>Data</a:t>
            </a:r>
            <a:r>
              <a:rPr lang="it-IT" sz="1400" dirty="0"/>
              <a:t> (</a:t>
            </a:r>
            <a:r>
              <a:rPr lang="it-IT" sz="1400" dirty="0" err="1"/>
              <a:t>which</a:t>
            </a:r>
            <a:r>
              <a:rPr lang="it-IT" sz="1400" dirty="0"/>
              <a:t> are the </a:t>
            </a:r>
            <a:r>
              <a:rPr lang="it-IT" sz="1400" dirty="0" err="1"/>
              <a:t>imported</a:t>
            </a:r>
            <a:r>
              <a:rPr lang="it-IT" sz="1400" dirty="0"/>
              <a:t> data from </a:t>
            </a:r>
            <a:r>
              <a:rPr lang="it-IT" sz="1400" dirty="0" err="1"/>
              <a:t>external</a:t>
            </a:r>
            <a:r>
              <a:rPr lang="it-IT" sz="1400" dirty="0"/>
              <a:t>) and </a:t>
            </a:r>
            <a:r>
              <a:rPr lang="it-IT" sz="1400" b="1" dirty="0"/>
              <a:t>Dataset</a:t>
            </a:r>
            <a:r>
              <a:rPr lang="it-IT" sz="1400" dirty="0"/>
              <a:t> (</a:t>
            </a:r>
            <a:r>
              <a:rPr lang="it-IT" sz="1400" dirty="0" err="1"/>
              <a:t>which</a:t>
            </a:r>
            <a:r>
              <a:rPr lang="it-IT" sz="1400" dirty="0"/>
              <a:t> are the </a:t>
            </a:r>
            <a:r>
              <a:rPr lang="it-IT" sz="1400" dirty="0" err="1"/>
              <a:t>results</a:t>
            </a:r>
            <a:r>
              <a:rPr lang="it-IT" sz="1400" dirty="0"/>
              <a:t> </a:t>
            </a:r>
            <a:r>
              <a:rPr lang="it-IT" sz="1400" dirty="0" err="1"/>
              <a:t>computed</a:t>
            </a:r>
            <a:r>
              <a:rPr lang="it-IT" sz="1400" dirty="0"/>
              <a:t> by the </a:t>
            </a:r>
            <a:r>
              <a:rPr lang="it-IT" sz="1400" dirty="0" err="1"/>
              <a:t>wasm</a:t>
            </a:r>
            <a:r>
              <a:rPr lang="it-IT" sz="1400" dirty="0"/>
              <a:t> solver).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it-IT" sz="1400" dirty="0"/>
              <a:t>The SW </a:t>
            </a:r>
            <a:r>
              <a:rPr lang="it-IT" sz="1400" dirty="0" err="1"/>
              <a:t>will</a:t>
            </a:r>
            <a:r>
              <a:rPr lang="it-IT" sz="1400" dirty="0"/>
              <a:t> </a:t>
            </a:r>
            <a:r>
              <a:rPr lang="it-IT" sz="1400" dirty="0" err="1"/>
              <a:t>implement</a:t>
            </a:r>
            <a:r>
              <a:rPr lang="it-IT" sz="1400" dirty="0"/>
              <a:t> </a:t>
            </a:r>
            <a:r>
              <a:rPr lang="it-IT" sz="1400" dirty="0" err="1"/>
              <a:t>memory-saving</a:t>
            </a:r>
            <a:r>
              <a:rPr lang="it-IT" sz="1400" dirty="0"/>
              <a:t> </a:t>
            </a:r>
            <a:r>
              <a:rPr lang="it-IT" sz="1400" dirty="0" err="1"/>
              <a:t>methods</a:t>
            </a:r>
            <a:r>
              <a:rPr lang="it-IT" sz="1400" dirty="0"/>
              <a:t> to </a:t>
            </a:r>
            <a:r>
              <a:rPr lang="it-IT" sz="1400" dirty="0" err="1"/>
              <a:t>minimize</a:t>
            </a:r>
            <a:r>
              <a:rPr lang="it-IT" sz="1400" dirty="0"/>
              <a:t> the JS </a:t>
            </a:r>
            <a:r>
              <a:rPr lang="it-IT" sz="1400" dirty="0" err="1"/>
              <a:t>memory</a:t>
            </a:r>
            <a:r>
              <a:rPr lang="it-IT" sz="1400" dirty="0"/>
              <a:t> on the </a:t>
            </a:r>
            <a:r>
              <a:rPr lang="it-IT" sz="1400" dirty="0" err="1"/>
              <a:t>broser</a:t>
            </a:r>
            <a:r>
              <a:rPr lang="it-IT" sz="1400" dirty="0"/>
              <a:t>.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it-IT" sz="1400" dirty="0"/>
              <a:t>The SW in the </a:t>
            </a:r>
            <a:r>
              <a:rPr lang="it-IT" sz="1400" dirty="0" err="1"/>
              <a:t>wep</a:t>
            </a:r>
            <a:r>
              <a:rPr lang="it-IT" sz="1400" dirty="0"/>
              <a:t> app </a:t>
            </a:r>
            <a:r>
              <a:rPr lang="it-IT" sz="1400" dirty="0" err="1"/>
              <a:t>will</a:t>
            </a:r>
            <a:r>
              <a:rPr lang="it-IT" sz="1400" dirty="0"/>
              <a:t> </a:t>
            </a:r>
            <a:r>
              <a:rPr lang="it-IT" sz="1400" dirty="0" err="1"/>
              <a:t>run</a:t>
            </a:r>
            <a:r>
              <a:rPr lang="it-IT" sz="1400" dirty="0"/>
              <a:t> </a:t>
            </a:r>
            <a:r>
              <a:rPr lang="it-IT" sz="1400" dirty="0" err="1"/>
              <a:t>all</a:t>
            </a:r>
            <a:r>
              <a:rPr lang="it-IT" sz="1400" dirty="0"/>
              <a:t> the </a:t>
            </a:r>
            <a:r>
              <a:rPr lang="it-IT" sz="1400" dirty="0" err="1"/>
              <a:t>simulations</a:t>
            </a:r>
            <a:r>
              <a:rPr lang="it-IT" sz="1400" dirty="0"/>
              <a:t> client-side </a:t>
            </a:r>
            <a:r>
              <a:rPr lang="it-IT" sz="1400" dirty="0" err="1"/>
              <a:t>using</a:t>
            </a:r>
            <a:r>
              <a:rPr lang="it-IT" sz="1400" dirty="0"/>
              <a:t> WASM and </a:t>
            </a:r>
            <a:r>
              <a:rPr lang="it-IT" sz="1400" dirty="0" err="1"/>
              <a:t>WebGPU</a:t>
            </a:r>
            <a:r>
              <a:rPr lang="it-IT" sz="1400" dirty="0"/>
              <a:t>.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sz="1400" dirty="0" err="1"/>
              <a:t>Only</a:t>
            </a:r>
            <a:r>
              <a:rPr lang="it-IT" sz="1400" dirty="0"/>
              <a:t> one </a:t>
            </a:r>
            <a:r>
              <a:rPr lang="it-IT" sz="1400" dirty="0" err="1"/>
              <a:t>simulation</a:t>
            </a:r>
            <a:r>
              <a:rPr lang="it-IT" sz="1400" dirty="0"/>
              <a:t> </a:t>
            </a:r>
            <a:r>
              <a:rPr lang="it-IT" sz="1400" dirty="0" err="1"/>
              <a:t>at</a:t>
            </a:r>
            <a:r>
              <a:rPr lang="it-IT" sz="1400" dirty="0"/>
              <a:t> the time can be </a:t>
            </a:r>
            <a:r>
              <a:rPr lang="it-IT" sz="1400" dirty="0" err="1"/>
              <a:t>executed</a:t>
            </a:r>
            <a:r>
              <a:rPr lang="it-IT" sz="1400" dirty="0"/>
              <a:t> from a </a:t>
            </a:r>
            <a:r>
              <a:rPr lang="it-IT" sz="1400" dirty="0" err="1"/>
              <a:t>specific</a:t>
            </a:r>
            <a:r>
              <a:rPr lang="it-IT" sz="1400" dirty="0"/>
              <a:t> user.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sz="1400" dirty="0"/>
              <a:t>No </a:t>
            </a:r>
            <a:r>
              <a:rPr lang="it-IT" sz="1400" dirty="0" err="1"/>
              <a:t>android</a:t>
            </a:r>
            <a:r>
              <a:rPr lang="it-IT" sz="1400" dirty="0"/>
              <a:t> app </a:t>
            </a:r>
            <a:r>
              <a:rPr lang="it-IT" sz="1400" dirty="0" err="1"/>
              <a:t>is</a:t>
            </a:r>
            <a:r>
              <a:rPr lang="it-IT" sz="1400" dirty="0"/>
              <a:t> </a:t>
            </a:r>
            <a:r>
              <a:rPr lang="it-IT" sz="1400" dirty="0" err="1"/>
              <a:t>allowed</a:t>
            </a:r>
            <a:r>
              <a:rPr lang="it-IT" sz="1400" dirty="0"/>
              <a:t> to </a:t>
            </a:r>
            <a:r>
              <a:rPr lang="it-IT" sz="1400" dirty="0" err="1"/>
              <a:t>run</a:t>
            </a:r>
            <a:r>
              <a:rPr lang="it-IT" sz="1400" dirty="0"/>
              <a:t> </a:t>
            </a:r>
            <a:r>
              <a:rPr lang="it-IT" sz="1400" dirty="0" err="1"/>
              <a:t>simulations</a:t>
            </a:r>
            <a:r>
              <a:rPr lang="it-IT" sz="1400" dirty="0"/>
              <a:t>, </a:t>
            </a:r>
            <a:r>
              <a:rPr lang="it-IT" sz="1400" dirty="0" err="1"/>
              <a:t>only</a:t>
            </a:r>
            <a:r>
              <a:rPr lang="it-IT" sz="1400" dirty="0"/>
              <a:t> </a:t>
            </a:r>
            <a:r>
              <a:rPr lang="it-IT" sz="1400" dirty="0" err="1"/>
              <a:t>viewer</a:t>
            </a:r>
            <a:r>
              <a:rPr lang="it-IT" sz="1400" dirty="0"/>
              <a:t> </a:t>
            </a:r>
            <a:r>
              <a:rPr lang="it-IT" sz="1400" dirty="0" err="1"/>
              <a:t>adn</a:t>
            </a:r>
            <a:r>
              <a:rPr lang="it-IT" sz="1400" dirty="0"/>
              <a:t> </a:t>
            </a:r>
            <a:r>
              <a:rPr lang="it-IT" sz="1400" dirty="0" err="1"/>
              <a:t>comments</a:t>
            </a:r>
            <a:r>
              <a:rPr lang="it-IT" sz="1400" dirty="0"/>
              <a:t>.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it-IT" sz="1400" dirty="0"/>
              <a:t>The SW in the desktop app </a:t>
            </a:r>
            <a:r>
              <a:rPr lang="it-IT" sz="1400" dirty="0" err="1"/>
              <a:t>will</a:t>
            </a:r>
            <a:r>
              <a:rPr lang="it-IT" sz="1400" dirty="0"/>
              <a:t> </a:t>
            </a:r>
            <a:r>
              <a:rPr lang="it-IT" sz="1400" dirty="0" err="1"/>
              <a:t>run</a:t>
            </a:r>
            <a:r>
              <a:rPr lang="it-IT" sz="1400" dirty="0"/>
              <a:t> </a:t>
            </a:r>
            <a:r>
              <a:rPr lang="it-IT" sz="1400" dirty="0" err="1"/>
              <a:t>all</a:t>
            </a:r>
            <a:r>
              <a:rPr lang="it-IT" sz="1400" dirty="0"/>
              <a:t> the </a:t>
            </a:r>
            <a:r>
              <a:rPr lang="it-IT" sz="1400" dirty="0" err="1"/>
              <a:t>simulations</a:t>
            </a:r>
            <a:r>
              <a:rPr lang="it-IT" sz="1400" dirty="0"/>
              <a:t> </a:t>
            </a:r>
            <a:r>
              <a:rPr lang="it-IT" sz="1400" dirty="0" err="1"/>
              <a:t>using</a:t>
            </a:r>
            <a:r>
              <a:rPr lang="it-IT" sz="1400" dirty="0"/>
              <a:t> Native Application (i.e. EXE app) and </a:t>
            </a:r>
            <a:r>
              <a:rPr lang="it-IT" sz="1400" dirty="0" err="1"/>
              <a:t>local</a:t>
            </a:r>
            <a:r>
              <a:rPr lang="it-IT" sz="1400" dirty="0"/>
              <a:t> GPU.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sz="1400" dirty="0"/>
              <a:t>The desktop app </a:t>
            </a:r>
            <a:r>
              <a:rPr lang="it-IT" sz="1400" dirty="0" err="1"/>
              <a:t>will</a:t>
            </a:r>
            <a:r>
              <a:rPr lang="it-IT" sz="1400" dirty="0"/>
              <a:t> </a:t>
            </a:r>
            <a:r>
              <a:rPr lang="it-IT" sz="1400" dirty="0" err="1"/>
              <a:t>need</a:t>
            </a:r>
            <a:r>
              <a:rPr lang="it-IT" sz="1400" dirty="0"/>
              <a:t> </a:t>
            </a:r>
            <a:r>
              <a:rPr lang="it-IT" sz="1400" dirty="0" err="1"/>
              <a:t>anyway</a:t>
            </a:r>
            <a:r>
              <a:rPr lang="it-IT" sz="1400" dirty="0"/>
              <a:t> the </a:t>
            </a:r>
            <a:r>
              <a:rPr lang="it-IT" sz="1400" dirty="0" err="1"/>
              <a:t>backend</a:t>
            </a:r>
            <a:r>
              <a:rPr lang="it-IT" sz="1400" dirty="0"/>
              <a:t> connection for licensing, user account and models.</a:t>
            </a:r>
          </a:p>
          <a:p>
            <a:pPr marL="342900" indent="-342900">
              <a:buFont typeface="+mj-lt"/>
              <a:buAutoNum type="arabicPeriod"/>
            </a:pPr>
            <a:r>
              <a:rPr lang="it-IT" sz="1400" dirty="0"/>
              <a:t>Front-end side the dataset </a:t>
            </a:r>
            <a:r>
              <a:rPr lang="it-IT" sz="1400" dirty="0" err="1"/>
              <a:t>computed</a:t>
            </a:r>
            <a:r>
              <a:rPr lang="it-IT" sz="1400" dirty="0"/>
              <a:t> by the back-end must be </a:t>
            </a:r>
            <a:r>
              <a:rPr lang="it-IT" sz="1400" dirty="0" err="1"/>
              <a:t>stored</a:t>
            </a:r>
            <a:r>
              <a:rPr lang="it-IT" sz="1400" dirty="0"/>
              <a:t> on </a:t>
            </a:r>
            <a:r>
              <a:rPr lang="it-IT" sz="1400" dirty="0" err="1"/>
              <a:t>external</a:t>
            </a:r>
            <a:r>
              <a:rPr lang="it-IT" sz="1400" dirty="0"/>
              <a:t> storage and JS </a:t>
            </a:r>
            <a:r>
              <a:rPr lang="it-IT" sz="1400" dirty="0" err="1"/>
              <a:t>memory</a:t>
            </a:r>
            <a:r>
              <a:rPr lang="it-IT" sz="1400" dirty="0"/>
              <a:t> </a:t>
            </a:r>
            <a:r>
              <a:rPr lang="it-IT" sz="1400" dirty="0" err="1"/>
              <a:t>shall</a:t>
            </a:r>
            <a:r>
              <a:rPr lang="it-IT" sz="1400" dirty="0"/>
              <a:t> be </a:t>
            </a:r>
            <a:r>
              <a:rPr lang="it-IT" sz="1400" dirty="0" err="1"/>
              <a:t>freed</a:t>
            </a:r>
            <a:r>
              <a:rPr lang="it-IT" sz="1400" dirty="0"/>
              <a:t> </a:t>
            </a:r>
            <a:r>
              <a:rPr lang="it-IT" sz="1400" dirty="0" err="1"/>
              <a:t>as</a:t>
            </a:r>
            <a:r>
              <a:rPr lang="it-IT" sz="1400" dirty="0"/>
              <a:t> </a:t>
            </a:r>
            <a:r>
              <a:rPr lang="it-IT" sz="1400" dirty="0" err="1"/>
              <a:t>soon</a:t>
            </a:r>
            <a:r>
              <a:rPr lang="it-IT" sz="1400" dirty="0"/>
              <a:t> </a:t>
            </a:r>
            <a:r>
              <a:rPr lang="it-IT" sz="1400" dirty="0" err="1"/>
              <a:t>as</a:t>
            </a:r>
            <a:r>
              <a:rPr lang="it-IT" sz="1400" dirty="0"/>
              <a:t> </a:t>
            </a:r>
            <a:r>
              <a:rPr lang="it-IT" sz="1400" dirty="0" err="1"/>
              <a:t>possible</a:t>
            </a:r>
            <a:r>
              <a:rPr lang="it-IT" sz="1400" dirty="0"/>
              <a:t> to </a:t>
            </a:r>
            <a:r>
              <a:rPr lang="it-IT" sz="1400" dirty="0" err="1"/>
              <a:t>avoid</a:t>
            </a:r>
            <a:r>
              <a:rPr lang="it-IT" sz="1400" dirty="0"/>
              <a:t> browser </a:t>
            </a:r>
            <a:r>
              <a:rPr lang="it-IT" sz="1400" dirty="0" err="1"/>
              <a:t>crashing</a:t>
            </a:r>
            <a:r>
              <a:rPr lang="it-IT" sz="1400" dirty="0"/>
              <a:t>.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it-IT" sz="1400" dirty="0"/>
              <a:t>The projects can be </a:t>
            </a:r>
            <a:r>
              <a:rPr lang="it-IT" sz="1400" dirty="0" err="1"/>
              <a:t>stored</a:t>
            </a:r>
            <a:r>
              <a:rPr lang="it-IT" sz="1400" dirty="0"/>
              <a:t> by the user on </a:t>
            </a:r>
            <a:r>
              <a:rPr lang="it-IT" sz="1400" dirty="0" err="1"/>
              <a:t>local</a:t>
            </a:r>
            <a:r>
              <a:rPr lang="it-IT" sz="1400" dirty="0"/>
              <a:t> disk or workspace (He can decide </a:t>
            </a:r>
            <a:r>
              <a:rPr lang="it-IT" sz="1400" dirty="0" err="1"/>
              <a:t>selecting</a:t>
            </a:r>
            <a:r>
              <a:rPr lang="it-IT" sz="1400" dirty="0"/>
              <a:t> the project options).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it-IT" sz="1400" dirty="0"/>
              <a:t>At first loading the editor can </a:t>
            </a:r>
            <a:r>
              <a:rPr lang="it-IT" sz="1400" dirty="0" err="1"/>
              <a:t>have</a:t>
            </a:r>
            <a:r>
              <a:rPr lang="it-IT" sz="1400" dirty="0"/>
              <a:t> </a:t>
            </a:r>
            <a:r>
              <a:rPr lang="it-IT" sz="1400" dirty="0" err="1"/>
              <a:t>as</a:t>
            </a:r>
            <a:r>
              <a:rPr lang="it-IT" sz="1400" dirty="0"/>
              <a:t> input i) the project from the DB (workspace), ii) the project from </a:t>
            </a:r>
            <a:r>
              <a:rPr lang="it-IT" sz="1400" dirty="0" err="1"/>
              <a:t>local</a:t>
            </a:r>
            <a:r>
              <a:rPr lang="it-IT" sz="1400" dirty="0"/>
              <a:t> disk.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it-IT" sz="1400" dirty="0" err="1"/>
              <a:t>Anyway</a:t>
            </a:r>
            <a:r>
              <a:rPr lang="it-IT" sz="1400" dirty="0"/>
              <a:t>, </a:t>
            </a:r>
            <a:r>
              <a:rPr lang="it-IT" sz="1400" dirty="0" err="1"/>
              <a:t>since</a:t>
            </a:r>
            <a:r>
              <a:rPr lang="it-IT" sz="1400" dirty="0"/>
              <a:t> inside project can be </a:t>
            </a:r>
            <a:r>
              <a:rPr lang="it-IT" sz="1400" dirty="0" err="1"/>
              <a:t>located</a:t>
            </a:r>
            <a:r>
              <a:rPr lang="it-IT" sz="1400" dirty="0"/>
              <a:t> </a:t>
            </a:r>
            <a:r>
              <a:rPr lang="it-IT" sz="1400" dirty="0" err="1"/>
              <a:t>many</a:t>
            </a:r>
            <a:r>
              <a:rPr lang="it-IT" sz="1400" dirty="0"/>
              <a:t> Boards and Apps, </a:t>
            </a:r>
            <a:r>
              <a:rPr lang="it-IT" sz="1400" dirty="0" err="1"/>
              <a:t>ImportDatas</a:t>
            </a:r>
            <a:r>
              <a:rPr lang="it-IT" sz="1400" dirty="0"/>
              <a:t> and Datasets, the </a:t>
            </a:r>
            <a:r>
              <a:rPr lang="it-IT" sz="1400" dirty="0" err="1"/>
              <a:t>external</a:t>
            </a:r>
            <a:r>
              <a:rPr lang="it-IT" sz="1400" dirty="0"/>
              <a:t> storage must be </a:t>
            </a:r>
            <a:r>
              <a:rPr lang="it-IT" sz="1400" dirty="0" err="1"/>
              <a:t>always</a:t>
            </a:r>
            <a:r>
              <a:rPr lang="it-IT" sz="1400" dirty="0"/>
              <a:t> </a:t>
            </a:r>
            <a:r>
              <a:rPr lang="it-IT" sz="1400" dirty="0" err="1"/>
              <a:t>used</a:t>
            </a:r>
            <a:r>
              <a:rPr lang="it-IT" sz="1400" dirty="0"/>
              <a:t>.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it-IT" sz="1400" dirty="0">
              <a:highlight>
                <a:srgbClr val="FFFF00"/>
              </a:highlight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it-IT" sz="1400" dirty="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22825324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232DB6-9EC8-664C-2939-8064EC46BF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sellaDiTesto 3">
            <a:extLst>
              <a:ext uri="{FF2B5EF4-FFF2-40B4-BE49-F238E27FC236}">
                <a16:creationId xmlns:a16="http://schemas.microsoft.com/office/drawing/2014/main" id="{A1F9BA34-1105-A930-1362-9193040EFDAD}"/>
              </a:ext>
            </a:extLst>
          </p:cNvPr>
          <p:cNvSpPr txBox="1"/>
          <p:nvPr/>
        </p:nvSpPr>
        <p:spPr>
          <a:xfrm>
            <a:off x="294968" y="99773"/>
            <a:ext cx="250902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2800" dirty="0" err="1"/>
              <a:t>Overview</a:t>
            </a:r>
            <a:r>
              <a:rPr lang="it-IT" sz="2800" dirty="0"/>
              <a:t> (2/2):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791C4C5E-48C8-F310-36D9-F0831446F6A8}"/>
              </a:ext>
            </a:extLst>
          </p:cNvPr>
          <p:cNvSpPr txBox="1"/>
          <p:nvPr/>
        </p:nvSpPr>
        <p:spPr>
          <a:xfrm>
            <a:off x="0" y="608430"/>
            <a:ext cx="12192000" cy="39392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it-IT" sz="1400" dirty="0" err="1"/>
              <a:t>Both</a:t>
            </a:r>
            <a:r>
              <a:rPr lang="it-IT" sz="1400" dirty="0"/>
              <a:t> web app and </a:t>
            </a:r>
            <a:r>
              <a:rPr lang="it-IT" sz="1400" dirty="0" err="1"/>
              <a:t>deskto</a:t>
            </a:r>
            <a:r>
              <a:rPr lang="it-IT" sz="1400" dirty="0"/>
              <a:t> app </a:t>
            </a:r>
            <a:r>
              <a:rPr lang="it-IT" sz="1400" dirty="0" err="1"/>
              <a:t>will</a:t>
            </a:r>
            <a:r>
              <a:rPr lang="it-IT" sz="1400" dirty="0"/>
              <a:t> support special features: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it-IT" sz="1400" dirty="0"/>
              <a:t>Component Library: TBD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it-IT" sz="1400" dirty="0"/>
              <a:t>Sharing: TBD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it-IT" sz="1400" dirty="0" err="1"/>
              <a:t>Suggestions</a:t>
            </a:r>
            <a:r>
              <a:rPr lang="it-IT" sz="1400" dirty="0"/>
              <a:t>: TBD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it-IT" sz="1400" dirty="0"/>
              <a:t>Design Template: TBD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it-IT" sz="1400" dirty="0"/>
              <a:t>Design </a:t>
            </a:r>
            <a:r>
              <a:rPr lang="it-IT" sz="1400" dirty="0" err="1"/>
              <a:t>Blocks</a:t>
            </a:r>
            <a:r>
              <a:rPr lang="it-IT" sz="1400" dirty="0"/>
              <a:t>: TBD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it-IT" sz="1400" dirty="0">
              <a:highlight>
                <a:srgbClr val="FFFF00"/>
              </a:highlight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it-IT" sz="1400" dirty="0">
              <a:highlight>
                <a:srgbClr val="FFFF00"/>
              </a:highlight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it-IT" sz="1400" dirty="0">
              <a:highlight>
                <a:srgbClr val="FFFF00"/>
              </a:highlight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it-IT" sz="1400" dirty="0">
              <a:highlight>
                <a:srgbClr val="FFFF00"/>
              </a:highlight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it-IT" sz="1400" dirty="0">
              <a:highlight>
                <a:srgbClr val="FFFF00"/>
              </a:highlight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it-IT" sz="1400" dirty="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10608320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B69211-065F-8382-C371-5204F8AE1B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sellaDiTesto 3">
            <a:extLst>
              <a:ext uri="{FF2B5EF4-FFF2-40B4-BE49-F238E27FC236}">
                <a16:creationId xmlns:a16="http://schemas.microsoft.com/office/drawing/2014/main" id="{323A26CB-DD12-948B-881E-A41285A1148E}"/>
              </a:ext>
            </a:extLst>
          </p:cNvPr>
          <p:cNvSpPr txBox="1"/>
          <p:nvPr/>
        </p:nvSpPr>
        <p:spPr>
          <a:xfrm>
            <a:off x="294968" y="255638"/>
            <a:ext cx="285886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2800" dirty="0"/>
              <a:t>Integra </a:t>
            </a:r>
            <a:r>
              <a:rPr lang="it-IT" sz="2800" dirty="0" err="1"/>
              <a:t>Overview</a:t>
            </a:r>
            <a:r>
              <a:rPr lang="it-IT" sz="2800" dirty="0"/>
              <a:t>: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5526FE66-3A58-1F97-C781-6C0A726D9A4E}"/>
              </a:ext>
            </a:extLst>
          </p:cNvPr>
          <p:cNvSpPr txBox="1"/>
          <p:nvPr/>
        </p:nvSpPr>
        <p:spPr>
          <a:xfrm>
            <a:off x="580630" y="1166841"/>
            <a:ext cx="2512233" cy="187743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it-IT" sz="2000" b="1" dirty="0"/>
              <a:t>Front-end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600" dirty="0" err="1"/>
              <a:t>Angular</a:t>
            </a:r>
            <a:endParaRPr lang="it-IT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600" dirty="0" err="1"/>
              <a:t>PrimeNg</a:t>
            </a:r>
            <a:endParaRPr lang="it-IT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600" dirty="0" err="1"/>
              <a:t>PrimeBlocks</a:t>
            </a:r>
            <a:endParaRPr lang="it-IT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600" dirty="0"/>
              <a:t>Apache </a:t>
            </a:r>
            <a:r>
              <a:rPr lang="it-IT" sz="1600" dirty="0" err="1"/>
              <a:t>Echarts</a:t>
            </a:r>
            <a:endParaRPr lang="it-IT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600" dirty="0" err="1"/>
              <a:t>JointJS</a:t>
            </a:r>
            <a:endParaRPr lang="it-IT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600" dirty="0" err="1"/>
              <a:t>Quadtree</a:t>
            </a:r>
            <a:endParaRPr lang="it-IT" sz="1600" dirty="0"/>
          </a:p>
        </p:txBody>
      </p:sp>
      <p:sp>
        <p:nvSpPr>
          <p:cNvPr id="17" name="CasellaDiTesto 16">
            <a:extLst>
              <a:ext uri="{FF2B5EF4-FFF2-40B4-BE49-F238E27FC236}">
                <a16:creationId xmlns:a16="http://schemas.microsoft.com/office/drawing/2014/main" id="{A5A34683-6354-7FC0-8740-510AD0460D51}"/>
              </a:ext>
            </a:extLst>
          </p:cNvPr>
          <p:cNvSpPr txBox="1"/>
          <p:nvPr/>
        </p:nvSpPr>
        <p:spPr>
          <a:xfrm>
            <a:off x="4414158" y="551289"/>
            <a:ext cx="7197212" cy="3108543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it-IT" sz="2000" b="1" dirty="0"/>
              <a:t>WASM Solver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600" dirty="0"/>
              <a:t>WASM </a:t>
            </a:r>
            <a:r>
              <a:rPr lang="it-IT" sz="1600" dirty="0" err="1"/>
              <a:t>based</a:t>
            </a:r>
            <a:endParaRPr lang="it-IT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600" dirty="0"/>
              <a:t>Rust Language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600" dirty="0"/>
              <a:t>Dual-</a:t>
            </a:r>
            <a:r>
              <a:rPr lang="it-IT" sz="1600" dirty="0" err="1"/>
              <a:t>interface</a:t>
            </a:r>
            <a:r>
              <a:rPr lang="it-IT" sz="1600" dirty="0"/>
              <a:t> (</a:t>
            </a:r>
            <a:r>
              <a:rPr lang="it-IT" sz="1600" dirty="0" err="1"/>
              <a:t>wasm</a:t>
            </a:r>
            <a:r>
              <a:rPr lang="it-IT" sz="1600" dirty="0"/>
              <a:t> e nativo)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600" dirty="0" err="1"/>
              <a:t>Request</a:t>
            </a:r>
            <a:r>
              <a:rPr lang="it-IT" sz="1600" dirty="0"/>
              <a:t>/</a:t>
            </a:r>
            <a:r>
              <a:rPr lang="it-IT" sz="1600" dirty="0" err="1"/>
              <a:t>Response</a:t>
            </a:r>
            <a:r>
              <a:rPr lang="it-IT" sz="1600" dirty="0"/>
              <a:t> pattern to </a:t>
            </a:r>
            <a:r>
              <a:rPr lang="it-IT" sz="1600" dirty="0" err="1"/>
              <a:t>interface</a:t>
            </a:r>
            <a:r>
              <a:rPr lang="it-IT" sz="1600" dirty="0"/>
              <a:t> with front-end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600" dirty="0" err="1"/>
              <a:t>Pre-defined</a:t>
            </a:r>
            <a:r>
              <a:rPr lang="it-IT" sz="1600" dirty="0"/>
              <a:t> JSON </a:t>
            </a:r>
            <a:r>
              <a:rPr lang="it-IT" sz="1600" dirty="0" err="1"/>
              <a:t>messages</a:t>
            </a:r>
            <a:endParaRPr lang="it-IT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600" dirty="0" err="1"/>
              <a:t>Implemented</a:t>
            </a:r>
            <a:r>
              <a:rPr lang="it-IT" sz="1600" dirty="0"/>
              <a:t> Simulators (Budget, </a:t>
            </a:r>
            <a:r>
              <a:rPr lang="it-IT" sz="1600" dirty="0" err="1"/>
              <a:t>Sparameter</a:t>
            </a:r>
            <a:r>
              <a:rPr lang="it-IT" sz="1600" dirty="0"/>
              <a:t>, AC, DC, </a:t>
            </a:r>
            <a:r>
              <a:rPr lang="it-IT" sz="1600" dirty="0" err="1"/>
              <a:t>Transient</a:t>
            </a:r>
            <a:r>
              <a:rPr lang="it-IT" sz="1600" dirty="0"/>
              <a:t>, HB, FTDT)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600" dirty="0" err="1"/>
              <a:t>Netlist</a:t>
            </a:r>
            <a:r>
              <a:rPr lang="it-IT" sz="1600" dirty="0"/>
              <a:t> parser from </a:t>
            </a:r>
            <a:r>
              <a:rPr lang="it-IT" sz="1600" dirty="0" err="1"/>
              <a:t>JointJS</a:t>
            </a:r>
            <a:r>
              <a:rPr lang="it-IT" sz="1600" dirty="0"/>
              <a:t> </a:t>
            </a:r>
            <a:r>
              <a:rPr lang="it-IT" sz="1600" dirty="0" err="1"/>
              <a:t>Graph</a:t>
            </a:r>
            <a:r>
              <a:rPr lang="it-IT" sz="1600" dirty="0"/>
              <a:t> JSON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600" dirty="0" err="1"/>
              <a:t>Factory</a:t>
            </a:r>
            <a:r>
              <a:rPr lang="it-IT" sz="1600" dirty="0"/>
              <a:t> pattern to </a:t>
            </a:r>
            <a:r>
              <a:rPr lang="it-IT" sz="1600" dirty="0" err="1"/>
              <a:t>manage</a:t>
            </a:r>
            <a:r>
              <a:rPr lang="it-IT" sz="1600" dirty="0"/>
              <a:t> model of the </a:t>
            </a:r>
            <a:r>
              <a:rPr lang="it-IT" sz="1600" dirty="0" err="1"/>
              <a:t>components</a:t>
            </a:r>
            <a:endParaRPr lang="it-IT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600" dirty="0" err="1"/>
              <a:t>Simulation</a:t>
            </a:r>
            <a:r>
              <a:rPr lang="it-IT" sz="1600" dirty="0"/>
              <a:t> </a:t>
            </a:r>
            <a:r>
              <a:rPr lang="it-IT" sz="1600" dirty="0" err="1"/>
              <a:t>Orchestration</a:t>
            </a:r>
            <a:r>
              <a:rPr lang="it-IT" sz="1600" dirty="0"/>
              <a:t> + controller + light </a:t>
            </a:r>
            <a:r>
              <a:rPr lang="it-IT" sz="1600" dirty="0" err="1"/>
              <a:t>calculations</a:t>
            </a:r>
            <a:endParaRPr lang="it-IT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600" dirty="0"/>
              <a:t>Dataset to put </a:t>
            </a:r>
            <a:r>
              <a:rPr lang="it-IT" sz="1600" dirty="0" err="1"/>
              <a:t>all</a:t>
            </a:r>
            <a:r>
              <a:rPr lang="it-IT" sz="1600" dirty="0"/>
              <a:t> </a:t>
            </a:r>
            <a:r>
              <a:rPr lang="it-IT" sz="1600" dirty="0" err="1"/>
              <a:t>required</a:t>
            </a:r>
            <a:r>
              <a:rPr lang="it-IT" sz="1600" dirty="0"/>
              <a:t> data </a:t>
            </a:r>
            <a:r>
              <a:rPr lang="it-IT" sz="1600" dirty="0" err="1"/>
              <a:t>results</a:t>
            </a:r>
            <a:r>
              <a:rPr lang="it-IT" sz="1600" dirty="0"/>
              <a:t> from the user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600" dirty="0" err="1"/>
              <a:t>webGPUs</a:t>
            </a:r>
            <a:r>
              <a:rPr lang="it-IT" sz="1600" dirty="0"/>
              <a:t> + shaders for heavy </a:t>
            </a:r>
            <a:r>
              <a:rPr lang="it-IT" sz="1600" dirty="0" err="1"/>
              <a:t>computational</a:t>
            </a:r>
            <a:r>
              <a:rPr lang="it-IT" sz="1600" dirty="0"/>
              <a:t> </a:t>
            </a:r>
            <a:r>
              <a:rPr lang="it-IT" sz="1600" dirty="0" err="1"/>
              <a:t>algorithm</a:t>
            </a:r>
            <a:r>
              <a:rPr lang="it-IT" sz="1600" dirty="0"/>
              <a:t> of the </a:t>
            </a:r>
            <a:r>
              <a:rPr lang="it-IT" sz="1600" dirty="0" err="1"/>
              <a:t>solvers</a:t>
            </a:r>
            <a:endParaRPr lang="it-IT" sz="1600" dirty="0"/>
          </a:p>
        </p:txBody>
      </p:sp>
      <p:cxnSp>
        <p:nvCxnSpPr>
          <p:cNvPr id="36" name="Connettore 2 35">
            <a:extLst>
              <a:ext uri="{FF2B5EF4-FFF2-40B4-BE49-F238E27FC236}">
                <a16:creationId xmlns:a16="http://schemas.microsoft.com/office/drawing/2014/main" id="{3E3BD0C9-498D-0D88-BAE0-102C2FFAC292}"/>
              </a:ext>
            </a:extLst>
          </p:cNvPr>
          <p:cNvCxnSpPr>
            <a:cxnSpLocks/>
            <a:stCxn id="14" idx="3"/>
            <a:endCxn id="17" idx="1"/>
          </p:cNvCxnSpPr>
          <p:nvPr/>
        </p:nvCxnSpPr>
        <p:spPr>
          <a:xfrm>
            <a:off x="3092863" y="2105560"/>
            <a:ext cx="1321295" cy="1"/>
          </a:xfrm>
          <a:prstGeom prst="straightConnector1">
            <a:avLst/>
          </a:prstGeom>
          <a:ln w="19050">
            <a:solidFill>
              <a:schemeClr val="tx1"/>
            </a:solidFill>
            <a:headEnd type="stealth" w="lg" len="lg"/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CasellaDiTesto 57">
            <a:extLst>
              <a:ext uri="{FF2B5EF4-FFF2-40B4-BE49-F238E27FC236}">
                <a16:creationId xmlns:a16="http://schemas.microsoft.com/office/drawing/2014/main" id="{F8674DAF-481F-FF3C-BA28-9A86ADA15A67}"/>
              </a:ext>
            </a:extLst>
          </p:cNvPr>
          <p:cNvSpPr txBox="1"/>
          <p:nvPr/>
        </p:nvSpPr>
        <p:spPr>
          <a:xfrm>
            <a:off x="3238370" y="1747246"/>
            <a:ext cx="106921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1800" b="1" dirty="0"/>
              <a:t>JSON</a:t>
            </a:r>
          </a:p>
        </p:txBody>
      </p:sp>
      <p:sp>
        <p:nvSpPr>
          <p:cNvPr id="61" name="CasellaDiTesto 60">
            <a:extLst>
              <a:ext uri="{FF2B5EF4-FFF2-40B4-BE49-F238E27FC236}">
                <a16:creationId xmlns:a16="http://schemas.microsoft.com/office/drawing/2014/main" id="{A4EE1236-6D4C-99A8-F5CE-3682338926E7}"/>
              </a:ext>
            </a:extLst>
          </p:cNvPr>
          <p:cNvSpPr txBox="1"/>
          <p:nvPr/>
        </p:nvSpPr>
        <p:spPr>
          <a:xfrm>
            <a:off x="4414158" y="4388103"/>
            <a:ext cx="7197212" cy="236988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it-IT" sz="2000" b="1" dirty="0"/>
              <a:t>GPU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600" dirty="0"/>
              <a:t>Dual-</a:t>
            </a:r>
            <a:r>
              <a:rPr lang="it-IT" sz="1600" dirty="0" err="1"/>
              <a:t>application</a:t>
            </a:r>
            <a:r>
              <a:rPr lang="it-IT" sz="1600" dirty="0"/>
              <a:t>: web app and desktop app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600" dirty="0" err="1"/>
              <a:t>WebGPU</a:t>
            </a:r>
            <a:r>
              <a:rPr lang="it-IT" sz="1600" dirty="0"/>
              <a:t> </a:t>
            </a:r>
            <a:r>
              <a:rPr lang="it-IT" sz="1600" dirty="0" err="1"/>
              <a:t>based</a:t>
            </a:r>
            <a:endParaRPr lang="it-IT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600" dirty="0"/>
              <a:t>WGSL Language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600" dirty="0"/>
              <a:t>RF Budget Analyzer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600" dirty="0"/>
              <a:t>Sub-network </a:t>
            </a:r>
            <a:r>
              <a:rPr lang="it-IT" sz="1600" dirty="0" err="1"/>
              <a:t>growth</a:t>
            </a:r>
            <a:r>
              <a:rPr lang="it-IT" sz="1600" dirty="0"/>
              <a:t> </a:t>
            </a:r>
            <a:r>
              <a:rPr lang="it-IT" sz="1600" dirty="0" err="1"/>
              <a:t>algorithm</a:t>
            </a:r>
            <a:r>
              <a:rPr lang="it-IT" sz="1600" dirty="0"/>
              <a:t> for S-</a:t>
            </a:r>
            <a:r>
              <a:rPr lang="it-IT" sz="1600" dirty="0" err="1"/>
              <a:t>parameter</a:t>
            </a:r>
            <a:endParaRPr lang="it-IT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600" dirty="0"/>
              <a:t>Linear Matrix </a:t>
            </a:r>
            <a:r>
              <a:rPr lang="it-IT" sz="1600" dirty="0" err="1"/>
              <a:t>calculation</a:t>
            </a:r>
            <a:r>
              <a:rPr lang="it-IT" sz="1600" dirty="0"/>
              <a:t> (to be </a:t>
            </a:r>
            <a:r>
              <a:rPr lang="it-IT" sz="1600" dirty="0" err="1"/>
              <a:t>defined</a:t>
            </a:r>
            <a:r>
              <a:rPr lang="it-IT" sz="1600" dirty="0"/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600" dirty="0"/>
              <a:t>FFT </a:t>
            </a:r>
            <a:r>
              <a:rPr lang="it-IT" sz="1600" dirty="0" err="1"/>
              <a:t>calculation</a:t>
            </a:r>
            <a:r>
              <a:rPr lang="it-IT" sz="1600" dirty="0"/>
              <a:t> (to be </a:t>
            </a:r>
            <a:r>
              <a:rPr lang="it-IT" sz="1600" dirty="0" err="1"/>
              <a:t>defined</a:t>
            </a:r>
            <a:r>
              <a:rPr lang="it-IT" sz="1600" dirty="0"/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sz="1600" dirty="0"/>
          </a:p>
        </p:txBody>
      </p:sp>
      <p:cxnSp>
        <p:nvCxnSpPr>
          <p:cNvPr id="63" name="Connettore 2 62">
            <a:extLst>
              <a:ext uri="{FF2B5EF4-FFF2-40B4-BE49-F238E27FC236}">
                <a16:creationId xmlns:a16="http://schemas.microsoft.com/office/drawing/2014/main" id="{06199284-4CC9-5C2A-9751-EE6059F3D95B}"/>
              </a:ext>
            </a:extLst>
          </p:cNvPr>
          <p:cNvCxnSpPr>
            <a:cxnSpLocks/>
            <a:stCxn id="17" idx="2"/>
            <a:endCxn id="61" idx="0"/>
          </p:cNvCxnSpPr>
          <p:nvPr/>
        </p:nvCxnSpPr>
        <p:spPr>
          <a:xfrm>
            <a:off x="8012764" y="3659832"/>
            <a:ext cx="0" cy="728271"/>
          </a:xfrm>
          <a:prstGeom prst="straightConnector1">
            <a:avLst/>
          </a:prstGeom>
          <a:ln w="19050">
            <a:solidFill>
              <a:schemeClr val="tx1"/>
            </a:solidFill>
            <a:headEnd type="stealth" w="lg" len="lg"/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CasellaDiTesto 66">
            <a:extLst>
              <a:ext uri="{FF2B5EF4-FFF2-40B4-BE49-F238E27FC236}">
                <a16:creationId xmlns:a16="http://schemas.microsoft.com/office/drawing/2014/main" id="{C8E167D1-366D-F298-3B53-E69BB49A10F1}"/>
              </a:ext>
            </a:extLst>
          </p:cNvPr>
          <p:cNvSpPr txBox="1"/>
          <p:nvPr/>
        </p:nvSpPr>
        <p:spPr>
          <a:xfrm>
            <a:off x="8001747" y="3688337"/>
            <a:ext cx="153435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600" b="1" dirty="0"/>
              <a:t>Buffer IN</a:t>
            </a:r>
          </a:p>
          <a:p>
            <a:r>
              <a:rPr lang="it-IT" sz="1600" b="1" dirty="0"/>
              <a:t>Buffer OUT</a:t>
            </a:r>
          </a:p>
        </p:txBody>
      </p:sp>
      <p:sp>
        <p:nvSpPr>
          <p:cNvPr id="79" name="CasellaDiTesto 78">
            <a:extLst>
              <a:ext uri="{FF2B5EF4-FFF2-40B4-BE49-F238E27FC236}">
                <a16:creationId xmlns:a16="http://schemas.microsoft.com/office/drawing/2014/main" id="{01411A67-B24B-10E4-B686-60AC642065FB}"/>
              </a:ext>
            </a:extLst>
          </p:cNvPr>
          <p:cNvSpPr txBox="1"/>
          <p:nvPr/>
        </p:nvSpPr>
        <p:spPr>
          <a:xfrm>
            <a:off x="351970" y="3659832"/>
            <a:ext cx="1446475" cy="95410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it-IT" sz="2000" b="1" dirty="0"/>
              <a:t>Local Storage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600" dirty="0" err="1"/>
              <a:t>IndexedDB</a:t>
            </a:r>
            <a:endParaRPr lang="it-IT" sz="1600" dirty="0"/>
          </a:p>
        </p:txBody>
      </p:sp>
      <p:sp>
        <p:nvSpPr>
          <p:cNvPr id="80" name="CasellaDiTesto 79">
            <a:extLst>
              <a:ext uri="{FF2B5EF4-FFF2-40B4-BE49-F238E27FC236}">
                <a16:creationId xmlns:a16="http://schemas.microsoft.com/office/drawing/2014/main" id="{5848685B-499D-BC05-88FC-68FF83424C01}"/>
              </a:ext>
            </a:extLst>
          </p:cNvPr>
          <p:cNvSpPr txBox="1"/>
          <p:nvPr/>
        </p:nvSpPr>
        <p:spPr>
          <a:xfrm>
            <a:off x="2151272" y="3657518"/>
            <a:ext cx="1446475" cy="89255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it-IT" sz="2000" b="1" dirty="0"/>
              <a:t>Back-end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600" dirty="0" err="1"/>
              <a:t>Springboot</a:t>
            </a:r>
            <a:endParaRPr lang="it-IT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600" dirty="0" err="1"/>
              <a:t>Postgres</a:t>
            </a:r>
            <a:endParaRPr lang="it-IT" sz="1600" dirty="0"/>
          </a:p>
        </p:txBody>
      </p:sp>
      <p:cxnSp>
        <p:nvCxnSpPr>
          <p:cNvPr id="82" name="Connettore a gomito 81">
            <a:extLst>
              <a:ext uri="{FF2B5EF4-FFF2-40B4-BE49-F238E27FC236}">
                <a16:creationId xmlns:a16="http://schemas.microsoft.com/office/drawing/2014/main" id="{F04281E0-6AF7-3FC1-783A-908FCB2640CD}"/>
              </a:ext>
            </a:extLst>
          </p:cNvPr>
          <p:cNvCxnSpPr>
            <a:stCxn id="14" idx="2"/>
            <a:endCxn id="79" idx="0"/>
          </p:cNvCxnSpPr>
          <p:nvPr/>
        </p:nvCxnSpPr>
        <p:spPr>
          <a:xfrm rot="5400000">
            <a:off x="1148201" y="2971286"/>
            <a:ext cx="615554" cy="761539"/>
          </a:xfrm>
          <a:prstGeom prst="bentConnector3">
            <a:avLst/>
          </a:prstGeom>
          <a:ln>
            <a:headEnd type="stealth" w="lg" len="lg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3" name="Connettore a gomito 82">
            <a:extLst>
              <a:ext uri="{FF2B5EF4-FFF2-40B4-BE49-F238E27FC236}">
                <a16:creationId xmlns:a16="http://schemas.microsoft.com/office/drawing/2014/main" id="{C9E7EE93-3DCE-DB12-FBDA-8247EAE5A8BD}"/>
              </a:ext>
            </a:extLst>
          </p:cNvPr>
          <p:cNvCxnSpPr>
            <a:cxnSpLocks/>
            <a:stCxn id="14" idx="2"/>
            <a:endCxn id="80" idx="0"/>
          </p:cNvCxnSpPr>
          <p:nvPr/>
        </p:nvCxnSpPr>
        <p:spPr>
          <a:xfrm rot="16200000" flipH="1">
            <a:off x="2049008" y="2832016"/>
            <a:ext cx="613240" cy="1037763"/>
          </a:xfrm>
          <a:prstGeom prst="bentConnector3">
            <a:avLst/>
          </a:prstGeom>
          <a:ln>
            <a:headEnd type="stealth" w="lg" len="lg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41900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1A1CA2-63CB-418A-B9A0-9A6B722609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tangolo 1">
            <a:extLst>
              <a:ext uri="{FF2B5EF4-FFF2-40B4-BE49-F238E27FC236}">
                <a16:creationId xmlns:a16="http://schemas.microsoft.com/office/drawing/2014/main" id="{EABFF810-3B58-37C3-EFC2-9EB4EDB323D4}"/>
              </a:ext>
            </a:extLst>
          </p:cNvPr>
          <p:cNvSpPr/>
          <p:nvPr/>
        </p:nvSpPr>
        <p:spPr>
          <a:xfrm>
            <a:off x="3058630" y="749147"/>
            <a:ext cx="8244675" cy="577283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" name="Rettangolo 2">
            <a:extLst>
              <a:ext uri="{FF2B5EF4-FFF2-40B4-BE49-F238E27FC236}">
                <a16:creationId xmlns:a16="http://schemas.microsoft.com/office/drawing/2014/main" id="{B22A55A8-044B-7A99-1859-F1D1140C863B}"/>
              </a:ext>
            </a:extLst>
          </p:cNvPr>
          <p:cNvSpPr/>
          <p:nvPr/>
        </p:nvSpPr>
        <p:spPr>
          <a:xfrm>
            <a:off x="980501" y="749146"/>
            <a:ext cx="2082188" cy="577283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2AA52BC6-29AD-F653-174C-F76447AD4ED8}"/>
              </a:ext>
            </a:extLst>
          </p:cNvPr>
          <p:cNvSpPr txBox="1"/>
          <p:nvPr/>
        </p:nvSpPr>
        <p:spPr>
          <a:xfrm>
            <a:off x="1784116" y="914651"/>
            <a:ext cx="485902" cy="276999"/>
          </a:xfrm>
          <a:custGeom>
            <a:avLst/>
            <a:gdLst>
              <a:gd name="connsiteX0" fmla="*/ 0 w 485902"/>
              <a:gd name="connsiteY0" fmla="*/ 0 h 276999"/>
              <a:gd name="connsiteX1" fmla="*/ 485902 w 485902"/>
              <a:gd name="connsiteY1" fmla="*/ 0 h 276999"/>
              <a:gd name="connsiteX2" fmla="*/ 485902 w 485902"/>
              <a:gd name="connsiteY2" fmla="*/ 276999 h 276999"/>
              <a:gd name="connsiteX3" fmla="*/ 0 w 485902"/>
              <a:gd name="connsiteY3" fmla="*/ 276999 h 276999"/>
              <a:gd name="connsiteX4" fmla="*/ 0 w 485902"/>
              <a:gd name="connsiteY4" fmla="*/ 0 h 276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85902" h="276999" fill="none" extrusionOk="0">
                <a:moveTo>
                  <a:pt x="0" y="0"/>
                </a:moveTo>
                <a:cubicBezTo>
                  <a:pt x="169053" y="-40641"/>
                  <a:pt x="345844" y="21112"/>
                  <a:pt x="485902" y="0"/>
                </a:cubicBezTo>
                <a:cubicBezTo>
                  <a:pt x="496862" y="109854"/>
                  <a:pt x="455254" y="219022"/>
                  <a:pt x="485902" y="276999"/>
                </a:cubicBezTo>
                <a:cubicBezTo>
                  <a:pt x="370978" y="308300"/>
                  <a:pt x="173874" y="256177"/>
                  <a:pt x="0" y="276999"/>
                </a:cubicBezTo>
                <a:cubicBezTo>
                  <a:pt x="-12769" y="168538"/>
                  <a:pt x="13287" y="65664"/>
                  <a:pt x="0" y="0"/>
                </a:cubicBezTo>
                <a:close/>
              </a:path>
              <a:path w="485902" h="276999" stroke="0" extrusionOk="0">
                <a:moveTo>
                  <a:pt x="0" y="0"/>
                </a:moveTo>
                <a:cubicBezTo>
                  <a:pt x="139953" y="-19832"/>
                  <a:pt x="335346" y="37233"/>
                  <a:pt x="485902" y="0"/>
                </a:cubicBezTo>
                <a:cubicBezTo>
                  <a:pt x="496743" y="100549"/>
                  <a:pt x="469921" y="219324"/>
                  <a:pt x="485902" y="276999"/>
                </a:cubicBezTo>
                <a:cubicBezTo>
                  <a:pt x="277744" y="325492"/>
                  <a:pt x="114991" y="248646"/>
                  <a:pt x="0" y="276999"/>
                </a:cubicBezTo>
                <a:cubicBezTo>
                  <a:pt x="-29237" y="187790"/>
                  <a:pt x="11007" y="74165"/>
                  <a:pt x="0" y="0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361963016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it-IT" sz="1200" dirty="0"/>
              <a:t>New</a:t>
            </a: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F6772767-2D8D-CBAC-AAB0-C0F7A6D5EE3D}"/>
              </a:ext>
            </a:extLst>
          </p:cNvPr>
          <p:cNvSpPr txBox="1"/>
          <p:nvPr/>
        </p:nvSpPr>
        <p:spPr>
          <a:xfrm>
            <a:off x="1538055" y="1323260"/>
            <a:ext cx="963021" cy="276999"/>
          </a:xfrm>
          <a:custGeom>
            <a:avLst/>
            <a:gdLst>
              <a:gd name="connsiteX0" fmla="*/ 0 w 963021"/>
              <a:gd name="connsiteY0" fmla="*/ 0 h 276999"/>
              <a:gd name="connsiteX1" fmla="*/ 481511 w 963021"/>
              <a:gd name="connsiteY1" fmla="*/ 0 h 276999"/>
              <a:gd name="connsiteX2" fmla="*/ 963021 w 963021"/>
              <a:gd name="connsiteY2" fmla="*/ 0 h 276999"/>
              <a:gd name="connsiteX3" fmla="*/ 963021 w 963021"/>
              <a:gd name="connsiteY3" fmla="*/ 276999 h 276999"/>
              <a:gd name="connsiteX4" fmla="*/ 500771 w 963021"/>
              <a:gd name="connsiteY4" fmla="*/ 276999 h 276999"/>
              <a:gd name="connsiteX5" fmla="*/ 0 w 963021"/>
              <a:gd name="connsiteY5" fmla="*/ 276999 h 276999"/>
              <a:gd name="connsiteX6" fmla="*/ 0 w 963021"/>
              <a:gd name="connsiteY6" fmla="*/ 0 h 276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963021" h="276999" fill="none" extrusionOk="0">
                <a:moveTo>
                  <a:pt x="0" y="0"/>
                </a:moveTo>
                <a:cubicBezTo>
                  <a:pt x="171126" y="-19488"/>
                  <a:pt x="342684" y="53932"/>
                  <a:pt x="481511" y="0"/>
                </a:cubicBezTo>
                <a:cubicBezTo>
                  <a:pt x="620338" y="-53932"/>
                  <a:pt x="735420" y="11935"/>
                  <a:pt x="963021" y="0"/>
                </a:cubicBezTo>
                <a:cubicBezTo>
                  <a:pt x="965707" y="91091"/>
                  <a:pt x="952029" y="209961"/>
                  <a:pt x="963021" y="276999"/>
                </a:cubicBezTo>
                <a:cubicBezTo>
                  <a:pt x="787801" y="300212"/>
                  <a:pt x="624793" y="225126"/>
                  <a:pt x="500771" y="276999"/>
                </a:cubicBezTo>
                <a:cubicBezTo>
                  <a:pt x="376749" y="328872"/>
                  <a:pt x="169272" y="271118"/>
                  <a:pt x="0" y="276999"/>
                </a:cubicBezTo>
                <a:cubicBezTo>
                  <a:pt x="-11271" y="148024"/>
                  <a:pt x="17893" y="83949"/>
                  <a:pt x="0" y="0"/>
                </a:cubicBezTo>
                <a:close/>
              </a:path>
              <a:path w="963021" h="276999" stroke="0" extrusionOk="0">
                <a:moveTo>
                  <a:pt x="0" y="0"/>
                </a:moveTo>
                <a:cubicBezTo>
                  <a:pt x="124605" y="-24295"/>
                  <a:pt x="337697" y="36566"/>
                  <a:pt x="462250" y="0"/>
                </a:cubicBezTo>
                <a:cubicBezTo>
                  <a:pt x="586803" y="-36566"/>
                  <a:pt x="752343" y="35425"/>
                  <a:pt x="963021" y="0"/>
                </a:cubicBezTo>
                <a:cubicBezTo>
                  <a:pt x="971764" y="110938"/>
                  <a:pt x="958487" y="181448"/>
                  <a:pt x="963021" y="276999"/>
                </a:cubicBezTo>
                <a:cubicBezTo>
                  <a:pt x="826382" y="278324"/>
                  <a:pt x="723442" y="275335"/>
                  <a:pt x="500771" y="276999"/>
                </a:cubicBezTo>
                <a:cubicBezTo>
                  <a:pt x="278100" y="278663"/>
                  <a:pt x="141567" y="240073"/>
                  <a:pt x="0" y="276999"/>
                </a:cubicBezTo>
                <a:cubicBezTo>
                  <a:pt x="-13468" y="155694"/>
                  <a:pt x="11768" y="125680"/>
                  <a:pt x="0" y="0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361963016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it-IT" sz="1200" dirty="0" err="1"/>
              <a:t>Find</a:t>
            </a:r>
            <a:r>
              <a:rPr lang="it-IT" sz="1200" dirty="0"/>
              <a:t> Design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2C77DD49-0BBF-1D81-4009-2751DB351E0B}"/>
              </a:ext>
            </a:extLst>
          </p:cNvPr>
          <p:cNvSpPr txBox="1"/>
          <p:nvPr/>
        </p:nvSpPr>
        <p:spPr>
          <a:xfrm>
            <a:off x="1709031" y="1722900"/>
            <a:ext cx="636072" cy="276999"/>
          </a:xfrm>
          <a:custGeom>
            <a:avLst/>
            <a:gdLst>
              <a:gd name="connsiteX0" fmla="*/ 0 w 636072"/>
              <a:gd name="connsiteY0" fmla="*/ 0 h 276999"/>
              <a:gd name="connsiteX1" fmla="*/ 318036 w 636072"/>
              <a:gd name="connsiteY1" fmla="*/ 0 h 276999"/>
              <a:gd name="connsiteX2" fmla="*/ 636072 w 636072"/>
              <a:gd name="connsiteY2" fmla="*/ 0 h 276999"/>
              <a:gd name="connsiteX3" fmla="*/ 636072 w 636072"/>
              <a:gd name="connsiteY3" fmla="*/ 276999 h 276999"/>
              <a:gd name="connsiteX4" fmla="*/ 330757 w 636072"/>
              <a:gd name="connsiteY4" fmla="*/ 276999 h 276999"/>
              <a:gd name="connsiteX5" fmla="*/ 0 w 636072"/>
              <a:gd name="connsiteY5" fmla="*/ 276999 h 276999"/>
              <a:gd name="connsiteX6" fmla="*/ 0 w 636072"/>
              <a:gd name="connsiteY6" fmla="*/ 0 h 276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36072" h="276999" fill="none" extrusionOk="0">
                <a:moveTo>
                  <a:pt x="0" y="0"/>
                </a:moveTo>
                <a:cubicBezTo>
                  <a:pt x="72076" y="-1434"/>
                  <a:pt x="219667" y="36205"/>
                  <a:pt x="318036" y="0"/>
                </a:cubicBezTo>
                <a:cubicBezTo>
                  <a:pt x="416405" y="-36205"/>
                  <a:pt x="493284" y="12652"/>
                  <a:pt x="636072" y="0"/>
                </a:cubicBezTo>
                <a:cubicBezTo>
                  <a:pt x="638758" y="91091"/>
                  <a:pt x="625080" y="209961"/>
                  <a:pt x="636072" y="276999"/>
                </a:cubicBezTo>
                <a:cubicBezTo>
                  <a:pt x="498638" y="310619"/>
                  <a:pt x="442495" y="274419"/>
                  <a:pt x="330757" y="276999"/>
                </a:cubicBezTo>
                <a:cubicBezTo>
                  <a:pt x="219020" y="279579"/>
                  <a:pt x="72117" y="251119"/>
                  <a:pt x="0" y="276999"/>
                </a:cubicBezTo>
                <a:cubicBezTo>
                  <a:pt x="-11271" y="148024"/>
                  <a:pt x="17893" y="83949"/>
                  <a:pt x="0" y="0"/>
                </a:cubicBezTo>
                <a:close/>
              </a:path>
              <a:path w="636072" h="276999" stroke="0" extrusionOk="0">
                <a:moveTo>
                  <a:pt x="0" y="0"/>
                </a:moveTo>
                <a:cubicBezTo>
                  <a:pt x="95351" y="-22782"/>
                  <a:pt x="228558" y="18"/>
                  <a:pt x="305315" y="0"/>
                </a:cubicBezTo>
                <a:cubicBezTo>
                  <a:pt x="382072" y="-18"/>
                  <a:pt x="529935" y="34188"/>
                  <a:pt x="636072" y="0"/>
                </a:cubicBezTo>
                <a:cubicBezTo>
                  <a:pt x="644815" y="110938"/>
                  <a:pt x="631538" y="181448"/>
                  <a:pt x="636072" y="276999"/>
                </a:cubicBezTo>
                <a:cubicBezTo>
                  <a:pt x="524260" y="284192"/>
                  <a:pt x="428409" y="266682"/>
                  <a:pt x="330757" y="276999"/>
                </a:cubicBezTo>
                <a:cubicBezTo>
                  <a:pt x="233106" y="287316"/>
                  <a:pt x="91086" y="251185"/>
                  <a:pt x="0" y="276999"/>
                </a:cubicBezTo>
                <a:cubicBezTo>
                  <a:pt x="-13468" y="155694"/>
                  <a:pt x="11768" y="125680"/>
                  <a:pt x="0" y="0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361963016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it-IT" sz="1200" dirty="0"/>
              <a:t>Library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D1617B61-4E9D-5A10-8B83-5AA3DFD37E21}"/>
              </a:ext>
            </a:extLst>
          </p:cNvPr>
          <p:cNvSpPr txBox="1"/>
          <p:nvPr/>
        </p:nvSpPr>
        <p:spPr>
          <a:xfrm>
            <a:off x="1091860" y="2699043"/>
            <a:ext cx="524503" cy="276999"/>
          </a:xfrm>
          <a:custGeom>
            <a:avLst/>
            <a:gdLst>
              <a:gd name="connsiteX0" fmla="*/ 0 w 524503"/>
              <a:gd name="connsiteY0" fmla="*/ 0 h 276999"/>
              <a:gd name="connsiteX1" fmla="*/ 524503 w 524503"/>
              <a:gd name="connsiteY1" fmla="*/ 0 h 276999"/>
              <a:gd name="connsiteX2" fmla="*/ 524503 w 524503"/>
              <a:gd name="connsiteY2" fmla="*/ 276999 h 276999"/>
              <a:gd name="connsiteX3" fmla="*/ 0 w 524503"/>
              <a:gd name="connsiteY3" fmla="*/ 276999 h 276999"/>
              <a:gd name="connsiteX4" fmla="*/ 0 w 524503"/>
              <a:gd name="connsiteY4" fmla="*/ 0 h 276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24503" h="276999" fill="none" extrusionOk="0">
                <a:moveTo>
                  <a:pt x="0" y="0"/>
                </a:moveTo>
                <a:cubicBezTo>
                  <a:pt x="162863" y="-54835"/>
                  <a:pt x="295328" y="5895"/>
                  <a:pt x="524503" y="0"/>
                </a:cubicBezTo>
                <a:cubicBezTo>
                  <a:pt x="535463" y="109854"/>
                  <a:pt x="493855" y="219022"/>
                  <a:pt x="524503" y="276999"/>
                </a:cubicBezTo>
                <a:cubicBezTo>
                  <a:pt x="321689" y="312635"/>
                  <a:pt x="178935" y="226224"/>
                  <a:pt x="0" y="276999"/>
                </a:cubicBezTo>
                <a:cubicBezTo>
                  <a:pt x="-12769" y="168538"/>
                  <a:pt x="13287" y="65664"/>
                  <a:pt x="0" y="0"/>
                </a:cubicBezTo>
                <a:close/>
              </a:path>
              <a:path w="524503" h="276999" stroke="0" extrusionOk="0">
                <a:moveTo>
                  <a:pt x="0" y="0"/>
                </a:moveTo>
                <a:cubicBezTo>
                  <a:pt x="217650" y="-51622"/>
                  <a:pt x="271883" y="39441"/>
                  <a:pt x="524503" y="0"/>
                </a:cubicBezTo>
                <a:cubicBezTo>
                  <a:pt x="535344" y="100549"/>
                  <a:pt x="508522" y="219324"/>
                  <a:pt x="524503" y="276999"/>
                </a:cubicBezTo>
                <a:cubicBezTo>
                  <a:pt x="337449" y="291465"/>
                  <a:pt x="204356" y="262313"/>
                  <a:pt x="0" y="276999"/>
                </a:cubicBezTo>
                <a:cubicBezTo>
                  <a:pt x="-29237" y="187790"/>
                  <a:pt x="11007" y="74165"/>
                  <a:pt x="0" y="0"/>
                </a:cubicBezTo>
                <a:close/>
              </a:path>
            </a:pathLst>
          </a:custGeom>
          <a:ln>
            <a:noFill/>
            <a:extLst>
              <a:ext uri="{C807C97D-BFC1-408E-A445-0C87EB9F89A2}">
                <ask:lineSketchStyleProps xmlns:ask="http://schemas.microsoft.com/office/drawing/2018/sketchyshapes" sd="361963016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it-IT" sz="1200" dirty="0"/>
              <a:t>Apps</a:t>
            </a:r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3853F465-A42A-C488-6330-312D50BC0CD8}"/>
              </a:ext>
            </a:extLst>
          </p:cNvPr>
          <p:cNvSpPr txBox="1"/>
          <p:nvPr/>
        </p:nvSpPr>
        <p:spPr>
          <a:xfrm>
            <a:off x="1679824" y="2908815"/>
            <a:ext cx="679481" cy="276999"/>
          </a:xfrm>
          <a:custGeom>
            <a:avLst/>
            <a:gdLst>
              <a:gd name="connsiteX0" fmla="*/ 0 w 679481"/>
              <a:gd name="connsiteY0" fmla="*/ 0 h 276999"/>
              <a:gd name="connsiteX1" fmla="*/ 339741 w 679481"/>
              <a:gd name="connsiteY1" fmla="*/ 0 h 276999"/>
              <a:gd name="connsiteX2" fmla="*/ 679481 w 679481"/>
              <a:gd name="connsiteY2" fmla="*/ 0 h 276999"/>
              <a:gd name="connsiteX3" fmla="*/ 679481 w 679481"/>
              <a:gd name="connsiteY3" fmla="*/ 276999 h 276999"/>
              <a:gd name="connsiteX4" fmla="*/ 353330 w 679481"/>
              <a:gd name="connsiteY4" fmla="*/ 276999 h 276999"/>
              <a:gd name="connsiteX5" fmla="*/ 0 w 679481"/>
              <a:gd name="connsiteY5" fmla="*/ 276999 h 276999"/>
              <a:gd name="connsiteX6" fmla="*/ 0 w 679481"/>
              <a:gd name="connsiteY6" fmla="*/ 0 h 276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79481" h="276999" fill="none" extrusionOk="0">
                <a:moveTo>
                  <a:pt x="0" y="0"/>
                </a:moveTo>
                <a:cubicBezTo>
                  <a:pt x="120952" y="-19244"/>
                  <a:pt x="232176" y="17682"/>
                  <a:pt x="339741" y="0"/>
                </a:cubicBezTo>
                <a:cubicBezTo>
                  <a:pt x="447306" y="-17682"/>
                  <a:pt x="542018" y="3221"/>
                  <a:pt x="679481" y="0"/>
                </a:cubicBezTo>
                <a:cubicBezTo>
                  <a:pt x="682167" y="91091"/>
                  <a:pt x="668489" y="209961"/>
                  <a:pt x="679481" y="276999"/>
                </a:cubicBezTo>
                <a:cubicBezTo>
                  <a:pt x="595712" y="288858"/>
                  <a:pt x="429489" y="250185"/>
                  <a:pt x="353330" y="276999"/>
                </a:cubicBezTo>
                <a:cubicBezTo>
                  <a:pt x="277171" y="303813"/>
                  <a:pt x="131083" y="243434"/>
                  <a:pt x="0" y="276999"/>
                </a:cubicBezTo>
                <a:cubicBezTo>
                  <a:pt x="-11271" y="148024"/>
                  <a:pt x="17893" y="83949"/>
                  <a:pt x="0" y="0"/>
                </a:cubicBezTo>
                <a:close/>
              </a:path>
              <a:path w="679481" h="276999" stroke="0" extrusionOk="0">
                <a:moveTo>
                  <a:pt x="0" y="0"/>
                </a:moveTo>
                <a:cubicBezTo>
                  <a:pt x="69171" y="-21572"/>
                  <a:pt x="168708" y="36438"/>
                  <a:pt x="326151" y="0"/>
                </a:cubicBezTo>
                <a:cubicBezTo>
                  <a:pt x="483594" y="-36438"/>
                  <a:pt x="541655" y="11705"/>
                  <a:pt x="679481" y="0"/>
                </a:cubicBezTo>
                <a:cubicBezTo>
                  <a:pt x="688224" y="110938"/>
                  <a:pt x="674947" y="181448"/>
                  <a:pt x="679481" y="276999"/>
                </a:cubicBezTo>
                <a:cubicBezTo>
                  <a:pt x="561040" y="313933"/>
                  <a:pt x="446452" y="245657"/>
                  <a:pt x="353330" y="276999"/>
                </a:cubicBezTo>
                <a:cubicBezTo>
                  <a:pt x="260208" y="308341"/>
                  <a:pt x="137427" y="253037"/>
                  <a:pt x="0" y="276999"/>
                </a:cubicBezTo>
                <a:cubicBezTo>
                  <a:pt x="-13468" y="155694"/>
                  <a:pt x="11768" y="125680"/>
                  <a:pt x="0" y="0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361963016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it-IT" sz="1200" dirty="0" err="1"/>
              <a:t>Explore</a:t>
            </a:r>
            <a:endParaRPr lang="it-IT" sz="1200" dirty="0"/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252D5C3E-7188-3BFF-421D-A8FBCDD98122}"/>
              </a:ext>
            </a:extLst>
          </p:cNvPr>
          <p:cNvSpPr txBox="1"/>
          <p:nvPr/>
        </p:nvSpPr>
        <p:spPr>
          <a:xfrm>
            <a:off x="1398976" y="3355267"/>
            <a:ext cx="1241174" cy="276999"/>
          </a:xfrm>
          <a:custGeom>
            <a:avLst/>
            <a:gdLst>
              <a:gd name="connsiteX0" fmla="*/ 0 w 1241174"/>
              <a:gd name="connsiteY0" fmla="*/ 0 h 276999"/>
              <a:gd name="connsiteX1" fmla="*/ 426136 w 1241174"/>
              <a:gd name="connsiteY1" fmla="*/ 0 h 276999"/>
              <a:gd name="connsiteX2" fmla="*/ 827449 w 1241174"/>
              <a:gd name="connsiteY2" fmla="*/ 0 h 276999"/>
              <a:gd name="connsiteX3" fmla="*/ 1241174 w 1241174"/>
              <a:gd name="connsiteY3" fmla="*/ 0 h 276999"/>
              <a:gd name="connsiteX4" fmla="*/ 1241174 w 1241174"/>
              <a:gd name="connsiteY4" fmla="*/ 276999 h 276999"/>
              <a:gd name="connsiteX5" fmla="*/ 839861 w 1241174"/>
              <a:gd name="connsiteY5" fmla="*/ 276999 h 276999"/>
              <a:gd name="connsiteX6" fmla="*/ 413725 w 1241174"/>
              <a:gd name="connsiteY6" fmla="*/ 276999 h 276999"/>
              <a:gd name="connsiteX7" fmla="*/ 0 w 1241174"/>
              <a:gd name="connsiteY7" fmla="*/ 276999 h 276999"/>
              <a:gd name="connsiteX8" fmla="*/ 0 w 1241174"/>
              <a:gd name="connsiteY8" fmla="*/ 0 h 276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241174" h="276999" fill="none" extrusionOk="0">
                <a:moveTo>
                  <a:pt x="0" y="0"/>
                </a:moveTo>
                <a:cubicBezTo>
                  <a:pt x="162462" y="-21348"/>
                  <a:pt x="221099" y="21217"/>
                  <a:pt x="426136" y="0"/>
                </a:cubicBezTo>
                <a:cubicBezTo>
                  <a:pt x="631173" y="-21217"/>
                  <a:pt x="737871" y="21684"/>
                  <a:pt x="827449" y="0"/>
                </a:cubicBezTo>
                <a:cubicBezTo>
                  <a:pt x="917027" y="-21684"/>
                  <a:pt x="1150831" y="11697"/>
                  <a:pt x="1241174" y="0"/>
                </a:cubicBezTo>
                <a:cubicBezTo>
                  <a:pt x="1255527" y="116925"/>
                  <a:pt x="1209333" y="154060"/>
                  <a:pt x="1241174" y="276999"/>
                </a:cubicBezTo>
                <a:cubicBezTo>
                  <a:pt x="1155164" y="281508"/>
                  <a:pt x="1013988" y="270900"/>
                  <a:pt x="839861" y="276999"/>
                </a:cubicBezTo>
                <a:cubicBezTo>
                  <a:pt x="665734" y="283098"/>
                  <a:pt x="580420" y="252236"/>
                  <a:pt x="413725" y="276999"/>
                </a:cubicBezTo>
                <a:cubicBezTo>
                  <a:pt x="247030" y="301762"/>
                  <a:pt x="93556" y="240906"/>
                  <a:pt x="0" y="276999"/>
                </a:cubicBezTo>
                <a:cubicBezTo>
                  <a:pt x="-17788" y="202079"/>
                  <a:pt x="30734" y="114213"/>
                  <a:pt x="0" y="0"/>
                </a:cubicBezTo>
                <a:close/>
              </a:path>
              <a:path w="1241174" h="276999" stroke="0" extrusionOk="0">
                <a:moveTo>
                  <a:pt x="0" y="0"/>
                </a:moveTo>
                <a:cubicBezTo>
                  <a:pt x="168724" y="-10470"/>
                  <a:pt x="200422" y="33847"/>
                  <a:pt x="388901" y="0"/>
                </a:cubicBezTo>
                <a:cubicBezTo>
                  <a:pt x="577380" y="-33847"/>
                  <a:pt x="606945" y="48663"/>
                  <a:pt x="802626" y="0"/>
                </a:cubicBezTo>
                <a:cubicBezTo>
                  <a:pt x="998308" y="-48663"/>
                  <a:pt x="1088022" y="4718"/>
                  <a:pt x="1241174" y="0"/>
                </a:cubicBezTo>
                <a:cubicBezTo>
                  <a:pt x="1261473" y="69364"/>
                  <a:pt x="1236220" y="195611"/>
                  <a:pt x="1241174" y="276999"/>
                </a:cubicBezTo>
                <a:cubicBezTo>
                  <a:pt x="1047423" y="282269"/>
                  <a:pt x="1018511" y="239890"/>
                  <a:pt x="839861" y="276999"/>
                </a:cubicBezTo>
                <a:cubicBezTo>
                  <a:pt x="661211" y="314108"/>
                  <a:pt x="580048" y="230348"/>
                  <a:pt x="401313" y="276999"/>
                </a:cubicBezTo>
                <a:cubicBezTo>
                  <a:pt x="222578" y="323650"/>
                  <a:pt x="192895" y="238535"/>
                  <a:pt x="0" y="276999"/>
                </a:cubicBezTo>
                <a:cubicBezTo>
                  <a:pt x="-2592" y="141076"/>
                  <a:pt x="25815" y="68648"/>
                  <a:pt x="0" y="0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361963016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it-IT" sz="1200" dirty="0"/>
              <a:t>Preferite App #1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A3B4A65A-8CC2-2D59-7B77-0B06E0075F73}"/>
              </a:ext>
            </a:extLst>
          </p:cNvPr>
          <p:cNvSpPr txBox="1"/>
          <p:nvPr/>
        </p:nvSpPr>
        <p:spPr>
          <a:xfrm>
            <a:off x="1412202" y="3855299"/>
            <a:ext cx="1268424" cy="276999"/>
          </a:xfrm>
          <a:custGeom>
            <a:avLst/>
            <a:gdLst>
              <a:gd name="connsiteX0" fmla="*/ 0 w 1268424"/>
              <a:gd name="connsiteY0" fmla="*/ 0 h 276999"/>
              <a:gd name="connsiteX1" fmla="*/ 435492 w 1268424"/>
              <a:gd name="connsiteY1" fmla="*/ 0 h 276999"/>
              <a:gd name="connsiteX2" fmla="*/ 845616 w 1268424"/>
              <a:gd name="connsiteY2" fmla="*/ 0 h 276999"/>
              <a:gd name="connsiteX3" fmla="*/ 1268424 w 1268424"/>
              <a:gd name="connsiteY3" fmla="*/ 0 h 276999"/>
              <a:gd name="connsiteX4" fmla="*/ 1268424 w 1268424"/>
              <a:gd name="connsiteY4" fmla="*/ 276999 h 276999"/>
              <a:gd name="connsiteX5" fmla="*/ 858300 w 1268424"/>
              <a:gd name="connsiteY5" fmla="*/ 276999 h 276999"/>
              <a:gd name="connsiteX6" fmla="*/ 422808 w 1268424"/>
              <a:gd name="connsiteY6" fmla="*/ 276999 h 276999"/>
              <a:gd name="connsiteX7" fmla="*/ 0 w 1268424"/>
              <a:gd name="connsiteY7" fmla="*/ 276999 h 276999"/>
              <a:gd name="connsiteX8" fmla="*/ 0 w 1268424"/>
              <a:gd name="connsiteY8" fmla="*/ 0 h 276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268424" h="276999" fill="none" extrusionOk="0">
                <a:moveTo>
                  <a:pt x="0" y="0"/>
                </a:moveTo>
                <a:cubicBezTo>
                  <a:pt x="212420" y="-15043"/>
                  <a:pt x="313424" y="36997"/>
                  <a:pt x="435492" y="0"/>
                </a:cubicBezTo>
                <a:cubicBezTo>
                  <a:pt x="557560" y="-36997"/>
                  <a:pt x="672271" y="23541"/>
                  <a:pt x="845616" y="0"/>
                </a:cubicBezTo>
                <a:cubicBezTo>
                  <a:pt x="1018961" y="-23541"/>
                  <a:pt x="1165511" y="29489"/>
                  <a:pt x="1268424" y="0"/>
                </a:cubicBezTo>
                <a:cubicBezTo>
                  <a:pt x="1282777" y="116925"/>
                  <a:pt x="1236583" y="154060"/>
                  <a:pt x="1268424" y="276999"/>
                </a:cubicBezTo>
                <a:cubicBezTo>
                  <a:pt x="1068187" y="282945"/>
                  <a:pt x="968093" y="242063"/>
                  <a:pt x="858300" y="276999"/>
                </a:cubicBezTo>
                <a:cubicBezTo>
                  <a:pt x="748507" y="311935"/>
                  <a:pt x="581999" y="241629"/>
                  <a:pt x="422808" y="276999"/>
                </a:cubicBezTo>
                <a:cubicBezTo>
                  <a:pt x="263617" y="312369"/>
                  <a:pt x="102747" y="240788"/>
                  <a:pt x="0" y="276999"/>
                </a:cubicBezTo>
                <a:cubicBezTo>
                  <a:pt x="-17788" y="202079"/>
                  <a:pt x="30734" y="114213"/>
                  <a:pt x="0" y="0"/>
                </a:cubicBezTo>
                <a:close/>
              </a:path>
              <a:path w="1268424" h="276999" stroke="0" extrusionOk="0">
                <a:moveTo>
                  <a:pt x="0" y="0"/>
                </a:moveTo>
                <a:cubicBezTo>
                  <a:pt x="149582" y="-10691"/>
                  <a:pt x="316373" y="41881"/>
                  <a:pt x="397440" y="0"/>
                </a:cubicBezTo>
                <a:cubicBezTo>
                  <a:pt x="478507" y="-41881"/>
                  <a:pt x="668051" y="6691"/>
                  <a:pt x="820248" y="0"/>
                </a:cubicBezTo>
                <a:cubicBezTo>
                  <a:pt x="972445" y="-6691"/>
                  <a:pt x="1132988" y="48452"/>
                  <a:pt x="1268424" y="0"/>
                </a:cubicBezTo>
                <a:cubicBezTo>
                  <a:pt x="1288723" y="69364"/>
                  <a:pt x="1263470" y="195611"/>
                  <a:pt x="1268424" y="276999"/>
                </a:cubicBezTo>
                <a:cubicBezTo>
                  <a:pt x="1128049" y="318151"/>
                  <a:pt x="1014015" y="272774"/>
                  <a:pt x="858300" y="276999"/>
                </a:cubicBezTo>
                <a:cubicBezTo>
                  <a:pt x="702585" y="281224"/>
                  <a:pt x="559221" y="236244"/>
                  <a:pt x="410124" y="276999"/>
                </a:cubicBezTo>
                <a:cubicBezTo>
                  <a:pt x="261027" y="317754"/>
                  <a:pt x="124454" y="238119"/>
                  <a:pt x="0" y="276999"/>
                </a:cubicBezTo>
                <a:cubicBezTo>
                  <a:pt x="-2592" y="141076"/>
                  <a:pt x="25815" y="68648"/>
                  <a:pt x="0" y="0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361963016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it-IT" sz="1200" dirty="0"/>
              <a:t>Preferite App #N</a:t>
            </a:r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5FCEA18B-E1B8-08A4-7030-5EC9B760F145}"/>
              </a:ext>
            </a:extLst>
          </p:cNvPr>
          <p:cNvSpPr txBox="1"/>
          <p:nvPr/>
        </p:nvSpPr>
        <p:spPr>
          <a:xfrm>
            <a:off x="1091860" y="4344532"/>
            <a:ext cx="720069" cy="276999"/>
          </a:xfrm>
          <a:custGeom>
            <a:avLst/>
            <a:gdLst>
              <a:gd name="connsiteX0" fmla="*/ 0 w 720069"/>
              <a:gd name="connsiteY0" fmla="*/ 0 h 276999"/>
              <a:gd name="connsiteX1" fmla="*/ 360035 w 720069"/>
              <a:gd name="connsiteY1" fmla="*/ 0 h 276999"/>
              <a:gd name="connsiteX2" fmla="*/ 720069 w 720069"/>
              <a:gd name="connsiteY2" fmla="*/ 0 h 276999"/>
              <a:gd name="connsiteX3" fmla="*/ 720069 w 720069"/>
              <a:gd name="connsiteY3" fmla="*/ 276999 h 276999"/>
              <a:gd name="connsiteX4" fmla="*/ 374436 w 720069"/>
              <a:gd name="connsiteY4" fmla="*/ 276999 h 276999"/>
              <a:gd name="connsiteX5" fmla="*/ 0 w 720069"/>
              <a:gd name="connsiteY5" fmla="*/ 276999 h 276999"/>
              <a:gd name="connsiteX6" fmla="*/ 0 w 720069"/>
              <a:gd name="connsiteY6" fmla="*/ 0 h 276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20069" h="276999" fill="none" extrusionOk="0">
                <a:moveTo>
                  <a:pt x="0" y="0"/>
                </a:moveTo>
                <a:cubicBezTo>
                  <a:pt x="81750" y="-24095"/>
                  <a:pt x="227946" y="5548"/>
                  <a:pt x="360035" y="0"/>
                </a:cubicBezTo>
                <a:cubicBezTo>
                  <a:pt x="492124" y="-5548"/>
                  <a:pt x="574694" y="14477"/>
                  <a:pt x="720069" y="0"/>
                </a:cubicBezTo>
                <a:cubicBezTo>
                  <a:pt x="722755" y="91091"/>
                  <a:pt x="709077" y="209961"/>
                  <a:pt x="720069" y="276999"/>
                </a:cubicBezTo>
                <a:cubicBezTo>
                  <a:pt x="555466" y="293917"/>
                  <a:pt x="505109" y="239513"/>
                  <a:pt x="374436" y="276999"/>
                </a:cubicBezTo>
                <a:cubicBezTo>
                  <a:pt x="243763" y="314485"/>
                  <a:pt x="164985" y="232125"/>
                  <a:pt x="0" y="276999"/>
                </a:cubicBezTo>
                <a:cubicBezTo>
                  <a:pt x="-11271" y="148024"/>
                  <a:pt x="17893" y="83949"/>
                  <a:pt x="0" y="0"/>
                </a:cubicBezTo>
                <a:close/>
              </a:path>
              <a:path w="720069" h="276999" stroke="0" extrusionOk="0">
                <a:moveTo>
                  <a:pt x="0" y="0"/>
                </a:moveTo>
                <a:cubicBezTo>
                  <a:pt x="79555" y="-38107"/>
                  <a:pt x="254939" y="25089"/>
                  <a:pt x="345633" y="0"/>
                </a:cubicBezTo>
                <a:cubicBezTo>
                  <a:pt x="436327" y="-25089"/>
                  <a:pt x="560846" y="22390"/>
                  <a:pt x="720069" y="0"/>
                </a:cubicBezTo>
                <a:cubicBezTo>
                  <a:pt x="728812" y="110938"/>
                  <a:pt x="715535" y="181448"/>
                  <a:pt x="720069" y="276999"/>
                </a:cubicBezTo>
                <a:cubicBezTo>
                  <a:pt x="601213" y="317192"/>
                  <a:pt x="479529" y="244426"/>
                  <a:pt x="374436" y="276999"/>
                </a:cubicBezTo>
                <a:cubicBezTo>
                  <a:pt x="269343" y="309572"/>
                  <a:pt x="84240" y="275178"/>
                  <a:pt x="0" y="276999"/>
                </a:cubicBezTo>
                <a:cubicBezTo>
                  <a:pt x="-13468" y="155694"/>
                  <a:pt x="11768" y="125680"/>
                  <a:pt x="0" y="0"/>
                </a:cubicBezTo>
                <a:close/>
              </a:path>
            </a:pathLst>
          </a:custGeom>
          <a:ln>
            <a:noFill/>
            <a:extLst>
              <a:ext uri="{C807C97D-BFC1-408E-A445-0C87EB9F89A2}">
                <ask:lineSketchStyleProps xmlns:ask="http://schemas.microsoft.com/office/drawing/2018/sketchyshapes" sd="361963016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it-IT" sz="1200" dirty="0"/>
              <a:t>Designs</a:t>
            </a:r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5EA547D8-37D6-5167-DC56-D818D85D6D12}"/>
              </a:ext>
            </a:extLst>
          </p:cNvPr>
          <p:cNvSpPr txBox="1"/>
          <p:nvPr/>
        </p:nvSpPr>
        <p:spPr>
          <a:xfrm>
            <a:off x="1611840" y="4627209"/>
            <a:ext cx="841897" cy="276999"/>
          </a:xfrm>
          <a:custGeom>
            <a:avLst/>
            <a:gdLst>
              <a:gd name="connsiteX0" fmla="*/ 0 w 841897"/>
              <a:gd name="connsiteY0" fmla="*/ 0 h 276999"/>
              <a:gd name="connsiteX1" fmla="*/ 420949 w 841897"/>
              <a:gd name="connsiteY1" fmla="*/ 0 h 276999"/>
              <a:gd name="connsiteX2" fmla="*/ 841897 w 841897"/>
              <a:gd name="connsiteY2" fmla="*/ 0 h 276999"/>
              <a:gd name="connsiteX3" fmla="*/ 841897 w 841897"/>
              <a:gd name="connsiteY3" fmla="*/ 276999 h 276999"/>
              <a:gd name="connsiteX4" fmla="*/ 437786 w 841897"/>
              <a:gd name="connsiteY4" fmla="*/ 276999 h 276999"/>
              <a:gd name="connsiteX5" fmla="*/ 0 w 841897"/>
              <a:gd name="connsiteY5" fmla="*/ 276999 h 276999"/>
              <a:gd name="connsiteX6" fmla="*/ 0 w 841897"/>
              <a:gd name="connsiteY6" fmla="*/ 0 h 276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841897" h="276999" fill="none" extrusionOk="0">
                <a:moveTo>
                  <a:pt x="0" y="0"/>
                </a:moveTo>
                <a:cubicBezTo>
                  <a:pt x="194545" y="-6917"/>
                  <a:pt x="302199" y="48410"/>
                  <a:pt x="420949" y="0"/>
                </a:cubicBezTo>
                <a:cubicBezTo>
                  <a:pt x="539699" y="-48410"/>
                  <a:pt x="742874" y="34633"/>
                  <a:pt x="841897" y="0"/>
                </a:cubicBezTo>
                <a:cubicBezTo>
                  <a:pt x="844583" y="91091"/>
                  <a:pt x="830905" y="209961"/>
                  <a:pt x="841897" y="276999"/>
                </a:cubicBezTo>
                <a:cubicBezTo>
                  <a:pt x="759446" y="318769"/>
                  <a:pt x="607104" y="246815"/>
                  <a:pt x="437786" y="276999"/>
                </a:cubicBezTo>
                <a:cubicBezTo>
                  <a:pt x="268468" y="307183"/>
                  <a:pt x="203469" y="241234"/>
                  <a:pt x="0" y="276999"/>
                </a:cubicBezTo>
                <a:cubicBezTo>
                  <a:pt x="-11271" y="148024"/>
                  <a:pt x="17893" y="83949"/>
                  <a:pt x="0" y="0"/>
                </a:cubicBezTo>
                <a:close/>
              </a:path>
              <a:path w="841897" h="276999" stroke="0" extrusionOk="0">
                <a:moveTo>
                  <a:pt x="0" y="0"/>
                </a:moveTo>
                <a:cubicBezTo>
                  <a:pt x="193743" y="-46614"/>
                  <a:pt x="261756" y="39517"/>
                  <a:pt x="404111" y="0"/>
                </a:cubicBezTo>
                <a:cubicBezTo>
                  <a:pt x="546466" y="-39517"/>
                  <a:pt x="739734" y="16271"/>
                  <a:pt x="841897" y="0"/>
                </a:cubicBezTo>
                <a:cubicBezTo>
                  <a:pt x="850640" y="110938"/>
                  <a:pt x="837363" y="181448"/>
                  <a:pt x="841897" y="276999"/>
                </a:cubicBezTo>
                <a:cubicBezTo>
                  <a:pt x="679381" y="279750"/>
                  <a:pt x="566010" y="240437"/>
                  <a:pt x="437786" y="276999"/>
                </a:cubicBezTo>
                <a:cubicBezTo>
                  <a:pt x="309562" y="313561"/>
                  <a:pt x="123069" y="250916"/>
                  <a:pt x="0" y="276999"/>
                </a:cubicBezTo>
                <a:cubicBezTo>
                  <a:pt x="-13468" y="155694"/>
                  <a:pt x="11768" y="125680"/>
                  <a:pt x="0" y="0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361963016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it-IT" sz="1200" dirty="0"/>
              <a:t>Design #1</a:t>
            </a:r>
          </a:p>
        </p:txBody>
      </p:sp>
      <p:sp>
        <p:nvSpPr>
          <p:cNvPr id="18" name="CasellaDiTesto 17">
            <a:extLst>
              <a:ext uri="{FF2B5EF4-FFF2-40B4-BE49-F238E27FC236}">
                <a16:creationId xmlns:a16="http://schemas.microsoft.com/office/drawing/2014/main" id="{FC8F7632-CE1A-EA04-489A-573178BFF078}"/>
              </a:ext>
            </a:extLst>
          </p:cNvPr>
          <p:cNvSpPr txBox="1"/>
          <p:nvPr/>
        </p:nvSpPr>
        <p:spPr>
          <a:xfrm>
            <a:off x="1611840" y="5167427"/>
            <a:ext cx="869149" cy="276999"/>
          </a:xfrm>
          <a:custGeom>
            <a:avLst/>
            <a:gdLst>
              <a:gd name="connsiteX0" fmla="*/ 0 w 869149"/>
              <a:gd name="connsiteY0" fmla="*/ 0 h 276999"/>
              <a:gd name="connsiteX1" fmla="*/ 434575 w 869149"/>
              <a:gd name="connsiteY1" fmla="*/ 0 h 276999"/>
              <a:gd name="connsiteX2" fmla="*/ 869149 w 869149"/>
              <a:gd name="connsiteY2" fmla="*/ 0 h 276999"/>
              <a:gd name="connsiteX3" fmla="*/ 869149 w 869149"/>
              <a:gd name="connsiteY3" fmla="*/ 276999 h 276999"/>
              <a:gd name="connsiteX4" fmla="*/ 451957 w 869149"/>
              <a:gd name="connsiteY4" fmla="*/ 276999 h 276999"/>
              <a:gd name="connsiteX5" fmla="*/ 0 w 869149"/>
              <a:gd name="connsiteY5" fmla="*/ 276999 h 276999"/>
              <a:gd name="connsiteX6" fmla="*/ 0 w 869149"/>
              <a:gd name="connsiteY6" fmla="*/ 0 h 276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869149" h="276999" fill="none" extrusionOk="0">
                <a:moveTo>
                  <a:pt x="0" y="0"/>
                </a:moveTo>
                <a:cubicBezTo>
                  <a:pt x="206067" y="-27243"/>
                  <a:pt x="230857" y="3680"/>
                  <a:pt x="434575" y="0"/>
                </a:cubicBezTo>
                <a:cubicBezTo>
                  <a:pt x="638294" y="-3680"/>
                  <a:pt x="655014" y="14863"/>
                  <a:pt x="869149" y="0"/>
                </a:cubicBezTo>
                <a:cubicBezTo>
                  <a:pt x="871835" y="91091"/>
                  <a:pt x="858157" y="209961"/>
                  <a:pt x="869149" y="276999"/>
                </a:cubicBezTo>
                <a:cubicBezTo>
                  <a:pt x="675468" y="280915"/>
                  <a:pt x="653987" y="227120"/>
                  <a:pt x="451957" y="276999"/>
                </a:cubicBezTo>
                <a:cubicBezTo>
                  <a:pt x="249927" y="326878"/>
                  <a:pt x="180752" y="224248"/>
                  <a:pt x="0" y="276999"/>
                </a:cubicBezTo>
                <a:cubicBezTo>
                  <a:pt x="-11271" y="148024"/>
                  <a:pt x="17893" y="83949"/>
                  <a:pt x="0" y="0"/>
                </a:cubicBezTo>
                <a:close/>
              </a:path>
              <a:path w="869149" h="276999" stroke="0" extrusionOk="0">
                <a:moveTo>
                  <a:pt x="0" y="0"/>
                </a:moveTo>
                <a:cubicBezTo>
                  <a:pt x="186702" y="-20439"/>
                  <a:pt x="295001" y="47413"/>
                  <a:pt x="417192" y="0"/>
                </a:cubicBezTo>
                <a:cubicBezTo>
                  <a:pt x="539383" y="-47413"/>
                  <a:pt x="763290" y="24108"/>
                  <a:pt x="869149" y="0"/>
                </a:cubicBezTo>
                <a:cubicBezTo>
                  <a:pt x="877892" y="110938"/>
                  <a:pt x="864615" y="181448"/>
                  <a:pt x="869149" y="276999"/>
                </a:cubicBezTo>
                <a:cubicBezTo>
                  <a:pt x="726122" y="299216"/>
                  <a:pt x="577145" y="235443"/>
                  <a:pt x="451957" y="276999"/>
                </a:cubicBezTo>
                <a:cubicBezTo>
                  <a:pt x="326769" y="318555"/>
                  <a:pt x="221931" y="276538"/>
                  <a:pt x="0" y="276999"/>
                </a:cubicBezTo>
                <a:cubicBezTo>
                  <a:pt x="-13468" y="155694"/>
                  <a:pt x="11768" y="125680"/>
                  <a:pt x="0" y="0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361963016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it-IT" sz="1200" dirty="0"/>
              <a:t>Design #N</a:t>
            </a:r>
          </a:p>
        </p:txBody>
      </p:sp>
      <p:sp>
        <p:nvSpPr>
          <p:cNvPr id="24" name="CasellaDiTesto 23">
            <a:extLst>
              <a:ext uri="{FF2B5EF4-FFF2-40B4-BE49-F238E27FC236}">
                <a16:creationId xmlns:a16="http://schemas.microsoft.com/office/drawing/2014/main" id="{28477384-0591-8D25-5E5F-5F96ADA2D23C}"/>
              </a:ext>
            </a:extLst>
          </p:cNvPr>
          <p:cNvSpPr txBox="1"/>
          <p:nvPr/>
        </p:nvSpPr>
        <p:spPr>
          <a:xfrm>
            <a:off x="1665364" y="2146155"/>
            <a:ext cx="708399" cy="276999"/>
          </a:xfrm>
          <a:custGeom>
            <a:avLst/>
            <a:gdLst>
              <a:gd name="connsiteX0" fmla="*/ 0 w 708399"/>
              <a:gd name="connsiteY0" fmla="*/ 0 h 276999"/>
              <a:gd name="connsiteX1" fmla="*/ 354200 w 708399"/>
              <a:gd name="connsiteY1" fmla="*/ 0 h 276999"/>
              <a:gd name="connsiteX2" fmla="*/ 708399 w 708399"/>
              <a:gd name="connsiteY2" fmla="*/ 0 h 276999"/>
              <a:gd name="connsiteX3" fmla="*/ 708399 w 708399"/>
              <a:gd name="connsiteY3" fmla="*/ 276999 h 276999"/>
              <a:gd name="connsiteX4" fmla="*/ 368367 w 708399"/>
              <a:gd name="connsiteY4" fmla="*/ 276999 h 276999"/>
              <a:gd name="connsiteX5" fmla="*/ 0 w 708399"/>
              <a:gd name="connsiteY5" fmla="*/ 276999 h 276999"/>
              <a:gd name="connsiteX6" fmla="*/ 0 w 708399"/>
              <a:gd name="connsiteY6" fmla="*/ 0 h 276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08399" h="276999" fill="none" extrusionOk="0">
                <a:moveTo>
                  <a:pt x="0" y="0"/>
                </a:moveTo>
                <a:cubicBezTo>
                  <a:pt x="135615" y="-22083"/>
                  <a:pt x="193710" y="8414"/>
                  <a:pt x="354200" y="0"/>
                </a:cubicBezTo>
                <a:cubicBezTo>
                  <a:pt x="514690" y="-8414"/>
                  <a:pt x="538010" y="592"/>
                  <a:pt x="708399" y="0"/>
                </a:cubicBezTo>
                <a:cubicBezTo>
                  <a:pt x="711085" y="91091"/>
                  <a:pt x="697407" y="209961"/>
                  <a:pt x="708399" y="276999"/>
                </a:cubicBezTo>
                <a:cubicBezTo>
                  <a:pt x="584405" y="301599"/>
                  <a:pt x="461202" y="270323"/>
                  <a:pt x="368367" y="276999"/>
                </a:cubicBezTo>
                <a:cubicBezTo>
                  <a:pt x="275532" y="283675"/>
                  <a:pt x="104111" y="261184"/>
                  <a:pt x="0" y="276999"/>
                </a:cubicBezTo>
                <a:cubicBezTo>
                  <a:pt x="-11271" y="148024"/>
                  <a:pt x="17893" y="83949"/>
                  <a:pt x="0" y="0"/>
                </a:cubicBezTo>
                <a:close/>
              </a:path>
              <a:path w="708399" h="276999" stroke="0" extrusionOk="0">
                <a:moveTo>
                  <a:pt x="0" y="0"/>
                </a:moveTo>
                <a:cubicBezTo>
                  <a:pt x="131700" y="-34537"/>
                  <a:pt x="232591" y="4786"/>
                  <a:pt x="340032" y="0"/>
                </a:cubicBezTo>
                <a:cubicBezTo>
                  <a:pt x="447473" y="-4786"/>
                  <a:pt x="531158" y="10881"/>
                  <a:pt x="708399" y="0"/>
                </a:cubicBezTo>
                <a:cubicBezTo>
                  <a:pt x="717142" y="110938"/>
                  <a:pt x="703865" y="181448"/>
                  <a:pt x="708399" y="276999"/>
                </a:cubicBezTo>
                <a:cubicBezTo>
                  <a:pt x="632154" y="312870"/>
                  <a:pt x="488913" y="236616"/>
                  <a:pt x="368367" y="276999"/>
                </a:cubicBezTo>
                <a:cubicBezTo>
                  <a:pt x="247821" y="317382"/>
                  <a:pt x="82931" y="269669"/>
                  <a:pt x="0" y="276999"/>
                </a:cubicBezTo>
                <a:cubicBezTo>
                  <a:pt x="-13468" y="155694"/>
                  <a:pt x="11768" y="125680"/>
                  <a:pt x="0" y="0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361963016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it-IT" sz="1200" dirty="0"/>
              <a:t>Dataset</a:t>
            </a:r>
          </a:p>
        </p:txBody>
      </p:sp>
      <p:sp>
        <p:nvSpPr>
          <p:cNvPr id="25" name="CasellaDiTesto 24">
            <a:extLst>
              <a:ext uri="{FF2B5EF4-FFF2-40B4-BE49-F238E27FC236}">
                <a16:creationId xmlns:a16="http://schemas.microsoft.com/office/drawing/2014/main" id="{7CB8FD7D-CFE8-44CB-63E7-97A5905E2E93}"/>
              </a:ext>
            </a:extLst>
          </p:cNvPr>
          <p:cNvSpPr txBox="1"/>
          <p:nvPr/>
        </p:nvSpPr>
        <p:spPr>
          <a:xfrm>
            <a:off x="1640894" y="5605675"/>
            <a:ext cx="646331" cy="276999"/>
          </a:xfrm>
          <a:custGeom>
            <a:avLst/>
            <a:gdLst>
              <a:gd name="connsiteX0" fmla="*/ 0 w 646331"/>
              <a:gd name="connsiteY0" fmla="*/ 0 h 276999"/>
              <a:gd name="connsiteX1" fmla="*/ 323166 w 646331"/>
              <a:gd name="connsiteY1" fmla="*/ 0 h 276999"/>
              <a:gd name="connsiteX2" fmla="*/ 646331 w 646331"/>
              <a:gd name="connsiteY2" fmla="*/ 0 h 276999"/>
              <a:gd name="connsiteX3" fmla="*/ 646331 w 646331"/>
              <a:gd name="connsiteY3" fmla="*/ 276999 h 276999"/>
              <a:gd name="connsiteX4" fmla="*/ 336092 w 646331"/>
              <a:gd name="connsiteY4" fmla="*/ 276999 h 276999"/>
              <a:gd name="connsiteX5" fmla="*/ 0 w 646331"/>
              <a:gd name="connsiteY5" fmla="*/ 276999 h 276999"/>
              <a:gd name="connsiteX6" fmla="*/ 0 w 646331"/>
              <a:gd name="connsiteY6" fmla="*/ 0 h 276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46331" h="276999" fill="none" extrusionOk="0">
                <a:moveTo>
                  <a:pt x="0" y="0"/>
                </a:moveTo>
                <a:cubicBezTo>
                  <a:pt x="108017" y="-2672"/>
                  <a:pt x="256043" y="26163"/>
                  <a:pt x="323166" y="0"/>
                </a:cubicBezTo>
                <a:cubicBezTo>
                  <a:pt x="390289" y="-26163"/>
                  <a:pt x="577304" y="7309"/>
                  <a:pt x="646331" y="0"/>
                </a:cubicBezTo>
                <a:cubicBezTo>
                  <a:pt x="649017" y="91091"/>
                  <a:pt x="635339" y="209961"/>
                  <a:pt x="646331" y="276999"/>
                </a:cubicBezTo>
                <a:cubicBezTo>
                  <a:pt x="529572" y="301460"/>
                  <a:pt x="465524" y="255401"/>
                  <a:pt x="336092" y="276999"/>
                </a:cubicBezTo>
                <a:cubicBezTo>
                  <a:pt x="206660" y="298597"/>
                  <a:pt x="88517" y="274425"/>
                  <a:pt x="0" y="276999"/>
                </a:cubicBezTo>
                <a:cubicBezTo>
                  <a:pt x="-11271" y="148024"/>
                  <a:pt x="17893" y="83949"/>
                  <a:pt x="0" y="0"/>
                </a:cubicBezTo>
                <a:close/>
              </a:path>
              <a:path w="646331" h="276999" stroke="0" extrusionOk="0">
                <a:moveTo>
                  <a:pt x="0" y="0"/>
                </a:moveTo>
                <a:cubicBezTo>
                  <a:pt x="121199" y="-20596"/>
                  <a:pt x="181630" y="6768"/>
                  <a:pt x="310239" y="0"/>
                </a:cubicBezTo>
                <a:cubicBezTo>
                  <a:pt x="438848" y="-6768"/>
                  <a:pt x="499929" y="15141"/>
                  <a:pt x="646331" y="0"/>
                </a:cubicBezTo>
                <a:cubicBezTo>
                  <a:pt x="655074" y="110938"/>
                  <a:pt x="641797" y="181448"/>
                  <a:pt x="646331" y="276999"/>
                </a:cubicBezTo>
                <a:cubicBezTo>
                  <a:pt x="549340" y="287539"/>
                  <a:pt x="465592" y="244488"/>
                  <a:pt x="336092" y="276999"/>
                </a:cubicBezTo>
                <a:cubicBezTo>
                  <a:pt x="206592" y="309510"/>
                  <a:pt x="71724" y="273769"/>
                  <a:pt x="0" y="276999"/>
                </a:cubicBezTo>
                <a:cubicBezTo>
                  <a:pt x="-13468" y="155694"/>
                  <a:pt x="11768" y="125680"/>
                  <a:pt x="0" y="0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361963016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it-IT" sz="1200" dirty="0"/>
              <a:t>App #1</a:t>
            </a:r>
          </a:p>
        </p:txBody>
      </p:sp>
      <p:sp>
        <p:nvSpPr>
          <p:cNvPr id="26" name="CasellaDiTesto 25">
            <a:extLst>
              <a:ext uri="{FF2B5EF4-FFF2-40B4-BE49-F238E27FC236}">
                <a16:creationId xmlns:a16="http://schemas.microsoft.com/office/drawing/2014/main" id="{DDB28AFB-A62E-064F-CCDD-32AEF42A6786}"/>
              </a:ext>
            </a:extLst>
          </p:cNvPr>
          <p:cNvSpPr txBox="1"/>
          <p:nvPr/>
        </p:nvSpPr>
        <p:spPr>
          <a:xfrm>
            <a:off x="1640894" y="6145893"/>
            <a:ext cx="673582" cy="276999"/>
          </a:xfrm>
          <a:custGeom>
            <a:avLst/>
            <a:gdLst>
              <a:gd name="connsiteX0" fmla="*/ 0 w 673582"/>
              <a:gd name="connsiteY0" fmla="*/ 0 h 276999"/>
              <a:gd name="connsiteX1" fmla="*/ 336791 w 673582"/>
              <a:gd name="connsiteY1" fmla="*/ 0 h 276999"/>
              <a:gd name="connsiteX2" fmla="*/ 673582 w 673582"/>
              <a:gd name="connsiteY2" fmla="*/ 0 h 276999"/>
              <a:gd name="connsiteX3" fmla="*/ 673582 w 673582"/>
              <a:gd name="connsiteY3" fmla="*/ 276999 h 276999"/>
              <a:gd name="connsiteX4" fmla="*/ 350263 w 673582"/>
              <a:gd name="connsiteY4" fmla="*/ 276999 h 276999"/>
              <a:gd name="connsiteX5" fmla="*/ 0 w 673582"/>
              <a:gd name="connsiteY5" fmla="*/ 276999 h 276999"/>
              <a:gd name="connsiteX6" fmla="*/ 0 w 673582"/>
              <a:gd name="connsiteY6" fmla="*/ 0 h 276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73582" h="276999" fill="none" extrusionOk="0">
                <a:moveTo>
                  <a:pt x="0" y="0"/>
                </a:moveTo>
                <a:cubicBezTo>
                  <a:pt x="140583" y="-35755"/>
                  <a:pt x="246128" y="37040"/>
                  <a:pt x="336791" y="0"/>
                </a:cubicBezTo>
                <a:cubicBezTo>
                  <a:pt x="427454" y="-37040"/>
                  <a:pt x="574715" y="10033"/>
                  <a:pt x="673582" y="0"/>
                </a:cubicBezTo>
                <a:cubicBezTo>
                  <a:pt x="676268" y="91091"/>
                  <a:pt x="662590" y="209961"/>
                  <a:pt x="673582" y="276999"/>
                </a:cubicBezTo>
                <a:cubicBezTo>
                  <a:pt x="607343" y="310352"/>
                  <a:pt x="460506" y="248563"/>
                  <a:pt x="350263" y="276999"/>
                </a:cubicBezTo>
                <a:cubicBezTo>
                  <a:pt x="240020" y="305435"/>
                  <a:pt x="96245" y="256732"/>
                  <a:pt x="0" y="276999"/>
                </a:cubicBezTo>
                <a:cubicBezTo>
                  <a:pt x="-11271" y="148024"/>
                  <a:pt x="17893" y="83949"/>
                  <a:pt x="0" y="0"/>
                </a:cubicBezTo>
                <a:close/>
              </a:path>
              <a:path w="673582" h="276999" stroke="0" extrusionOk="0">
                <a:moveTo>
                  <a:pt x="0" y="0"/>
                </a:moveTo>
                <a:cubicBezTo>
                  <a:pt x="127604" y="-9873"/>
                  <a:pt x="176512" y="29985"/>
                  <a:pt x="323319" y="0"/>
                </a:cubicBezTo>
                <a:cubicBezTo>
                  <a:pt x="470126" y="-29985"/>
                  <a:pt x="551384" y="3754"/>
                  <a:pt x="673582" y="0"/>
                </a:cubicBezTo>
                <a:cubicBezTo>
                  <a:pt x="682325" y="110938"/>
                  <a:pt x="669048" y="181448"/>
                  <a:pt x="673582" y="276999"/>
                </a:cubicBezTo>
                <a:cubicBezTo>
                  <a:pt x="546580" y="285893"/>
                  <a:pt x="456961" y="264523"/>
                  <a:pt x="350263" y="276999"/>
                </a:cubicBezTo>
                <a:cubicBezTo>
                  <a:pt x="243565" y="289475"/>
                  <a:pt x="133801" y="268135"/>
                  <a:pt x="0" y="276999"/>
                </a:cubicBezTo>
                <a:cubicBezTo>
                  <a:pt x="-13468" y="155694"/>
                  <a:pt x="11768" y="125680"/>
                  <a:pt x="0" y="0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361963016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it-IT" sz="1200" dirty="0"/>
              <a:t>App #N</a:t>
            </a:r>
          </a:p>
        </p:txBody>
      </p:sp>
      <p:sp>
        <p:nvSpPr>
          <p:cNvPr id="27" name="CasellaDiTesto 26">
            <a:extLst>
              <a:ext uri="{FF2B5EF4-FFF2-40B4-BE49-F238E27FC236}">
                <a16:creationId xmlns:a16="http://schemas.microsoft.com/office/drawing/2014/main" id="{B9646988-F0F4-932E-F783-C0DA1D829F88}"/>
              </a:ext>
            </a:extLst>
          </p:cNvPr>
          <p:cNvSpPr txBox="1"/>
          <p:nvPr/>
        </p:nvSpPr>
        <p:spPr>
          <a:xfrm>
            <a:off x="6467440" y="902964"/>
            <a:ext cx="578235" cy="276999"/>
          </a:xfrm>
          <a:custGeom>
            <a:avLst/>
            <a:gdLst>
              <a:gd name="connsiteX0" fmla="*/ 0 w 578235"/>
              <a:gd name="connsiteY0" fmla="*/ 0 h 276999"/>
              <a:gd name="connsiteX1" fmla="*/ 578235 w 578235"/>
              <a:gd name="connsiteY1" fmla="*/ 0 h 276999"/>
              <a:gd name="connsiteX2" fmla="*/ 578235 w 578235"/>
              <a:gd name="connsiteY2" fmla="*/ 276999 h 276999"/>
              <a:gd name="connsiteX3" fmla="*/ 0 w 578235"/>
              <a:gd name="connsiteY3" fmla="*/ 276999 h 276999"/>
              <a:gd name="connsiteX4" fmla="*/ 0 w 578235"/>
              <a:gd name="connsiteY4" fmla="*/ 0 h 276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78235" h="276999" fill="none" extrusionOk="0">
                <a:moveTo>
                  <a:pt x="0" y="0"/>
                </a:moveTo>
                <a:cubicBezTo>
                  <a:pt x="214489" y="-38821"/>
                  <a:pt x="324655" y="62853"/>
                  <a:pt x="578235" y="0"/>
                </a:cubicBezTo>
                <a:cubicBezTo>
                  <a:pt x="589195" y="109854"/>
                  <a:pt x="547587" y="219022"/>
                  <a:pt x="578235" y="276999"/>
                </a:cubicBezTo>
                <a:cubicBezTo>
                  <a:pt x="438324" y="335746"/>
                  <a:pt x="213155" y="225589"/>
                  <a:pt x="0" y="276999"/>
                </a:cubicBezTo>
                <a:cubicBezTo>
                  <a:pt x="-12769" y="168538"/>
                  <a:pt x="13287" y="65664"/>
                  <a:pt x="0" y="0"/>
                </a:cubicBezTo>
                <a:close/>
              </a:path>
              <a:path w="578235" h="276999" stroke="0" extrusionOk="0">
                <a:moveTo>
                  <a:pt x="0" y="0"/>
                </a:moveTo>
                <a:cubicBezTo>
                  <a:pt x="204871" y="-34814"/>
                  <a:pt x="429940" y="46757"/>
                  <a:pt x="578235" y="0"/>
                </a:cubicBezTo>
                <a:cubicBezTo>
                  <a:pt x="589076" y="100549"/>
                  <a:pt x="562254" y="219324"/>
                  <a:pt x="578235" y="276999"/>
                </a:cubicBezTo>
                <a:cubicBezTo>
                  <a:pt x="461773" y="309279"/>
                  <a:pt x="285268" y="213079"/>
                  <a:pt x="0" y="276999"/>
                </a:cubicBezTo>
                <a:cubicBezTo>
                  <a:pt x="-29237" y="187790"/>
                  <a:pt x="11007" y="74165"/>
                  <a:pt x="0" y="0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361963016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it-IT" sz="1200" dirty="0"/>
              <a:t>Editor</a:t>
            </a:r>
          </a:p>
        </p:txBody>
      </p:sp>
      <p:sp>
        <p:nvSpPr>
          <p:cNvPr id="28" name="CasellaDiTesto 27">
            <a:extLst>
              <a:ext uri="{FF2B5EF4-FFF2-40B4-BE49-F238E27FC236}">
                <a16:creationId xmlns:a16="http://schemas.microsoft.com/office/drawing/2014/main" id="{B60CE6CA-5C12-F9D4-050A-A18618A9F37D}"/>
              </a:ext>
            </a:extLst>
          </p:cNvPr>
          <p:cNvSpPr txBox="1"/>
          <p:nvPr/>
        </p:nvSpPr>
        <p:spPr>
          <a:xfrm>
            <a:off x="7045063" y="902964"/>
            <a:ext cx="558166" cy="276999"/>
          </a:xfrm>
          <a:custGeom>
            <a:avLst/>
            <a:gdLst>
              <a:gd name="connsiteX0" fmla="*/ 0 w 558166"/>
              <a:gd name="connsiteY0" fmla="*/ 0 h 276999"/>
              <a:gd name="connsiteX1" fmla="*/ 558166 w 558166"/>
              <a:gd name="connsiteY1" fmla="*/ 0 h 276999"/>
              <a:gd name="connsiteX2" fmla="*/ 558166 w 558166"/>
              <a:gd name="connsiteY2" fmla="*/ 276999 h 276999"/>
              <a:gd name="connsiteX3" fmla="*/ 0 w 558166"/>
              <a:gd name="connsiteY3" fmla="*/ 276999 h 276999"/>
              <a:gd name="connsiteX4" fmla="*/ 0 w 558166"/>
              <a:gd name="connsiteY4" fmla="*/ 0 h 276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58166" h="276999" fill="none" extrusionOk="0">
                <a:moveTo>
                  <a:pt x="0" y="0"/>
                </a:moveTo>
                <a:cubicBezTo>
                  <a:pt x="112578" y="-42736"/>
                  <a:pt x="330045" y="40077"/>
                  <a:pt x="558166" y="0"/>
                </a:cubicBezTo>
                <a:cubicBezTo>
                  <a:pt x="569126" y="109854"/>
                  <a:pt x="527518" y="219022"/>
                  <a:pt x="558166" y="276999"/>
                </a:cubicBezTo>
                <a:cubicBezTo>
                  <a:pt x="363621" y="302556"/>
                  <a:pt x="265985" y="242029"/>
                  <a:pt x="0" y="276999"/>
                </a:cubicBezTo>
                <a:cubicBezTo>
                  <a:pt x="-12769" y="168538"/>
                  <a:pt x="13287" y="65664"/>
                  <a:pt x="0" y="0"/>
                </a:cubicBezTo>
                <a:close/>
              </a:path>
              <a:path w="558166" h="276999" stroke="0" extrusionOk="0">
                <a:moveTo>
                  <a:pt x="0" y="0"/>
                </a:moveTo>
                <a:cubicBezTo>
                  <a:pt x="226056" y="-12974"/>
                  <a:pt x="415694" y="29882"/>
                  <a:pt x="558166" y="0"/>
                </a:cubicBezTo>
                <a:cubicBezTo>
                  <a:pt x="569007" y="100549"/>
                  <a:pt x="542185" y="219324"/>
                  <a:pt x="558166" y="276999"/>
                </a:cubicBezTo>
                <a:cubicBezTo>
                  <a:pt x="434106" y="289185"/>
                  <a:pt x="162003" y="247766"/>
                  <a:pt x="0" y="276999"/>
                </a:cubicBezTo>
                <a:cubicBezTo>
                  <a:pt x="-29237" y="187790"/>
                  <a:pt x="11007" y="74165"/>
                  <a:pt x="0" y="0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361963016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it-IT" sz="1200" dirty="0"/>
              <a:t>Chart</a:t>
            </a:r>
          </a:p>
        </p:txBody>
      </p:sp>
      <p:sp>
        <p:nvSpPr>
          <p:cNvPr id="30" name="Rettangolo 29">
            <a:extLst>
              <a:ext uri="{FF2B5EF4-FFF2-40B4-BE49-F238E27FC236}">
                <a16:creationId xmlns:a16="http://schemas.microsoft.com/office/drawing/2014/main" id="{75E2FD1B-6916-48C7-3605-0B5131927C84}"/>
              </a:ext>
            </a:extLst>
          </p:cNvPr>
          <p:cNvSpPr/>
          <p:nvPr/>
        </p:nvSpPr>
        <p:spPr>
          <a:xfrm>
            <a:off x="3294043" y="1861399"/>
            <a:ext cx="373539" cy="374427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600" dirty="0">
                <a:solidFill>
                  <a:schemeClr val="tx1"/>
                </a:solidFill>
              </a:rPr>
              <a:t>TOO</a:t>
            </a:r>
          </a:p>
          <a:p>
            <a:pPr algn="ctr"/>
            <a:r>
              <a:rPr lang="it-IT" sz="1600" dirty="0">
                <a:solidFill>
                  <a:schemeClr val="tx1"/>
                </a:solidFill>
              </a:rPr>
              <a:t>L</a:t>
            </a:r>
          </a:p>
          <a:p>
            <a:pPr algn="ctr"/>
            <a:r>
              <a:rPr lang="it-IT" sz="1600" dirty="0">
                <a:solidFill>
                  <a:schemeClr val="tx1"/>
                </a:solidFill>
              </a:rPr>
              <a:t>BA</a:t>
            </a:r>
          </a:p>
          <a:p>
            <a:pPr algn="ctr"/>
            <a:r>
              <a:rPr lang="it-IT" sz="1600" dirty="0">
                <a:solidFill>
                  <a:schemeClr val="tx1"/>
                </a:solidFill>
              </a:rPr>
              <a:t>R</a:t>
            </a:r>
          </a:p>
        </p:txBody>
      </p:sp>
      <p:sp>
        <p:nvSpPr>
          <p:cNvPr id="31" name="Rettangolo 30">
            <a:extLst>
              <a:ext uri="{FF2B5EF4-FFF2-40B4-BE49-F238E27FC236}">
                <a16:creationId xmlns:a16="http://schemas.microsoft.com/office/drawing/2014/main" id="{D19F0BF7-C3AB-E13E-FCBC-1E2E9981303E}"/>
              </a:ext>
            </a:extLst>
          </p:cNvPr>
          <p:cNvSpPr/>
          <p:nvPr/>
        </p:nvSpPr>
        <p:spPr>
          <a:xfrm>
            <a:off x="9391879" y="5989068"/>
            <a:ext cx="1555214" cy="313649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600" dirty="0">
                <a:solidFill>
                  <a:schemeClr val="tx1"/>
                </a:solidFill>
              </a:rPr>
              <a:t>ZOOMBAR</a:t>
            </a:r>
          </a:p>
        </p:txBody>
      </p:sp>
      <p:sp>
        <p:nvSpPr>
          <p:cNvPr id="32" name="Rettangolo 31">
            <a:extLst>
              <a:ext uri="{FF2B5EF4-FFF2-40B4-BE49-F238E27FC236}">
                <a16:creationId xmlns:a16="http://schemas.microsoft.com/office/drawing/2014/main" id="{4586C08D-5898-9436-E83B-FBE7EAD0192E}"/>
              </a:ext>
            </a:extLst>
          </p:cNvPr>
          <p:cNvSpPr/>
          <p:nvPr/>
        </p:nvSpPr>
        <p:spPr>
          <a:xfrm>
            <a:off x="3294043" y="866314"/>
            <a:ext cx="2626788" cy="313649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600" dirty="0">
                <a:solidFill>
                  <a:schemeClr val="tx1"/>
                </a:solidFill>
              </a:rPr>
              <a:t>WS + SAVE + UNDO/REDO</a:t>
            </a:r>
          </a:p>
        </p:txBody>
      </p:sp>
      <p:sp>
        <p:nvSpPr>
          <p:cNvPr id="34" name="Rettangolo 33">
            <a:extLst>
              <a:ext uri="{FF2B5EF4-FFF2-40B4-BE49-F238E27FC236}">
                <a16:creationId xmlns:a16="http://schemas.microsoft.com/office/drawing/2014/main" id="{0F0AA2C6-CB9E-DE5F-3DF0-A52C2903FA7D}"/>
              </a:ext>
            </a:extLst>
          </p:cNvPr>
          <p:cNvSpPr/>
          <p:nvPr/>
        </p:nvSpPr>
        <p:spPr>
          <a:xfrm>
            <a:off x="9391879" y="902964"/>
            <a:ext cx="1555214" cy="313649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600" dirty="0">
                <a:solidFill>
                  <a:schemeClr val="tx1"/>
                </a:solidFill>
              </a:rPr>
              <a:t>USER</a:t>
            </a:r>
          </a:p>
        </p:txBody>
      </p:sp>
      <p:sp>
        <p:nvSpPr>
          <p:cNvPr id="35" name="CasellaDiTesto 34">
            <a:extLst>
              <a:ext uri="{FF2B5EF4-FFF2-40B4-BE49-F238E27FC236}">
                <a16:creationId xmlns:a16="http://schemas.microsoft.com/office/drawing/2014/main" id="{93E60051-54A1-6FC2-DD99-9602CE68A83E}"/>
              </a:ext>
            </a:extLst>
          </p:cNvPr>
          <p:cNvSpPr txBox="1"/>
          <p:nvPr/>
        </p:nvSpPr>
        <p:spPr>
          <a:xfrm>
            <a:off x="211464" y="92800"/>
            <a:ext cx="202209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2800" dirty="0"/>
              <a:t>Integra GUI:</a:t>
            </a:r>
          </a:p>
        </p:txBody>
      </p:sp>
    </p:spTree>
    <p:extLst>
      <p:ext uri="{BB962C8B-B14F-4D97-AF65-F5344CB8AC3E}">
        <p14:creationId xmlns:p14="http://schemas.microsoft.com/office/powerpoint/2010/main" val="40341996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51B9A0-D38B-8A27-41C7-0FAC4ACB67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CasellaDiTesto 34">
            <a:extLst>
              <a:ext uri="{FF2B5EF4-FFF2-40B4-BE49-F238E27FC236}">
                <a16:creationId xmlns:a16="http://schemas.microsoft.com/office/drawing/2014/main" id="{C951CFD7-3E3F-36C8-88CE-33BB0B3D04F3}"/>
              </a:ext>
            </a:extLst>
          </p:cNvPr>
          <p:cNvSpPr txBox="1"/>
          <p:nvPr/>
        </p:nvSpPr>
        <p:spPr>
          <a:xfrm>
            <a:off x="211464" y="92800"/>
            <a:ext cx="376474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2800" dirty="0"/>
              <a:t>General </a:t>
            </a:r>
            <a:r>
              <a:rPr lang="it-IT" sz="2800" dirty="0" err="1"/>
              <a:t>Requirements</a:t>
            </a:r>
            <a:r>
              <a:rPr lang="it-IT" sz="2800" dirty="0"/>
              <a:t>: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D7D1777F-44F6-FF77-BAE2-680AD70083E9}"/>
              </a:ext>
            </a:extLst>
          </p:cNvPr>
          <p:cNvSpPr txBox="1"/>
          <p:nvPr/>
        </p:nvSpPr>
        <p:spPr>
          <a:xfrm>
            <a:off x="211464" y="649994"/>
            <a:ext cx="1163166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it-IT" sz="1600" dirty="0" err="1"/>
              <a:t>Simulation</a:t>
            </a:r>
            <a:r>
              <a:rPr lang="it-IT" sz="1600" dirty="0"/>
              <a:t> </a:t>
            </a:r>
            <a:r>
              <a:rPr lang="it-IT" sz="1600" dirty="0" err="1"/>
              <a:t>Locker</a:t>
            </a:r>
            <a:r>
              <a:rPr lang="it-IT" sz="1600" dirty="0"/>
              <a:t> to </a:t>
            </a:r>
            <a:r>
              <a:rPr lang="it-IT" sz="1600" dirty="0" err="1"/>
              <a:t>avoid</a:t>
            </a:r>
            <a:r>
              <a:rPr lang="it-IT" sz="1600" dirty="0"/>
              <a:t> the </a:t>
            </a:r>
            <a:r>
              <a:rPr lang="it-IT" sz="1600" dirty="0" err="1"/>
              <a:t>same</a:t>
            </a:r>
            <a:r>
              <a:rPr lang="it-IT" sz="1600" dirty="0"/>
              <a:t> user to </a:t>
            </a:r>
            <a:r>
              <a:rPr lang="it-IT" sz="1600" dirty="0" err="1"/>
              <a:t>run</a:t>
            </a:r>
            <a:r>
              <a:rPr lang="it-IT" sz="1600" dirty="0"/>
              <a:t> more </a:t>
            </a:r>
            <a:r>
              <a:rPr lang="it-IT" sz="1600" dirty="0" err="1"/>
              <a:t>than</a:t>
            </a:r>
            <a:r>
              <a:rPr lang="it-IT" sz="1600" dirty="0"/>
              <a:t> one </a:t>
            </a:r>
            <a:r>
              <a:rPr lang="it-IT" sz="1600" dirty="0" err="1"/>
              <a:t>simulation</a:t>
            </a:r>
            <a:r>
              <a:rPr lang="it-IT" sz="1600" dirty="0"/>
              <a:t>.</a:t>
            </a:r>
          </a:p>
          <a:p>
            <a:pPr marL="342900" indent="-342900">
              <a:buFont typeface="+mj-lt"/>
              <a:buAutoNum type="arabicPeriod"/>
            </a:pPr>
            <a:r>
              <a:rPr lang="it-IT" sz="1600" dirty="0"/>
              <a:t>No </a:t>
            </a:r>
            <a:r>
              <a:rPr lang="it-IT" sz="1600" dirty="0" err="1"/>
              <a:t>simulations</a:t>
            </a:r>
            <a:r>
              <a:rPr lang="it-IT" sz="1600" dirty="0"/>
              <a:t> on Android</a:t>
            </a:r>
          </a:p>
        </p:txBody>
      </p:sp>
    </p:spTree>
    <p:extLst>
      <p:ext uri="{BB962C8B-B14F-4D97-AF65-F5344CB8AC3E}">
        <p14:creationId xmlns:p14="http://schemas.microsoft.com/office/powerpoint/2010/main" val="33726669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2C23F5-34BE-81FD-6431-3E6BFFD073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CasellaDiTesto 34">
            <a:extLst>
              <a:ext uri="{FF2B5EF4-FFF2-40B4-BE49-F238E27FC236}">
                <a16:creationId xmlns:a16="http://schemas.microsoft.com/office/drawing/2014/main" id="{C72A9A9E-302D-5937-8D72-4410D613C719}"/>
              </a:ext>
            </a:extLst>
          </p:cNvPr>
          <p:cNvSpPr txBox="1"/>
          <p:nvPr/>
        </p:nvSpPr>
        <p:spPr>
          <a:xfrm>
            <a:off x="211464" y="92800"/>
            <a:ext cx="405970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2800" dirty="0"/>
              <a:t>Front-end </a:t>
            </a:r>
            <a:r>
              <a:rPr lang="it-IT" sz="2800" dirty="0" err="1"/>
              <a:t>Requirements</a:t>
            </a:r>
            <a:r>
              <a:rPr lang="it-IT" sz="2800" dirty="0"/>
              <a:t>: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0C5C043E-7835-B618-38F6-F3CB5ABFE100}"/>
              </a:ext>
            </a:extLst>
          </p:cNvPr>
          <p:cNvSpPr txBox="1"/>
          <p:nvPr/>
        </p:nvSpPr>
        <p:spPr>
          <a:xfrm>
            <a:off x="211464" y="649994"/>
            <a:ext cx="11631669" cy="42780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it-IT" sz="1600" dirty="0"/>
              <a:t>GUI </a:t>
            </a:r>
            <a:r>
              <a:rPr lang="it-IT" sz="1600" dirty="0" err="1"/>
              <a:t>chatGPT</a:t>
            </a:r>
            <a:r>
              <a:rPr lang="it-IT" sz="1600" dirty="0"/>
              <a:t> like </a:t>
            </a:r>
            <a:r>
              <a:rPr lang="it-IT" sz="1600" dirty="0" err="1"/>
              <a:t>where</a:t>
            </a:r>
            <a:r>
              <a:rPr lang="it-IT" sz="1600" dirty="0"/>
              <a:t>:</a:t>
            </a:r>
          </a:p>
          <a:p>
            <a:pPr marL="800100" lvl="1" indent="-342900">
              <a:buFont typeface="+mj-lt"/>
              <a:buAutoNum type="arabicPeriod"/>
            </a:pPr>
            <a:r>
              <a:rPr lang="it-IT" sz="1600" dirty="0"/>
              <a:t>The chats are </a:t>
            </a:r>
            <a:r>
              <a:rPr lang="it-IT" sz="1600" dirty="0" err="1"/>
              <a:t>actually</a:t>
            </a:r>
            <a:r>
              <a:rPr lang="it-IT" sz="1600" dirty="0"/>
              <a:t> the Board</a:t>
            </a:r>
          </a:p>
          <a:p>
            <a:pPr marL="800100" lvl="1" indent="-342900">
              <a:buFont typeface="+mj-lt"/>
              <a:buAutoNum type="arabicPeriod"/>
            </a:pPr>
            <a:r>
              <a:rPr lang="it-IT" sz="1600" dirty="0"/>
              <a:t>The </a:t>
            </a:r>
            <a:r>
              <a:rPr lang="it-IT" sz="1600" dirty="0" err="1"/>
              <a:t>GPTs</a:t>
            </a:r>
            <a:r>
              <a:rPr lang="it-IT" sz="1600" dirty="0"/>
              <a:t> are </a:t>
            </a:r>
            <a:r>
              <a:rPr lang="it-IT" sz="1600" dirty="0" err="1"/>
              <a:t>actually</a:t>
            </a:r>
            <a:r>
              <a:rPr lang="it-IT" sz="1600" dirty="0"/>
              <a:t> the Apps</a:t>
            </a:r>
          </a:p>
          <a:p>
            <a:pPr marL="800100" lvl="1" indent="-342900">
              <a:buFont typeface="+mj-lt"/>
              <a:buAutoNum type="arabicPeriod"/>
            </a:pPr>
            <a:r>
              <a:rPr lang="it-IT" sz="1600" dirty="0" err="1"/>
              <a:t>Includes</a:t>
            </a:r>
            <a:r>
              <a:rPr lang="it-IT" sz="1600" dirty="0"/>
              <a:t> </a:t>
            </a:r>
            <a:r>
              <a:rPr lang="it-IT" sz="1600" dirty="0" err="1"/>
              <a:t>also</a:t>
            </a:r>
            <a:r>
              <a:rPr lang="it-IT" sz="1600" dirty="0"/>
              <a:t> Data items</a:t>
            </a:r>
          </a:p>
          <a:p>
            <a:pPr marL="800100" lvl="1" indent="-342900">
              <a:buFont typeface="+mj-lt"/>
              <a:buAutoNum type="arabicPeriod"/>
            </a:pPr>
            <a:r>
              <a:rPr lang="it-IT" sz="1600" dirty="0" err="1"/>
              <a:t>Includes</a:t>
            </a:r>
            <a:r>
              <a:rPr lang="it-IT" sz="1600" dirty="0"/>
              <a:t> </a:t>
            </a:r>
            <a:r>
              <a:rPr lang="it-IT" sz="1600" dirty="0" err="1"/>
              <a:t>also</a:t>
            </a:r>
            <a:r>
              <a:rPr lang="it-IT" sz="1600" dirty="0"/>
              <a:t> Dataset items</a:t>
            </a:r>
          </a:p>
          <a:p>
            <a:pPr marL="800100" lvl="1" indent="-342900">
              <a:buFont typeface="+mj-lt"/>
              <a:buAutoNum type="arabicPeriod"/>
            </a:pPr>
            <a:r>
              <a:rPr lang="it-IT" sz="1600" dirty="0" err="1"/>
              <a:t>Includes</a:t>
            </a:r>
            <a:r>
              <a:rPr lang="it-IT" sz="1600" dirty="0"/>
              <a:t> </a:t>
            </a:r>
            <a:r>
              <a:rPr lang="it-IT" sz="1600" dirty="0" err="1"/>
              <a:t>aslo</a:t>
            </a:r>
            <a:r>
              <a:rPr lang="it-IT" sz="1600" dirty="0"/>
              <a:t> Library items</a:t>
            </a:r>
          </a:p>
          <a:p>
            <a:pPr marL="800100" lvl="1" indent="-342900">
              <a:buFont typeface="+mj-lt"/>
              <a:buAutoNum type="arabicPeriod"/>
            </a:pPr>
            <a:r>
              <a:rPr lang="it-IT" sz="1600" dirty="0" err="1"/>
              <a:t>Includes</a:t>
            </a:r>
            <a:r>
              <a:rPr lang="it-IT" sz="1600" dirty="0"/>
              <a:t> </a:t>
            </a:r>
            <a:r>
              <a:rPr lang="it-IT" sz="1600" dirty="0" err="1"/>
              <a:t>also</a:t>
            </a:r>
            <a:r>
              <a:rPr lang="it-IT" sz="1600" dirty="0"/>
              <a:t> Template items</a:t>
            </a:r>
          </a:p>
          <a:p>
            <a:pPr marL="800100" lvl="1" indent="-342900">
              <a:buFont typeface="+mj-lt"/>
              <a:buAutoNum type="arabicPeriod"/>
            </a:pPr>
            <a:r>
              <a:rPr lang="it-IT" sz="1600" dirty="0"/>
              <a:t>Include </a:t>
            </a:r>
            <a:r>
              <a:rPr lang="it-IT" sz="1600" dirty="0" err="1"/>
              <a:t>also</a:t>
            </a:r>
            <a:r>
              <a:rPr lang="it-IT" sz="1600" dirty="0"/>
              <a:t> </a:t>
            </a:r>
            <a:r>
              <a:rPr lang="it-IT" sz="1600" dirty="0" err="1"/>
              <a:t>Whiteboard</a:t>
            </a:r>
            <a:r>
              <a:rPr lang="it-IT" sz="1600" dirty="0"/>
              <a:t> items</a:t>
            </a:r>
          </a:p>
          <a:p>
            <a:pPr marL="342900" indent="-342900">
              <a:buFont typeface="+mj-lt"/>
              <a:buAutoNum type="arabicPeriod"/>
            </a:pPr>
            <a:r>
              <a:rPr lang="it-IT" sz="1600" dirty="0"/>
              <a:t>Charts:</a:t>
            </a:r>
          </a:p>
          <a:p>
            <a:pPr marL="800100" lvl="1" indent="-342900">
              <a:buFont typeface="+mj-lt"/>
              <a:buAutoNum type="arabicPeriod"/>
            </a:pPr>
            <a:r>
              <a:rPr lang="it-IT" sz="1600" dirty="0"/>
              <a:t>Regular chart: 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it-IT" sz="1600" dirty="0" err="1"/>
              <a:t>already</a:t>
            </a:r>
            <a:r>
              <a:rPr lang="it-IT" sz="1600" dirty="0"/>
              <a:t> </a:t>
            </a:r>
            <a:r>
              <a:rPr lang="it-IT" sz="1600" dirty="0" err="1"/>
              <a:t>integrated</a:t>
            </a:r>
            <a:r>
              <a:rPr lang="it-IT" sz="1600" dirty="0"/>
              <a:t> inside </a:t>
            </a:r>
            <a:r>
              <a:rPr lang="it-IT" sz="1600" dirty="0" err="1"/>
              <a:t>each</a:t>
            </a:r>
            <a:r>
              <a:rPr lang="it-IT" sz="1600" dirty="0"/>
              <a:t> single Board</a:t>
            </a:r>
          </a:p>
          <a:p>
            <a:pPr marL="800100" lvl="1" indent="-342900">
              <a:buFont typeface="+mj-lt"/>
              <a:buAutoNum type="arabicPeriod"/>
            </a:pPr>
            <a:r>
              <a:rPr lang="it-IT" sz="1600" dirty="0" err="1"/>
              <a:t>Whiteboard</a:t>
            </a:r>
            <a:r>
              <a:rPr lang="it-IT" sz="1600" dirty="0"/>
              <a:t>: 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it-IT" sz="1600" dirty="0"/>
              <a:t>a </a:t>
            </a:r>
            <a:r>
              <a:rPr lang="it-IT" sz="1600" dirty="0" err="1"/>
              <a:t>dedicted</a:t>
            </a:r>
            <a:r>
              <a:rPr lang="it-IT" sz="1600" dirty="0"/>
              <a:t> item in editor and </a:t>
            </a:r>
            <a:r>
              <a:rPr lang="it-IT" sz="1600" dirty="0" err="1"/>
              <a:t>where</a:t>
            </a:r>
            <a:r>
              <a:rPr lang="it-IT" sz="1600" dirty="0"/>
              <a:t> the user can </a:t>
            </a:r>
            <a:r>
              <a:rPr lang="it-IT" sz="1600" dirty="0" err="1"/>
              <a:t>add</a:t>
            </a:r>
            <a:r>
              <a:rPr lang="it-IT" sz="1600" dirty="0"/>
              <a:t> dataset or </a:t>
            </a:r>
            <a:r>
              <a:rPr lang="it-IT" sz="1600" dirty="0" err="1"/>
              <a:t>visualize</a:t>
            </a:r>
            <a:r>
              <a:rPr lang="it-IT" sz="1600" dirty="0"/>
              <a:t> </a:t>
            </a:r>
            <a:r>
              <a:rPr lang="it-IT" sz="1600" dirty="0" err="1"/>
              <a:t>existing</a:t>
            </a:r>
            <a:r>
              <a:rPr lang="it-IT" sz="1600" dirty="0"/>
              <a:t> dataset.</a:t>
            </a:r>
          </a:p>
          <a:p>
            <a:pPr marL="342900" indent="-342900">
              <a:buFont typeface="+mj-lt"/>
              <a:buAutoNum type="arabicPeriod"/>
            </a:pPr>
            <a:r>
              <a:rPr lang="it-IT" sz="1600" dirty="0"/>
              <a:t>Memory </a:t>
            </a:r>
            <a:r>
              <a:rPr lang="it-IT" sz="1600" dirty="0" err="1"/>
              <a:t>optimization</a:t>
            </a:r>
            <a:r>
              <a:rPr lang="it-IT" sz="1600" dirty="0"/>
              <a:t>:</a:t>
            </a:r>
          </a:p>
          <a:p>
            <a:pPr marL="800100" lvl="1" indent="-342900">
              <a:buFont typeface="+mj-lt"/>
              <a:buAutoNum type="arabicPeriod"/>
            </a:pPr>
            <a:r>
              <a:rPr lang="it-IT" sz="1600" dirty="0" err="1"/>
              <a:t>saving</a:t>
            </a:r>
            <a:r>
              <a:rPr lang="it-IT" sz="1600" dirty="0"/>
              <a:t> </a:t>
            </a:r>
            <a:r>
              <a:rPr lang="it-IT" sz="1600" dirty="0" err="1"/>
              <a:t>netlists</a:t>
            </a:r>
            <a:r>
              <a:rPr lang="it-IT" sz="1600" dirty="0"/>
              <a:t> and </a:t>
            </a:r>
            <a:r>
              <a:rPr lang="it-IT" sz="1600" dirty="0" err="1"/>
              <a:t>results</a:t>
            </a:r>
            <a:r>
              <a:rPr lang="it-IT" sz="1600" dirty="0"/>
              <a:t> on </a:t>
            </a:r>
            <a:r>
              <a:rPr lang="it-IT" sz="1600" dirty="0" err="1"/>
              <a:t>indexedDB</a:t>
            </a:r>
            <a:endParaRPr lang="it-IT" sz="1600" dirty="0"/>
          </a:p>
          <a:p>
            <a:pPr marL="800100" lvl="1" indent="-342900">
              <a:buFont typeface="+mj-lt"/>
              <a:buAutoNum type="arabicPeriod"/>
            </a:pPr>
            <a:r>
              <a:rPr lang="it-IT" sz="1600" dirty="0"/>
              <a:t>One </a:t>
            </a:r>
            <a:r>
              <a:rPr lang="it-IT" sz="1600" dirty="0" err="1"/>
              <a:t>circuit</a:t>
            </a:r>
            <a:r>
              <a:rPr lang="it-IT" sz="1600" dirty="0"/>
              <a:t> can be </a:t>
            </a:r>
            <a:r>
              <a:rPr lang="it-IT" sz="1600" dirty="0" err="1"/>
              <a:t>plotted</a:t>
            </a:r>
            <a:r>
              <a:rPr lang="it-IT" sz="1600" dirty="0"/>
              <a:t> </a:t>
            </a:r>
            <a:r>
              <a:rPr lang="it-IT" sz="1600" dirty="0" err="1"/>
              <a:t>at</a:t>
            </a:r>
            <a:r>
              <a:rPr lang="it-IT" sz="1600" dirty="0"/>
              <a:t> the time and </a:t>
            </a:r>
            <a:r>
              <a:rPr lang="it-IT" sz="1600" dirty="0" err="1"/>
              <a:t>any</a:t>
            </a:r>
            <a:r>
              <a:rPr lang="it-IT" sz="1600" dirty="0"/>
              <a:t> time </a:t>
            </a:r>
            <a:r>
              <a:rPr lang="it-IT" sz="1600" dirty="0" err="1"/>
              <a:t>it</a:t>
            </a:r>
            <a:r>
              <a:rPr lang="it-IT" sz="1600" dirty="0"/>
              <a:t> </a:t>
            </a:r>
            <a:r>
              <a:rPr lang="it-IT" sz="1600" dirty="0" err="1"/>
              <a:t>is</a:t>
            </a:r>
            <a:r>
              <a:rPr lang="it-IT" sz="1600" dirty="0"/>
              <a:t> </a:t>
            </a:r>
            <a:r>
              <a:rPr lang="it-IT" sz="1600" dirty="0" err="1"/>
              <a:t>reloaded</a:t>
            </a:r>
            <a:r>
              <a:rPr lang="it-IT" sz="1600" dirty="0"/>
              <a:t> from the storage</a:t>
            </a:r>
          </a:p>
          <a:p>
            <a:pPr marL="800100" lvl="1" indent="-342900">
              <a:buFont typeface="+mj-lt"/>
              <a:buAutoNum type="arabicPeriod"/>
            </a:pPr>
            <a:r>
              <a:rPr lang="it-IT" sz="1600" dirty="0"/>
              <a:t>One chart or </a:t>
            </a:r>
            <a:r>
              <a:rPr lang="it-IT" sz="1600" dirty="0" err="1"/>
              <a:t>whiteboard</a:t>
            </a:r>
            <a:r>
              <a:rPr lang="it-IT" sz="1600" dirty="0"/>
              <a:t> (global charts</a:t>
            </a:r>
            <a:r>
              <a:rPr lang="it-IT" sz="1600" dirty="0">
                <a:highlight>
                  <a:srgbClr val="FFFF00"/>
                </a:highlight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9457302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8A85B9-C16D-0AC5-9455-32B84CD288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CasellaDiTesto 34">
            <a:extLst>
              <a:ext uri="{FF2B5EF4-FFF2-40B4-BE49-F238E27FC236}">
                <a16:creationId xmlns:a16="http://schemas.microsoft.com/office/drawing/2014/main" id="{81666CE8-9402-696E-DEA0-10866490E63E}"/>
              </a:ext>
            </a:extLst>
          </p:cNvPr>
          <p:cNvSpPr txBox="1"/>
          <p:nvPr/>
        </p:nvSpPr>
        <p:spPr>
          <a:xfrm>
            <a:off x="211464" y="92800"/>
            <a:ext cx="35042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2800" dirty="0"/>
              <a:t>Solver </a:t>
            </a:r>
            <a:r>
              <a:rPr lang="it-IT" sz="2800" dirty="0" err="1"/>
              <a:t>Requirements</a:t>
            </a:r>
            <a:r>
              <a:rPr lang="it-IT" sz="2800" dirty="0"/>
              <a:t>: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EFD2F64A-A470-501B-2720-323833E13007}"/>
              </a:ext>
            </a:extLst>
          </p:cNvPr>
          <p:cNvSpPr txBox="1"/>
          <p:nvPr/>
        </p:nvSpPr>
        <p:spPr>
          <a:xfrm>
            <a:off x="211465" y="649994"/>
            <a:ext cx="8856336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it-IT" sz="1600" dirty="0"/>
              <a:t>WASM </a:t>
            </a:r>
            <a:r>
              <a:rPr lang="it-IT" sz="1600" dirty="0" err="1"/>
              <a:t>based</a:t>
            </a:r>
            <a:endParaRPr lang="it-IT" sz="1600" dirty="0"/>
          </a:p>
          <a:p>
            <a:pPr marL="342900" indent="-342900">
              <a:buFont typeface="+mj-lt"/>
              <a:buAutoNum type="arabicPeriod"/>
            </a:pPr>
            <a:r>
              <a:rPr lang="it-IT" sz="1600" dirty="0" err="1"/>
              <a:t>GPUs</a:t>
            </a:r>
            <a:r>
              <a:rPr lang="it-IT" sz="1600" dirty="0"/>
              <a:t> </a:t>
            </a:r>
            <a:r>
              <a:rPr lang="it-IT" sz="1600" dirty="0" err="1"/>
              <a:t>based</a:t>
            </a:r>
            <a:r>
              <a:rPr lang="it-IT" sz="1600" dirty="0"/>
              <a:t> for heavy </a:t>
            </a:r>
            <a:r>
              <a:rPr lang="it-IT" sz="1600" dirty="0" err="1"/>
              <a:t>algorithms</a:t>
            </a:r>
            <a:endParaRPr lang="it-IT" sz="1600" dirty="0"/>
          </a:p>
          <a:p>
            <a:pPr marL="342900" indent="-342900">
              <a:buFont typeface="+mj-lt"/>
              <a:buAutoNum type="arabicPeriod"/>
            </a:pPr>
            <a:r>
              <a:rPr lang="it-IT" sz="1600" dirty="0"/>
              <a:t>Goal: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it-IT" sz="1600" dirty="0" err="1"/>
              <a:t>designed</a:t>
            </a:r>
            <a:r>
              <a:rPr lang="it-IT" sz="1600" dirty="0"/>
              <a:t> to </a:t>
            </a:r>
            <a:r>
              <a:rPr lang="it-IT" sz="1600" dirty="0" err="1"/>
              <a:t>minimize</a:t>
            </a:r>
            <a:r>
              <a:rPr lang="it-IT" sz="1600" dirty="0"/>
              <a:t> the WASM </a:t>
            </a:r>
            <a:r>
              <a:rPr lang="it-IT" sz="1600" dirty="0" err="1"/>
              <a:t>memory</a:t>
            </a:r>
            <a:endParaRPr lang="it-IT" sz="1600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it-IT" sz="1600" dirty="0" err="1"/>
              <a:t>Chuncking</a:t>
            </a:r>
            <a:r>
              <a:rPr lang="it-IT" sz="1600" dirty="0"/>
              <a:t> the data in a smart way to </a:t>
            </a:r>
            <a:r>
              <a:rPr lang="it-IT" sz="1600" dirty="0" err="1"/>
              <a:t>minimize</a:t>
            </a:r>
            <a:r>
              <a:rPr lang="it-IT" sz="1600" dirty="0"/>
              <a:t> </a:t>
            </a:r>
            <a:r>
              <a:rPr lang="it-IT" sz="1600" dirty="0" err="1"/>
              <a:t>both</a:t>
            </a:r>
            <a:r>
              <a:rPr lang="it-IT" sz="1600" dirty="0"/>
              <a:t> WASM and GPU </a:t>
            </a:r>
            <a:r>
              <a:rPr lang="it-IT" sz="1600" dirty="0" err="1"/>
              <a:t>memory</a:t>
            </a:r>
            <a:endParaRPr lang="it-IT" sz="1600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it-IT" sz="1600" dirty="0" err="1"/>
              <a:t>Chunckng</a:t>
            </a:r>
            <a:r>
              <a:rPr lang="it-IT" sz="1600" dirty="0"/>
              <a:t> </a:t>
            </a:r>
            <a:r>
              <a:rPr lang="it-IT" sz="1600" dirty="0" err="1"/>
              <a:t>based</a:t>
            </a:r>
            <a:r>
              <a:rPr lang="it-IT" sz="1600" dirty="0"/>
              <a:t> on </a:t>
            </a:r>
            <a:r>
              <a:rPr lang="it-IT" sz="1600" dirty="0" err="1"/>
              <a:t>available</a:t>
            </a:r>
            <a:r>
              <a:rPr lang="it-IT" sz="1600" dirty="0"/>
              <a:t> </a:t>
            </a:r>
            <a:r>
              <a:rPr lang="it-IT" sz="1600" dirty="0" err="1"/>
              <a:t>memory</a:t>
            </a:r>
            <a:r>
              <a:rPr lang="it-IT" sz="1600" dirty="0"/>
              <a:t> and </a:t>
            </a:r>
            <a:r>
              <a:rPr lang="it-IT" sz="1600" dirty="0" err="1"/>
              <a:t>total</a:t>
            </a:r>
            <a:r>
              <a:rPr lang="it-IT" sz="1600" dirty="0"/>
              <a:t> </a:t>
            </a:r>
            <a:r>
              <a:rPr lang="it-IT" sz="1600" dirty="0" err="1"/>
              <a:t>memory</a:t>
            </a:r>
            <a:r>
              <a:rPr lang="it-IT" sz="1600" dirty="0"/>
              <a:t> on </a:t>
            </a:r>
            <a:r>
              <a:rPr lang="it-IT" sz="1600" dirty="0" err="1"/>
              <a:t>broser</a:t>
            </a:r>
            <a:endParaRPr lang="it-IT" sz="1600" dirty="0"/>
          </a:p>
          <a:p>
            <a:pPr marL="342900" indent="-342900">
              <a:buFont typeface="+mj-lt"/>
              <a:buAutoNum type="arabicPeriod"/>
            </a:pPr>
            <a:endParaRPr lang="it-IT" sz="1600" dirty="0"/>
          </a:p>
          <a:p>
            <a:pPr marL="342900" indent="-342900">
              <a:buFont typeface="+mj-lt"/>
              <a:buAutoNum type="arabicPeriod"/>
            </a:pPr>
            <a:endParaRPr lang="it-IT" sz="1600" dirty="0"/>
          </a:p>
          <a:p>
            <a:pPr marL="342900" indent="-342900">
              <a:buFont typeface="+mj-lt"/>
              <a:buAutoNum type="arabicPeriod"/>
            </a:pPr>
            <a:endParaRPr lang="it-IT" sz="1600" dirty="0"/>
          </a:p>
          <a:p>
            <a:pPr marL="342900" indent="-342900">
              <a:buFont typeface="+mj-lt"/>
              <a:buAutoNum type="arabicPeriod"/>
            </a:pPr>
            <a:endParaRPr lang="it-IT" sz="1600" dirty="0"/>
          </a:p>
          <a:p>
            <a:pPr marL="342900" indent="-342900">
              <a:buFont typeface="+mj-lt"/>
              <a:buAutoNum type="arabicPeriod"/>
            </a:pPr>
            <a:endParaRPr lang="it-IT" sz="1600" dirty="0"/>
          </a:p>
          <a:p>
            <a:pPr marL="342900" indent="-342900">
              <a:buFont typeface="+mj-lt"/>
              <a:buAutoNum type="arabicPeriod"/>
            </a:pPr>
            <a:endParaRPr lang="it-IT" sz="1600" dirty="0"/>
          </a:p>
          <a:p>
            <a:pPr marL="342900" indent="-342900">
              <a:buFont typeface="+mj-lt"/>
              <a:buAutoNum type="arabicPeriod"/>
            </a:pPr>
            <a:endParaRPr lang="it-IT" sz="1600" dirty="0"/>
          </a:p>
          <a:p>
            <a:pPr marL="342900" indent="-342900">
              <a:buFont typeface="+mj-lt"/>
              <a:buAutoNum type="arabicPeriod"/>
            </a:pPr>
            <a:endParaRPr lang="it-IT" sz="1600" dirty="0"/>
          </a:p>
          <a:p>
            <a:pPr marL="342900" indent="-342900">
              <a:buFont typeface="+mj-lt"/>
              <a:buAutoNum type="arabicPeriod"/>
            </a:pPr>
            <a:endParaRPr lang="it-IT" sz="1600" dirty="0"/>
          </a:p>
          <a:p>
            <a:pPr marL="342900" indent="-342900">
              <a:buFont typeface="+mj-lt"/>
              <a:buAutoNum type="arabicPeriod"/>
            </a:pPr>
            <a:endParaRPr lang="it-IT" sz="1600" dirty="0"/>
          </a:p>
          <a:p>
            <a:pPr marL="342900" indent="-342900">
              <a:buFont typeface="+mj-lt"/>
              <a:buAutoNum type="arabicPeriod"/>
            </a:pPr>
            <a:endParaRPr lang="it-IT" sz="1600" dirty="0"/>
          </a:p>
          <a:p>
            <a:pPr marL="342900" indent="-342900">
              <a:buFont typeface="+mj-lt"/>
              <a:buAutoNum type="arabicPeriod"/>
            </a:pPr>
            <a:endParaRPr lang="it-IT" sz="1600" dirty="0"/>
          </a:p>
          <a:p>
            <a:pPr marL="342900" indent="-342900">
              <a:buFont typeface="+mj-lt"/>
              <a:buAutoNum type="arabicPeriod"/>
            </a:pPr>
            <a:endParaRPr lang="it-IT" sz="1600" dirty="0"/>
          </a:p>
          <a:p>
            <a:pPr marL="342900" indent="-342900">
              <a:buFont typeface="+mj-lt"/>
              <a:buAutoNum type="arabicPeriod"/>
            </a:pPr>
            <a:endParaRPr lang="it-IT" sz="1600" dirty="0"/>
          </a:p>
          <a:p>
            <a:pPr marL="342900" indent="-342900">
              <a:buFont typeface="+mj-lt"/>
              <a:buAutoNum type="arabicPeriod"/>
            </a:pPr>
            <a:endParaRPr lang="it-IT" sz="1600" dirty="0"/>
          </a:p>
          <a:p>
            <a:pPr marL="342900" indent="-342900">
              <a:buFont typeface="+mj-lt"/>
              <a:buAutoNum type="arabicPeriod"/>
            </a:pPr>
            <a:endParaRPr lang="it-IT" sz="1600" dirty="0"/>
          </a:p>
          <a:p>
            <a:pPr marL="342900" indent="-342900">
              <a:buFont typeface="+mj-lt"/>
              <a:buAutoNum type="arabicPeriod"/>
            </a:pPr>
            <a:endParaRPr lang="it-IT" sz="1600" dirty="0"/>
          </a:p>
          <a:p>
            <a:pPr marL="342900" indent="-342900">
              <a:buFont typeface="+mj-lt"/>
              <a:buAutoNum type="arabicPeriod"/>
            </a:pPr>
            <a:endParaRPr lang="it-IT" sz="16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624A2CC-31AC-B580-61F3-003EB50C4FA0}"/>
              </a:ext>
            </a:extLst>
          </p:cNvPr>
          <p:cNvSpPr txBox="1"/>
          <p:nvPr/>
        </p:nvSpPr>
        <p:spPr>
          <a:xfrm>
            <a:off x="9201150" y="92800"/>
            <a:ext cx="2419350" cy="66941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100" b="1" dirty="0"/>
              <a:t>FOLDER STRUCTURE:</a:t>
            </a:r>
          </a:p>
          <a:p>
            <a:r>
              <a:rPr lang="it-IT" sz="1100" b="1" dirty="0"/>
              <a:t>integra-sim/</a:t>
            </a:r>
          </a:p>
          <a:p>
            <a:r>
              <a:rPr lang="it-IT" sz="1100" b="1" dirty="0"/>
              <a:t>  src/</a:t>
            </a:r>
          </a:p>
          <a:p>
            <a:r>
              <a:rPr lang="it-IT" sz="1100" dirty="0"/>
              <a:t>    lib.rs</a:t>
            </a:r>
          </a:p>
          <a:p>
            <a:r>
              <a:rPr lang="it-IT" sz="1100" dirty="0"/>
              <a:t>    </a:t>
            </a:r>
            <a:r>
              <a:rPr lang="it-IT" sz="1100" b="1" dirty="0"/>
              <a:t>protocol/</a:t>
            </a:r>
          </a:p>
          <a:p>
            <a:r>
              <a:rPr lang="it-IT" sz="1100" dirty="0"/>
              <a:t>      mod.rs</a:t>
            </a:r>
          </a:p>
          <a:p>
            <a:r>
              <a:rPr lang="it-IT" sz="1100" dirty="0"/>
              <a:t>      request.rs</a:t>
            </a:r>
          </a:p>
          <a:p>
            <a:r>
              <a:rPr lang="it-IT" sz="1100" dirty="0"/>
              <a:t>      response.rs</a:t>
            </a:r>
          </a:p>
          <a:p>
            <a:r>
              <a:rPr lang="it-IT" sz="1100" dirty="0"/>
              <a:t>      netlist.rs</a:t>
            </a:r>
          </a:p>
          <a:p>
            <a:r>
              <a:rPr lang="it-IT" sz="1100" dirty="0"/>
              <a:t>      dataset.rs</a:t>
            </a:r>
          </a:p>
          <a:p>
            <a:r>
              <a:rPr lang="it-IT" sz="1100" dirty="0"/>
              <a:t>      error.rs</a:t>
            </a:r>
          </a:p>
          <a:p>
            <a:r>
              <a:rPr lang="it-IT" sz="1100" dirty="0"/>
              <a:t>    </a:t>
            </a:r>
            <a:r>
              <a:rPr lang="it-IT" sz="1100" b="1" dirty="0"/>
              <a:t>core/</a:t>
            </a:r>
          </a:p>
          <a:p>
            <a:r>
              <a:rPr lang="it-IT" sz="1100" dirty="0"/>
              <a:t>      mod.rs</a:t>
            </a:r>
          </a:p>
          <a:p>
            <a:r>
              <a:rPr lang="it-IT" sz="1100" dirty="0"/>
              <a:t>      circuit.rs</a:t>
            </a:r>
          </a:p>
          <a:p>
            <a:r>
              <a:rPr lang="it-IT" sz="1100" dirty="0"/>
              <a:t>      element.rs</a:t>
            </a:r>
          </a:p>
          <a:p>
            <a:r>
              <a:rPr lang="it-IT" sz="1100" dirty="0"/>
              <a:t>      node.rs</a:t>
            </a:r>
          </a:p>
          <a:p>
            <a:r>
              <a:rPr lang="it-IT" sz="1100" dirty="0"/>
              <a:t>      analysis.rs</a:t>
            </a:r>
          </a:p>
          <a:p>
            <a:r>
              <a:rPr lang="it-IT" sz="1100" dirty="0"/>
              <a:t>    </a:t>
            </a:r>
            <a:r>
              <a:rPr lang="it-IT" sz="1100" b="1" dirty="0"/>
              <a:t>solvers/</a:t>
            </a:r>
          </a:p>
          <a:p>
            <a:r>
              <a:rPr lang="it-IT" sz="1100" dirty="0"/>
              <a:t>      mod.rs</a:t>
            </a:r>
          </a:p>
          <a:p>
            <a:r>
              <a:rPr lang="it-IT" sz="1100" dirty="0"/>
              <a:t>      rf_budget.rs</a:t>
            </a:r>
          </a:p>
          <a:p>
            <a:r>
              <a:rPr lang="it-IT" sz="1100" dirty="0"/>
              <a:t>      sparam.rs</a:t>
            </a:r>
          </a:p>
          <a:p>
            <a:r>
              <a:rPr lang="it-IT" sz="1100" dirty="0"/>
              <a:t>      acdc.rs</a:t>
            </a:r>
          </a:p>
          <a:p>
            <a:r>
              <a:rPr lang="it-IT" sz="1100" dirty="0"/>
              <a:t>      hb.rs</a:t>
            </a:r>
          </a:p>
          <a:p>
            <a:r>
              <a:rPr lang="it-IT" sz="1100" dirty="0"/>
              <a:t>      transient.rs</a:t>
            </a:r>
          </a:p>
          <a:p>
            <a:r>
              <a:rPr lang="it-IT" sz="1100" dirty="0"/>
              <a:t>      fdtd.rs</a:t>
            </a:r>
          </a:p>
          <a:p>
            <a:r>
              <a:rPr lang="it-IT" sz="1100" dirty="0"/>
              <a:t>    </a:t>
            </a:r>
            <a:r>
              <a:rPr lang="it-IT" sz="1100" b="1" dirty="0"/>
              <a:t>gpu/</a:t>
            </a:r>
          </a:p>
          <a:p>
            <a:r>
              <a:rPr lang="it-IT" sz="1100" dirty="0"/>
              <a:t>      mod.rs</a:t>
            </a:r>
          </a:p>
          <a:p>
            <a:r>
              <a:rPr lang="it-IT" sz="1100" dirty="0"/>
              <a:t>      fft.rs</a:t>
            </a:r>
          </a:p>
          <a:p>
            <a:r>
              <a:rPr lang="it-IT" sz="1100" dirty="0"/>
              <a:t>      fdtd_kernel.rs</a:t>
            </a:r>
          </a:p>
          <a:p>
            <a:r>
              <a:rPr lang="it-IT" sz="1100" b="1" dirty="0"/>
              <a:t>    import/</a:t>
            </a:r>
          </a:p>
          <a:p>
            <a:r>
              <a:rPr lang="it-IT" sz="1100" dirty="0"/>
              <a:t>      mod.rs</a:t>
            </a:r>
          </a:p>
          <a:p>
            <a:r>
              <a:rPr lang="it-IT" sz="1100" dirty="0"/>
              <a:t>      touchstone.rs</a:t>
            </a:r>
          </a:p>
          <a:p>
            <a:r>
              <a:rPr lang="it-IT" sz="1100" dirty="0"/>
              <a:t>      spice.rs</a:t>
            </a:r>
          </a:p>
          <a:p>
            <a:r>
              <a:rPr lang="it-IT" sz="1100" dirty="0"/>
              <a:t>      ibis.rs</a:t>
            </a:r>
          </a:p>
          <a:p>
            <a:r>
              <a:rPr lang="it-IT" sz="1100" dirty="0"/>
              <a:t>    dispatcher.rs</a:t>
            </a:r>
          </a:p>
          <a:p>
            <a:r>
              <a:rPr lang="it-IT" sz="1100" dirty="0"/>
              <a:t>    wasm_interface.rs</a:t>
            </a:r>
          </a:p>
          <a:p>
            <a:r>
              <a:rPr lang="it-IT" sz="1100" dirty="0"/>
              <a:t>    native_interface.rs</a:t>
            </a:r>
          </a:p>
          <a:p>
            <a:r>
              <a:rPr lang="it-IT" sz="1100" dirty="0"/>
              <a:t>    storage.rs</a:t>
            </a:r>
          </a:p>
        </p:txBody>
      </p:sp>
    </p:spTree>
    <p:extLst>
      <p:ext uri="{BB962C8B-B14F-4D97-AF65-F5344CB8AC3E}">
        <p14:creationId xmlns:p14="http://schemas.microsoft.com/office/powerpoint/2010/main" val="27500060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09E066-5697-9E51-975D-EA4B367964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CasellaDiTesto 34">
            <a:extLst>
              <a:ext uri="{FF2B5EF4-FFF2-40B4-BE49-F238E27FC236}">
                <a16:creationId xmlns:a16="http://schemas.microsoft.com/office/drawing/2014/main" id="{C340A552-B0B3-C053-F399-CF7AA3AE3FE3}"/>
              </a:ext>
            </a:extLst>
          </p:cNvPr>
          <p:cNvSpPr txBox="1"/>
          <p:nvPr/>
        </p:nvSpPr>
        <p:spPr>
          <a:xfrm>
            <a:off x="211464" y="92800"/>
            <a:ext cx="688278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2800" dirty="0"/>
              <a:t>Feature #1: JSON </a:t>
            </a:r>
            <a:r>
              <a:rPr lang="it-IT" sz="2800" dirty="0" err="1"/>
              <a:t>Communication</a:t>
            </a:r>
            <a:r>
              <a:rPr lang="it-IT" sz="2800" dirty="0"/>
              <a:t> </a:t>
            </a:r>
            <a:r>
              <a:rPr lang="it-IT" sz="2800" dirty="0" err="1"/>
              <a:t>Protocol</a:t>
            </a:r>
            <a:r>
              <a:rPr lang="it-IT" sz="2800" dirty="0"/>
              <a:t> 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737A948C-0CC2-B65A-05CC-AE847D0FF609}"/>
              </a:ext>
            </a:extLst>
          </p:cNvPr>
          <p:cNvSpPr txBox="1"/>
          <p:nvPr/>
        </p:nvSpPr>
        <p:spPr>
          <a:xfrm>
            <a:off x="0" y="616020"/>
            <a:ext cx="12192000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600" b="1" dirty="0" err="1"/>
              <a:t>Overview</a:t>
            </a:r>
            <a:r>
              <a:rPr lang="it-IT" sz="1600" b="1" dirty="0"/>
              <a:t>: </a:t>
            </a:r>
          </a:p>
          <a:p>
            <a:pPr marL="342900" indent="-342900">
              <a:buFont typeface="+mj-lt"/>
              <a:buAutoNum type="arabicPeriod"/>
            </a:pPr>
            <a:r>
              <a:rPr lang="it-IT" sz="1600" dirty="0"/>
              <a:t>For this feature we need to implement the communication protocol between front-end and wasm solver.</a:t>
            </a:r>
          </a:p>
          <a:p>
            <a:pPr marL="342900" indent="-342900">
              <a:buFont typeface="+mj-lt"/>
              <a:buAutoNum type="arabicPeriod"/>
            </a:pPr>
            <a:r>
              <a:rPr lang="it-IT" sz="1600" dirty="0"/>
              <a:t>The </a:t>
            </a:r>
            <a:r>
              <a:rPr lang="it-IT" sz="1600" dirty="0" err="1"/>
              <a:t>patter</a:t>
            </a:r>
            <a:r>
              <a:rPr lang="it-IT" sz="1600" dirty="0"/>
              <a:t> </a:t>
            </a:r>
            <a:r>
              <a:rPr lang="it-IT" sz="1600" dirty="0" err="1"/>
              <a:t>should</a:t>
            </a:r>
            <a:r>
              <a:rPr lang="it-IT" sz="1600" dirty="0"/>
              <a:t> be </a:t>
            </a:r>
            <a:r>
              <a:rPr lang="it-IT" sz="1600" dirty="0" err="1"/>
              <a:t>request</a:t>
            </a:r>
            <a:r>
              <a:rPr lang="it-IT" sz="1600" dirty="0"/>
              <a:t> </a:t>
            </a:r>
            <a:r>
              <a:rPr lang="it-IT" sz="1600" dirty="0" err="1"/>
              <a:t>response</a:t>
            </a:r>
            <a:r>
              <a:rPr lang="it-IT" sz="1600" dirty="0"/>
              <a:t> with payload. </a:t>
            </a:r>
          </a:p>
          <a:p>
            <a:pPr marL="342900" indent="-342900">
              <a:buFont typeface="+mj-lt"/>
              <a:buAutoNum type="arabicPeriod"/>
            </a:pPr>
            <a:r>
              <a:rPr lang="it-IT" sz="1600" dirty="0"/>
              <a:t>Different types of messages should be implemented as explained in the protocol_example.txt file attached.</a:t>
            </a:r>
          </a:p>
          <a:p>
            <a:pPr marL="342900" indent="-342900">
              <a:buFont typeface="+mj-lt"/>
              <a:buAutoNum type="arabicPeriod"/>
            </a:pPr>
            <a:r>
              <a:rPr lang="it-IT" sz="1600" dirty="0"/>
              <a:t> Each JSON should also specify the Id and the version.</a:t>
            </a:r>
          </a:p>
          <a:p>
            <a:pPr marL="342900" indent="-342900">
              <a:buFont typeface="+mj-lt"/>
              <a:buAutoNum type="arabicPeriod"/>
            </a:pPr>
            <a:r>
              <a:rPr lang="it-IT" sz="1600" dirty="0"/>
              <a:t>I need a testing for Native_interface (main.rs) and wasm using angular front-end. The test function can also be a ac of the tx message for now.</a:t>
            </a:r>
          </a:p>
          <a:p>
            <a:pPr marL="342900" indent="-342900">
              <a:buFont typeface="+mj-lt"/>
              <a:buAutoNum type="arabicPeriod"/>
            </a:pPr>
            <a:r>
              <a:rPr lang="it-IT" sz="1600" dirty="0"/>
              <a:t>I want it with classes and object oriented. I want it using only one crate separate the fun ctions with folders and files mod.rs.</a:t>
            </a:r>
          </a:p>
          <a:p>
            <a:pPr marL="342900" indent="-342900">
              <a:buFont typeface="+mj-lt"/>
              <a:buAutoNum type="arabicPeriod"/>
            </a:pPr>
            <a:r>
              <a:rPr lang="it-IT" sz="1600" dirty="0"/>
              <a:t>The creation of the wasm angular side must be an object whch remain alive in the front-end.</a:t>
            </a:r>
          </a:p>
          <a:p>
            <a:endParaRPr lang="it-IT" sz="1600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4927ECAE-8D2A-2AF3-A9C3-7A08C5371AC8}"/>
              </a:ext>
            </a:extLst>
          </p:cNvPr>
          <p:cNvSpPr txBox="1"/>
          <p:nvPr/>
        </p:nvSpPr>
        <p:spPr>
          <a:xfrm>
            <a:off x="2270865" y="4031055"/>
            <a:ext cx="177516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it-IT" dirty="0" err="1"/>
              <a:t>wasm_interface</a:t>
            </a:r>
            <a:endParaRPr lang="it-IT" dirty="0"/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49696274-DDBE-F151-B85E-D0B6DDCDD439}"/>
              </a:ext>
            </a:extLst>
          </p:cNvPr>
          <p:cNvSpPr txBox="1"/>
          <p:nvPr/>
        </p:nvSpPr>
        <p:spPr>
          <a:xfrm>
            <a:off x="2242290" y="5015821"/>
            <a:ext cx="181492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it-IT" dirty="0" err="1"/>
              <a:t>Native_interface</a:t>
            </a:r>
            <a:endParaRPr lang="it-IT" dirty="0"/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66BA3FB1-2D7D-5270-3EC9-CD2466BED51A}"/>
              </a:ext>
            </a:extLst>
          </p:cNvPr>
          <p:cNvSpPr txBox="1"/>
          <p:nvPr/>
        </p:nvSpPr>
        <p:spPr>
          <a:xfrm>
            <a:off x="4254670" y="3529286"/>
            <a:ext cx="109337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it-IT" dirty="0" err="1"/>
              <a:t>envelope</a:t>
            </a:r>
            <a:endParaRPr lang="it-IT" dirty="0"/>
          </a:p>
        </p:txBody>
      </p:sp>
      <p:sp>
        <p:nvSpPr>
          <p:cNvPr id="22" name="CasellaDiTesto 21">
            <a:extLst>
              <a:ext uri="{FF2B5EF4-FFF2-40B4-BE49-F238E27FC236}">
                <a16:creationId xmlns:a16="http://schemas.microsoft.com/office/drawing/2014/main" id="{C5430687-41B5-68DF-9EA9-6111FD4BDE68}"/>
              </a:ext>
            </a:extLst>
          </p:cNvPr>
          <p:cNvSpPr txBox="1"/>
          <p:nvPr/>
        </p:nvSpPr>
        <p:spPr>
          <a:xfrm>
            <a:off x="5598983" y="3518848"/>
            <a:ext cx="135998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it-IT" dirty="0" err="1"/>
              <a:t>request_api</a:t>
            </a:r>
            <a:endParaRPr lang="it-IT" dirty="0"/>
          </a:p>
        </p:txBody>
      </p:sp>
      <p:sp>
        <p:nvSpPr>
          <p:cNvPr id="32" name="CasellaDiTesto 31">
            <a:extLst>
              <a:ext uri="{FF2B5EF4-FFF2-40B4-BE49-F238E27FC236}">
                <a16:creationId xmlns:a16="http://schemas.microsoft.com/office/drawing/2014/main" id="{3EBD8A74-D572-1EAD-6EB2-8FA8B00303B7}"/>
              </a:ext>
            </a:extLst>
          </p:cNvPr>
          <p:cNvSpPr txBox="1"/>
          <p:nvPr/>
        </p:nvSpPr>
        <p:spPr>
          <a:xfrm>
            <a:off x="6898437" y="4498678"/>
            <a:ext cx="78354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it-IT" dirty="0"/>
              <a:t>solver</a:t>
            </a:r>
          </a:p>
        </p:txBody>
      </p:sp>
      <p:sp>
        <p:nvSpPr>
          <p:cNvPr id="33" name="CasellaDiTesto 32">
            <a:extLst>
              <a:ext uri="{FF2B5EF4-FFF2-40B4-BE49-F238E27FC236}">
                <a16:creationId xmlns:a16="http://schemas.microsoft.com/office/drawing/2014/main" id="{09547FC5-D5E8-0602-58FD-88D214DEC97B}"/>
              </a:ext>
            </a:extLst>
          </p:cNvPr>
          <p:cNvSpPr txBox="1"/>
          <p:nvPr/>
        </p:nvSpPr>
        <p:spPr>
          <a:xfrm>
            <a:off x="8531546" y="3269792"/>
            <a:ext cx="1271567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it-IT" dirty="0" err="1"/>
              <a:t>solver_test</a:t>
            </a:r>
            <a:endParaRPr lang="it-IT" dirty="0"/>
          </a:p>
        </p:txBody>
      </p:sp>
      <p:sp>
        <p:nvSpPr>
          <p:cNvPr id="36" name="CasellaDiTesto 35">
            <a:extLst>
              <a:ext uri="{FF2B5EF4-FFF2-40B4-BE49-F238E27FC236}">
                <a16:creationId xmlns:a16="http://schemas.microsoft.com/office/drawing/2014/main" id="{A53AAC8A-6568-9175-BCA5-6E5F25744B8B}"/>
              </a:ext>
            </a:extLst>
          </p:cNvPr>
          <p:cNvSpPr txBox="1"/>
          <p:nvPr/>
        </p:nvSpPr>
        <p:spPr>
          <a:xfrm>
            <a:off x="4652551" y="4498678"/>
            <a:ext cx="1892864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it-IT" dirty="0" err="1"/>
              <a:t>dispatcher</a:t>
            </a:r>
            <a:endParaRPr lang="it-IT" dirty="0"/>
          </a:p>
        </p:txBody>
      </p:sp>
      <p:sp>
        <p:nvSpPr>
          <p:cNvPr id="37" name="CasellaDiTesto 36">
            <a:extLst>
              <a:ext uri="{FF2B5EF4-FFF2-40B4-BE49-F238E27FC236}">
                <a16:creationId xmlns:a16="http://schemas.microsoft.com/office/drawing/2014/main" id="{F7DAC56D-2D3C-B97F-2DC8-FDFDEDCC903E}"/>
              </a:ext>
            </a:extLst>
          </p:cNvPr>
          <p:cNvSpPr txBox="1"/>
          <p:nvPr/>
        </p:nvSpPr>
        <p:spPr>
          <a:xfrm>
            <a:off x="2690143" y="6000587"/>
            <a:ext cx="92461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it-IT" dirty="0"/>
              <a:t>Main.rs</a:t>
            </a:r>
          </a:p>
        </p:txBody>
      </p:sp>
      <p:cxnSp>
        <p:nvCxnSpPr>
          <p:cNvPr id="39" name="Connettore a gomito 38">
            <a:extLst>
              <a:ext uri="{FF2B5EF4-FFF2-40B4-BE49-F238E27FC236}">
                <a16:creationId xmlns:a16="http://schemas.microsoft.com/office/drawing/2014/main" id="{53BCC99C-21A6-1387-0D6C-DB51B7BE5E19}"/>
              </a:ext>
            </a:extLst>
          </p:cNvPr>
          <p:cNvCxnSpPr>
            <a:cxnSpLocks/>
            <a:stCxn id="6" idx="3"/>
            <a:endCxn id="36" idx="1"/>
          </p:cNvCxnSpPr>
          <p:nvPr/>
        </p:nvCxnSpPr>
        <p:spPr>
          <a:xfrm>
            <a:off x="4046031" y="4215721"/>
            <a:ext cx="606520" cy="467623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Connettore a gomito 40">
            <a:extLst>
              <a:ext uri="{FF2B5EF4-FFF2-40B4-BE49-F238E27FC236}">
                <a16:creationId xmlns:a16="http://schemas.microsoft.com/office/drawing/2014/main" id="{B7C1C2E8-ECE0-3EBB-D3F0-10CA6A45C493}"/>
              </a:ext>
            </a:extLst>
          </p:cNvPr>
          <p:cNvCxnSpPr>
            <a:cxnSpLocks/>
            <a:stCxn id="10" idx="3"/>
            <a:endCxn id="36" idx="1"/>
          </p:cNvCxnSpPr>
          <p:nvPr/>
        </p:nvCxnSpPr>
        <p:spPr>
          <a:xfrm flipV="1">
            <a:off x="4057210" y="4683344"/>
            <a:ext cx="595341" cy="517143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8" name="Connettore 2 47">
            <a:extLst>
              <a:ext uri="{FF2B5EF4-FFF2-40B4-BE49-F238E27FC236}">
                <a16:creationId xmlns:a16="http://schemas.microsoft.com/office/drawing/2014/main" id="{4134EA2D-0E7B-4B36-DAF5-8829EF103897}"/>
              </a:ext>
            </a:extLst>
          </p:cNvPr>
          <p:cNvCxnSpPr>
            <a:stCxn id="37" idx="0"/>
            <a:endCxn id="10" idx="2"/>
          </p:cNvCxnSpPr>
          <p:nvPr/>
        </p:nvCxnSpPr>
        <p:spPr>
          <a:xfrm flipH="1" flipV="1">
            <a:off x="3149750" y="5385153"/>
            <a:ext cx="2699" cy="61543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0" name="Connettore a gomito 59">
            <a:extLst>
              <a:ext uri="{FF2B5EF4-FFF2-40B4-BE49-F238E27FC236}">
                <a16:creationId xmlns:a16="http://schemas.microsoft.com/office/drawing/2014/main" id="{5743FB44-8AE5-C908-25DF-514BE73EC78B}"/>
              </a:ext>
            </a:extLst>
          </p:cNvPr>
          <p:cNvCxnSpPr>
            <a:stCxn id="22" idx="2"/>
            <a:endCxn id="36" idx="0"/>
          </p:cNvCxnSpPr>
          <p:nvPr/>
        </p:nvCxnSpPr>
        <p:spPr>
          <a:xfrm rot="5400000">
            <a:off x="5633731" y="3853432"/>
            <a:ext cx="610498" cy="679994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2" name="Connettore a gomito 61">
            <a:extLst>
              <a:ext uri="{FF2B5EF4-FFF2-40B4-BE49-F238E27FC236}">
                <a16:creationId xmlns:a16="http://schemas.microsoft.com/office/drawing/2014/main" id="{4497F7E6-56CA-11F9-2D4F-5BA78618FD40}"/>
              </a:ext>
            </a:extLst>
          </p:cNvPr>
          <p:cNvCxnSpPr>
            <a:stCxn id="12" idx="2"/>
            <a:endCxn id="36" idx="0"/>
          </p:cNvCxnSpPr>
          <p:nvPr/>
        </p:nvCxnSpPr>
        <p:spPr>
          <a:xfrm rot="16200000" flipH="1">
            <a:off x="4900140" y="3799835"/>
            <a:ext cx="600060" cy="797625"/>
          </a:xfrm>
          <a:prstGeom prst="bentConnector3">
            <a:avLst>
              <a:gd name="adj1" fmla="val 48942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6" name="Connettore 2 65">
            <a:extLst>
              <a:ext uri="{FF2B5EF4-FFF2-40B4-BE49-F238E27FC236}">
                <a16:creationId xmlns:a16="http://schemas.microsoft.com/office/drawing/2014/main" id="{4A3963E7-823E-7D09-BEB9-93AD83B310EC}"/>
              </a:ext>
            </a:extLst>
          </p:cNvPr>
          <p:cNvCxnSpPr>
            <a:cxnSpLocks/>
            <a:stCxn id="36" idx="3"/>
            <a:endCxn id="32" idx="1"/>
          </p:cNvCxnSpPr>
          <p:nvPr/>
        </p:nvCxnSpPr>
        <p:spPr>
          <a:xfrm>
            <a:off x="6545415" y="4683344"/>
            <a:ext cx="353022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0" name="Connettore 2 69">
            <a:extLst>
              <a:ext uri="{FF2B5EF4-FFF2-40B4-BE49-F238E27FC236}">
                <a16:creationId xmlns:a16="http://schemas.microsoft.com/office/drawing/2014/main" id="{134870A4-F12D-9408-4585-6C321E6D7D82}"/>
              </a:ext>
            </a:extLst>
          </p:cNvPr>
          <p:cNvCxnSpPr>
            <a:cxnSpLocks/>
            <a:stCxn id="32" idx="3"/>
            <a:endCxn id="74" idx="1"/>
          </p:cNvCxnSpPr>
          <p:nvPr/>
        </p:nvCxnSpPr>
        <p:spPr>
          <a:xfrm>
            <a:off x="7681985" y="4683344"/>
            <a:ext cx="756294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3" name="CasellaDiTesto 72">
            <a:extLst>
              <a:ext uri="{FF2B5EF4-FFF2-40B4-BE49-F238E27FC236}">
                <a16:creationId xmlns:a16="http://schemas.microsoft.com/office/drawing/2014/main" id="{DB71A6FC-C92C-59F3-D69A-D2EEC97FBF88}"/>
              </a:ext>
            </a:extLst>
          </p:cNvPr>
          <p:cNvSpPr txBox="1"/>
          <p:nvPr/>
        </p:nvSpPr>
        <p:spPr>
          <a:xfrm>
            <a:off x="10388434" y="3298935"/>
            <a:ext cx="56688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it-IT" dirty="0"/>
              <a:t>test</a:t>
            </a:r>
          </a:p>
        </p:txBody>
      </p:sp>
      <p:sp>
        <p:nvSpPr>
          <p:cNvPr id="74" name="Rettangolo 73">
            <a:extLst>
              <a:ext uri="{FF2B5EF4-FFF2-40B4-BE49-F238E27FC236}">
                <a16:creationId xmlns:a16="http://schemas.microsoft.com/office/drawing/2014/main" id="{DB0A6061-13E0-9395-7A23-F468537EDB23}"/>
              </a:ext>
            </a:extLst>
          </p:cNvPr>
          <p:cNvSpPr/>
          <p:nvPr/>
        </p:nvSpPr>
        <p:spPr>
          <a:xfrm>
            <a:off x="8438279" y="3124707"/>
            <a:ext cx="1467941" cy="3117273"/>
          </a:xfrm>
          <a:custGeom>
            <a:avLst/>
            <a:gdLst>
              <a:gd name="connsiteX0" fmla="*/ 0 w 1467941"/>
              <a:gd name="connsiteY0" fmla="*/ 0 h 3117273"/>
              <a:gd name="connsiteX1" fmla="*/ 474634 w 1467941"/>
              <a:gd name="connsiteY1" fmla="*/ 0 h 3117273"/>
              <a:gd name="connsiteX2" fmla="*/ 919910 w 1467941"/>
              <a:gd name="connsiteY2" fmla="*/ 0 h 3117273"/>
              <a:gd name="connsiteX3" fmla="*/ 1467941 w 1467941"/>
              <a:gd name="connsiteY3" fmla="*/ 0 h 3117273"/>
              <a:gd name="connsiteX4" fmla="*/ 1467941 w 1467941"/>
              <a:gd name="connsiteY4" fmla="*/ 488373 h 3117273"/>
              <a:gd name="connsiteX5" fmla="*/ 1467941 w 1467941"/>
              <a:gd name="connsiteY5" fmla="*/ 945573 h 3117273"/>
              <a:gd name="connsiteX6" fmla="*/ 1467941 w 1467941"/>
              <a:gd name="connsiteY6" fmla="*/ 1402773 h 3117273"/>
              <a:gd name="connsiteX7" fmla="*/ 1467941 w 1467941"/>
              <a:gd name="connsiteY7" fmla="*/ 1922318 h 3117273"/>
              <a:gd name="connsiteX8" fmla="*/ 1467941 w 1467941"/>
              <a:gd name="connsiteY8" fmla="*/ 2441864 h 3117273"/>
              <a:gd name="connsiteX9" fmla="*/ 1467941 w 1467941"/>
              <a:gd name="connsiteY9" fmla="*/ 3117273 h 3117273"/>
              <a:gd name="connsiteX10" fmla="*/ 1007986 w 1467941"/>
              <a:gd name="connsiteY10" fmla="*/ 3117273 h 3117273"/>
              <a:gd name="connsiteX11" fmla="*/ 518672 w 1467941"/>
              <a:gd name="connsiteY11" fmla="*/ 3117273 h 3117273"/>
              <a:gd name="connsiteX12" fmla="*/ 0 w 1467941"/>
              <a:gd name="connsiteY12" fmla="*/ 3117273 h 3117273"/>
              <a:gd name="connsiteX13" fmla="*/ 0 w 1467941"/>
              <a:gd name="connsiteY13" fmla="*/ 2535382 h 3117273"/>
              <a:gd name="connsiteX14" fmla="*/ 0 w 1467941"/>
              <a:gd name="connsiteY14" fmla="*/ 1953491 h 3117273"/>
              <a:gd name="connsiteX15" fmla="*/ 0 w 1467941"/>
              <a:gd name="connsiteY15" fmla="*/ 1371600 h 3117273"/>
              <a:gd name="connsiteX16" fmla="*/ 0 w 1467941"/>
              <a:gd name="connsiteY16" fmla="*/ 852055 h 3117273"/>
              <a:gd name="connsiteX17" fmla="*/ 0 w 1467941"/>
              <a:gd name="connsiteY17" fmla="*/ 0 h 31172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1467941" h="3117273" extrusionOk="0">
                <a:moveTo>
                  <a:pt x="0" y="0"/>
                </a:moveTo>
                <a:cubicBezTo>
                  <a:pt x="211877" y="-52386"/>
                  <a:pt x="307341" y="18973"/>
                  <a:pt x="474634" y="0"/>
                </a:cubicBezTo>
                <a:cubicBezTo>
                  <a:pt x="641927" y="-18973"/>
                  <a:pt x="759383" y="51385"/>
                  <a:pt x="919910" y="0"/>
                </a:cubicBezTo>
                <a:cubicBezTo>
                  <a:pt x="1080437" y="-51385"/>
                  <a:pt x="1249433" y="39903"/>
                  <a:pt x="1467941" y="0"/>
                </a:cubicBezTo>
                <a:cubicBezTo>
                  <a:pt x="1502799" y="100769"/>
                  <a:pt x="1454178" y="354173"/>
                  <a:pt x="1467941" y="488373"/>
                </a:cubicBezTo>
                <a:cubicBezTo>
                  <a:pt x="1481704" y="622573"/>
                  <a:pt x="1450797" y="735245"/>
                  <a:pt x="1467941" y="945573"/>
                </a:cubicBezTo>
                <a:cubicBezTo>
                  <a:pt x="1485085" y="1155901"/>
                  <a:pt x="1416204" y="1205883"/>
                  <a:pt x="1467941" y="1402773"/>
                </a:cubicBezTo>
                <a:cubicBezTo>
                  <a:pt x="1519678" y="1599663"/>
                  <a:pt x="1438947" y="1697085"/>
                  <a:pt x="1467941" y="1922318"/>
                </a:cubicBezTo>
                <a:cubicBezTo>
                  <a:pt x="1496935" y="2147551"/>
                  <a:pt x="1412868" y="2206899"/>
                  <a:pt x="1467941" y="2441864"/>
                </a:cubicBezTo>
                <a:cubicBezTo>
                  <a:pt x="1523014" y="2676829"/>
                  <a:pt x="1404538" y="2949407"/>
                  <a:pt x="1467941" y="3117273"/>
                </a:cubicBezTo>
                <a:cubicBezTo>
                  <a:pt x="1253318" y="3119792"/>
                  <a:pt x="1208377" y="3092330"/>
                  <a:pt x="1007986" y="3117273"/>
                </a:cubicBezTo>
                <a:cubicBezTo>
                  <a:pt x="807595" y="3142216"/>
                  <a:pt x="629148" y="3113570"/>
                  <a:pt x="518672" y="3117273"/>
                </a:cubicBezTo>
                <a:cubicBezTo>
                  <a:pt x="408196" y="3120976"/>
                  <a:pt x="250709" y="3086378"/>
                  <a:pt x="0" y="3117273"/>
                </a:cubicBezTo>
                <a:cubicBezTo>
                  <a:pt x="-31990" y="2867740"/>
                  <a:pt x="57248" y="2701683"/>
                  <a:pt x="0" y="2535382"/>
                </a:cubicBezTo>
                <a:cubicBezTo>
                  <a:pt x="-57248" y="2369081"/>
                  <a:pt x="52870" y="2105598"/>
                  <a:pt x="0" y="1953491"/>
                </a:cubicBezTo>
                <a:cubicBezTo>
                  <a:pt x="-52870" y="1801384"/>
                  <a:pt x="53612" y="1621815"/>
                  <a:pt x="0" y="1371600"/>
                </a:cubicBezTo>
                <a:cubicBezTo>
                  <a:pt x="-53612" y="1121385"/>
                  <a:pt x="29" y="968717"/>
                  <a:pt x="0" y="852055"/>
                </a:cubicBezTo>
                <a:cubicBezTo>
                  <a:pt x="-29" y="735394"/>
                  <a:pt x="35022" y="185476"/>
                  <a:pt x="0" y="0"/>
                </a:cubicBezTo>
                <a:close/>
              </a:path>
            </a:pathLst>
          </a:custGeom>
          <a:noFill/>
          <a:ln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76" name="CasellaDiTesto 75">
            <a:extLst>
              <a:ext uri="{FF2B5EF4-FFF2-40B4-BE49-F238E27FC236}">
                <a16:creationId xmlns:a16="http://schemas.microsoft.com/office/drawing/2014/main" id="{2D3C53E5-1F12-5852-CBC4-D5BD11E071C0}"/>
              </a:ext>
            </a:extLst>
          </p:cNvPr>
          <p:cNvSpPr txBox="1"/>
          <p:nvPr/>
        </p:nvSpPr>
        <p:spPr>
          <a:xfrm>
            <a:off x="8695843" y="2765347"/>
            <a:ext cx="9429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b="1" dirty="0" err="1"/>
              <a:t>solvers</a:t>
            </a:r>
            <a:endParaRPr lang="it-IT" b="1" dirty="0"/>
          </a:p>
        </p:txBody>
      </p:sp>
      <p:sp>
        <p:nvSpPr>
          <p:cNvPr id="79" name="Rettangolo 78">
            <a:extLst>
              <a:ext uri="{FF2B5EF4-FFF2-40B4-BE49-F238E27FC236}">
                <a16:creationId xmlns:a16="http://schemas.microsoft.com/office/drawing/2014/main" id="{5635BDEE-63BC-CED8-101C-766F0C076F5D}"/>
              </a:ext>
            </a:extLst>
          </p:cNvPr>
          <p:cNvSpPr/>
          <p:nvPr/>
        </p:nvSpPr>
        <p:spPr>
          <a:xfrm>
            <a:off x="10222388" y="3124707"/>
            <a:ext cx="1827750" cy="3117273"/>
          </a:xfrm>
          <a:custGeom>
            <a:avLst/>
            <a:gdLst>
              <a:gd name="connsiteX0" fmla="*/ 0 w 1827750"/>
              <a:gd name="connsiteY0" fmla="*/ 0 h 3117273"/>
              <a:gd name="connsiteX1" fmla="*/ 438660 w 1827750"/>
              <a:gd name="connsiteY1" fmla="*/ 0 h 3117273"/>
              <a:gd name="connsiteX2" fmla="*/ 840765 w 1827750"/>
              <a:gd name="connsiteY2" fmla="*/ 0 h 3117273"/>
              <a:gd name="connsiteX3" fmla="*/ 1334258 w 1827750"/>
              <a:gd name="connsiteY3" fmla="*/ 0 h 3117273"/>
              <a:gd name="connsiteX4" fmla="*/ 1827750 w 1827750"/>
              <a:gd name="connsiteY4" fmla="*/ 0 h 3117273"/>
              <a:gd name="connsiteX5" fmla="*/ 1827750 w 1827750"/>
              <a:gd name="connsiteY5" fmla="*/ 488373 h 3117273"/>
              <a:gd name="connsiteX6" fmla="*/ 1827750 w 1827750"/>
              <a:gd name="connsiteY6" fmla="*/ 945573 h 3117273"/>
              <a:gd name="connsiteX7" fmla="*/ 1827750 w 1827750"/>
              <a:gd name="connsiteY7" fmla="*/ 1465118 h 3117273"/>
              <a:gd name="connsiteX8" fmla="*/ 1827750 w 1827750"/>
              <a:gd name="connsiteY8" fmla="*/ 1984664 h 3117273"/>
              <a:gd name="connsiteX9" fmla="*/ 1827750 w 1827750"/>
              <a:gd name="connsiteY9" fmla="*/ 2441864 h 3117273"/>
              <a:gd name="connsiteX10" fmla="*/ 1827750 w 1827750"/>
              <a:gd name="connsiteY10" fmla="*/ 3117273 h 3117273"/>
              <a:gd name="connsiteX11" fmla="*/ 1370813 w 1827750"/>
              <a:gd name="connsiteY11" fmla="*/ 3117273 h 3117273"/>
              <a:gd name="connsiteX12" fmla="*/ 932153 w 1827750"/>
              <a:gd name="connsiteY12" fmla="*/ 3117273 h 3117273"/>
              <a:gd name="connsiteX13" fmla="*/ 438660 w 1827750"/>
              <a:gd name="connsiteY13" fmla="*/ 3117273 h 3117273"/>
              <a:gd name="connsiteX14" fmla="*/ 0 w 1827750"/>
              <a:gd name="connsiteY14" fmla="*/ 3117273 h 3117273"/>
              <a:gd name="connsiteX15" fmla="*/ 0 w 1827750"/>
              <a:gd name="connsiteY15" fmla="*/ 2660073 h 3117273"/>
              <a:gd name="connsiteX16" fmla="*/ 0 w 1827750"/>
              <a:gd name="connsiteY16" fmla="*/ 2140527 h 3117273"/>
              <a:gd name="connsiteX17" fmla="*/ 0 w 1827750"/>
              <a:gd name="connsiteY17" fmla="*/ 1652155 h 3117273"/>
              <a:gd name="connsiteX18" fmla="*/ 0 w 1827750"/>
              <a:gd name="connsiteY18" fmla="*/ 1226127 h 3117273"/>
              <a:gd name="connsiteX19" fmla="*/ 0 w 1827750"/>
              <a:gd name="connsiteY19" fmla="*/ 768927 h 3117273"/>
              <a:gd name="connsiteX20" fmla="*/ 0 w 1827750"/>
              <a:gd name="connsiteY20" fmla="*/ 0 h 31172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1827750" h="3117273" extrusionOk="0">
                <a:moveTo>
                  <a:pt x="0" y="0"/>
                </a:moveTo>
                <a:cubicBezTo>
                  <a:pt x="146258" y="-29137"/>
                  <a:pt x="292439" y="13717"/>
                  <a:pt x="438660" y="0"/>
                </a:cubicBezTo>
                <a:cubicBezTo>
                  <a:pt x="584881" y="-13717"/>
                  <a:pt x="640501" y="3961"/>
                  <a:pt x="840765" y="0"/>
                </a:cubicBezTo>
                <a:cubicBezTo>
                  <a:pt x="1041030" y="-3961"/>
                  <a:pt x="1125334" y="44417"/>
                  <a:pt x="1334258" y="0"/>
                </a:cubicBezTo>
                <a:cubicBezTo>
                  <a:pt x="1543182" y="-44417"/>
                  <a:pt x="1636731" y="30386"/>
                  <a:pt x="1827750" y="0"/>
                </a:cubicBezTo>
                <a:cubicBezTo>
                  <a:pt x="1835214" y="133769"/>
                  <a:pt x="1804973" y="362110"/>
                  <a:pt x="1827750" y="488373"/>
                </a:cubicBezTo>
                <a:cubicBezTo>
                  <a:pt x="1850527" y="614636"/>
                  <a:pt x="1776013" y="748683"/>
                  <a:pt x="1827750" y="945573"/>
                </a:cubicBezTo>
                <a:cubicBezTo>
                  <a:pt x="1879487" y="1142463"/>
                  <a:pt x="1798756" y="1239885"/>
                  <a:pt x="1827750" y="1465118"/>
                </a:cubicBezTo>
                <a:cubicBezTo>
                  <a:pt x="1856744" y="1690351"/>
                  <a:pt x="1772677" y="1749699"/>
                  <a:pt x="1827750" y="1984664"/>
                </a:cubicBezTo>
                <a:cubicBezTo>
                  <a:pt x="1882823" y="2219629"/>
                  <a:pt x="1785882" y="2239993"/>
                  <a:pt x="1827750" y="2441864"/>
                </a:cubicBezTo>
                <a:cubicBezTo>
                  <a:pt x="1869618" y="2643735"/>
                  <a:pt x="1824243" y="2833449"/>
                  <a:pt x="1827750" y="3117273"/>
                </a:cubicBezTo>
                <a:cubicBezTo>
                  <a:pt x="1672735" y="3146203"/>
                  <a:pt x="1462841" y="3064954"/>
                  <a:pt x="1370813" y="3117273"/>
                </a:cubicBezTo>
                <a:cubicBezTo>
                  <a:pt x="1278785" y="3169592"/>
                  <a:pt x="1135052" y="3072568"/>
                  <a:pt x="932153" y="3117273"/>
                </a:cubicBezTo>
                <a:cubicBezTo>
                  <a:pt x="729254" y="3161978"/>
                  <a:pt x="640642" y="3103726"/>
                  <a:pt x="438660" y="3117273"/>
                </a:cubicBezTo>
                <a:cubicBezTo>
                  <a:pt x="236678" y="3130820"/>
                  <a:pt x="157665" y="3101301"/>
                  <a:pt x="0" y="3117273"/>
                </a:cubicBezTo>
                <a:cubicBezTo>
                  <a:pt x="-25261" y="2956228"/>
                  <a:pt x="34240" y="2876772"/>
                  <a:pt x="0" y="2660073"/>
                </a:cubicBezTo>
                <a:cubicBezTo>
                  <a:pt x="-34240" y="2443374"/>
                  <a:pt x="60107" y="2258438"/>
                  <a:pt x="0" y="2140527"/>
                </a:cubicBezTo>
                <a:cubicBezTo>
                  <a:pt x="-60107" y="2022616"/>
                  <a:pt x="57803" y="1765393"/>
                  <a:pt x="0" y="1652155"/>
                </a:cubicBezTo>
                <a:cubicBezTo>
                  <a:pt x="-57803" y="1538917"/>
                  <a:pt x="9696" y="1438641"/>
                  <a:pt x="0" y="1226127"/>
                </a:cubicBezTo>
                <a:cubicBezTo>
                  <a:pt x="-9696" y="1013613"/>
                  <a:pt x="48673" y="966617"/>
                  <a:pt x="0" y="768927"/>
                </a:cubicBezTo>
                <a:cubicBezTo>
                  <a:pt x="-48673" y="571237"/>
                  <a:pt x="89471" y="322221"/>
                  <a:pt x="0" y="0"/>
                </a:cubicBezTo>
                <a:close/>
              </a:path>
            </a:pathLst>
          </a:custGeom>
          <a:noFill/>
          <a:ln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80" name="CasellaDiTesto 79">
            <a:extLst>
              <a:ext uri="{FF2B5EF4-FFF2-40B4-BE49-F238E27FC236}">
                <a16:creationId xmlns:a16="http://schemas.microsoft.com/office/drawing/2014/main" id="{63A32B1F-1633-E2B2-39D0-F65CF9DDD6D1}"/>
              </a:ext>
            </a:extLst>
          </p:cNvPr>
          <p:cNvSpPr txBox="1"/>
          <p:nvPr/>
        </p:nvSpPr>
        <p:spPr>
          <a:xfrm>
            <a:off x="10729023" y="2755375"/>
            <a:ext cx="9429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b="1" dirty="0" err="1"/>
              <a:t>GPUs</a:t>
            </a:r>
            <a:endParaRPr lang="it-IT" b="1" dirty="0"/>
          </a:p>
        </p:txBody>
      </p:sp>
      <p:sp>
        <p:nvSpPr>
          <p:cNvPr id="81" name="CasellaDiTesto 80">
            <a:extLst>
              <a:ext uri="{FF2B5EF4-FFF2-40B4-BE49-F238E27FC236}">
                <a16:creationId xmlns:a16="http://schemas.microsoft.com/office/drawing/2014/main" id="{A9255058-FF73-5C63-04B4-7B2085F029C4}"/>
              </a:ext>
            </a:extLst>
          </p:cNvPr>
          <p:cNvSpPr txBox="1"/>
          <p:nvPr/>
        </p:nvSpPr>
        <p:spPr>
          <a:xfrm>
            <a:off x="10388434" y="3734704"/>
            <a:ext cx="1455207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it-IT" dirty="0"/>
              <a:t>Sub-network</a:t>
            </a:r>
          </a:p>
        </p:txBody>
      </p:sp>
      <p:cxnSp>
        <p:nvCxnSpPr>
          <p:cNvPr id="83" name="Connettore 2 82">
            <a:extLst>
              <a:ext uri="{FF2B5EF4-FFF2-40B4-BE49-F238E27FC236}">
                <a16:creationId xmlns:a16="http://schemas.microsoft.com/office/drawing/2014/main" id="{D7936B54-C2D1-7626-D836-D66AC76A7B90}"/>
              </a:ext>
            </a:extLst>
          </p:cNvPr>
          <p:cNvCxnSpPr>
            <a:cxnSpLocks/>
            <a:stCxn id="74" idx="3"/>
            <a:endCxn id="79" idx="1"/>
          </p:cNvCxnSpPr>
          <p:nvPr/>
        </p:nvCxnSpPr>
        <p:spPr>
          <a:xfrm>
            <a:off x="9906220" y="4683344"/>
            <a:ext cx="31616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6" name="CasellaDiTesto 85">
            <a:extLst>
              <a:ext uri="{FF2B5EF4-FFF2-40B4-BE49-F238E27FC236}">
                <a16:creationId xmlns:a16="http://schemas.microsoft.com/office/drawing/2014/main" id="{07F66DD0-14D3-5F7F-E122-207D142A1FB4}"/>
              </a:ext>
            </a:extLst>
          </p:cNvPr>
          <p:cNvSpPr txBox="1"/>
          <p:nvPr/>
        </p:nvSpPr>
        <p:spPr>
          <a:xfrm>
            <a:off x="8531546" y="3813818"/>
            <a:ext cx="113140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it-IT" dirty="0" err="1"/>
              <a:t>solver_sp</a:t>
            </a:r>
            <a:endParaRPr lang="it-IT" dirty="0"/>
          </a:p>
        </p:txBody>
      </p:sp>
      <p:graphicFrame>
        <p:nvGraphicFramePr>
          <p:cNvPr id="89" name="Oggetto 88">
            <a:extLst>
              <a:ext uri="{FF2B5EF4-FFF2-40B4-BE49-F238E27FC236}">
                <a16:creationId xmlns:a16="http://schemas.microsoft.com/office/drawing/2014/main" id="{1A6B29A6-3C8A-6621-37C1-499694FAC422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282445579"/>
              </p:ext>
            </p:extLst>
          </p:nvPr>
        </p:nvGraphicFramePr>
        <p:xfrm>
          <a:off x="5644521" y="2931989"/>
          <a:ext cx="1314450" cy="5143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ackager Shell Object" showAsIcon="1" r:id="rId2" imgW="1314412" imgH="514350" progId="Package">
                  <p:embed/>
                </p:oleObj>
              </mc:Choice>
              <mc:Fallback>
                <p:oleObj name="Packager Shell Object" showAsIcon="1" r:id="rId2" imgW="1314412" imgH="514350" progId="Package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5644521" y="2931989"/>
                        <a:ext cx="1314450" cy="5143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3" name="CasellaDiTesto 92">
            <a:extLst>
              <a:ext uri="{FF2B5EF4-FFF2-40B4-BE49-F238E27FC236}">
                <a16:creationId xmlns:a16="http://schemas.microsoft.com/office/drawing/2014/main" id="{487C6CA1-F806-E653-4B10-FB1702B8F262}"/>
              </a:ext>
            </a:extLst>
          </p:cNvPr>
          <p:cNvSpPr txBox="1"/>
          <p:nvPr/>
        </p:nvSpPr>
        <p:spPr>
          <a:xfrm>
            <a:off x="148932" y="4378095"/>
            <a:ext cx="94769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it-IT" dirty="0" err="1"/>
              <a:t>Angular</a:t>
            </a:r>
            <a:endParaRPr lang="it-IT" dirty="0"/>
          </a:p>
        </p:txBody>
      </p:sp>
      <p:sp>
        <p:nvSpPr>
          <p:cNvPr id="94" name="Freccia a destra 93">
            <a:extLst>
              <a:ext uri="{FF2B5EF4-FFF2-40B4-BE49-F238E27FC236}">
                <a16:creationId xmlns:a16="http://schemas.microsoft.com/office/drawing/2014/main" id="{52FEE13F-3202-9608-627E-54FAE1A4688D}"/>
              </a:ext>
            </a:extLst>
          </p:cNvPr>
          <p:cNvSpPr/>
          <p:nvPr/>
        </p:nvSpPr>
        <p:spPr>
          <a:xfrm>
            <a:off x="1162859" y="4320445"/>
            <a:ext cx="887356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JSON</a:t>
            </a:r>
          </a:p>
        </p:txBody>
      </p:sp>
      <p:cxnSp>
        <p:nvCxnSpPr>
          <p:cNvPr id="96" name="Connettore diritto 95">
            <a:extLst>
              <a:ext uri="{FF2B5EF4-FFF2-40B4-BE49-F238E27FC236}">
                <a16:creationId xmlns:a16="http://schemas.microsoft.com/office/drawing/2014/main" id="{FCC0162A-A433-07E0-9AAE-6885A3A00D49}"/>
              </a:ext>
            </a:extLst>
          </p:cNvPr>
          <p:cNvCxnSpPr/>
          <p:nvPr/>
        </p:nvCxnSpPr>
        <p:spPr>
          <a:xfrm>
            <a:off x="2112561" y="2951018"/>
            <a:ext cx="0" cy="3470564"/>
          </a:xfrm>
          <a:prstGeom prst="line">
            <a:avLst/>
          </a:prstGeom>
          <a:ln>
            <a:prstDash val="dashDot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CasellaDiTesto 31">
            <a:extLst>
              <a:ext uri="{FF2B5EF4-FFF2-40B4-BE49-F238E27FC236}">
                <a16:creationId xmlns:a16="http://schemas.microsoft.com/office/drawing/2014/main" id="{D2D471B9-DFB8-9700-E719-ABC993B9154F}"/>
              </a:ext>
            </a:extLst>
          </p:cNvPr>
          <p:cNvSpPr txBox="1"/>
          <p:nvPr/>
        </p:nvSpPr>
        <p:spPr>
          <a:xfrm>
            <a:off x="6437993" y="5439997"/>
            <a:ext cx="94314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it-IT" dirty="0"/>
              <a:t>dataset</a:t>
            </a:r>
          </a:p>
        </p:txBody>
      </p:sp>
      <p:sp>
        <p:nvSpPr>
          <p:cNvPr id="5" name="CasellaDiTesto 31">
            <a:extLst>
              <a:ext uri="{FF2B5EF4-FFF2-40B4-BE49-F238E27FC236}">
                <a16:creationId xmlns:a16="http://schemas.microsoft.com/office/drawing/2014/main" id="{892BC87E-F0BF-31F2-2D61-F044B4C6FC89}"/>
              </a:ext>
            </a:extLst>
          </p:cNvPr>
          <p:cNvSpPr txBox="1"/>
          <p:nvPr/>
        </p:nvSpPr>
        <p:spPr>
          <a:xfrm>
            <a:off x="7493199" y="5439834"/>
            <a:ext cx="63376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it-IT" dirty="0"/>
              <a:t>data</a:t>
            </a:r>
          </a:p>
        </p:txBody>
      </p:sp>
      <p:sp>
        <p:nvSpPr>
          <p:cNvPr id="8" name="CasellaDiTesto 31">
            <a:extLst>
              <a:ext uri="{FF2B5EF4-FFF2-40B4-BE49-F238E27FC236}">
                <a16:creationId xmlns:a16="http://schemas.microsoft.com/office/drawing/2014/main" id="{FFC4123F-5FD7-8645-949F-AA8E2DDA6E3C}"/>
              </a:ext>
            </a:extLst>
          </p:cNvPr>
          <p:cNvSpPr txBox="1"/>
          <p:nvPr/>
        </p:nvSpPr>
        <p:spPr>
          <a:xfrm>
            <a:off x="5517439" y="5439997"/>
            <a:ext cx="808491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it-IT" dirty="0"/>
              <a:t>netlist</a:t>
            </a:r>
          </a:p>
        </p:txBody>
      </p: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3ABE4552-7AB9-B4F3-043A-752F99CECE9A}"/>
              </a:ext>
            </a:extLst>
          </p:cNvPr>
          <p:cNvCxnSpPr>
            <a:stCxn id="8" idx="0"/>
            <a:endCxn id="32" idx="2"/>
          </p:cNvCxnSpPr>
          <p:nvPr/>
        </p:nvCxnSpPr>
        <p:spPr>
          <a:xfrm rot="5400000" flipH="1" flipV="1">
            <a:off x="6319955" y="4469741"/>
            <a:ext cx="571987" cy="1368526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26E79F38-5729-A6E2-76A8-1888634DB4BF}"/>
              </a:ext>
            </a:extLst>
          </p:cNvPr>
          <p:cNvCxnSpPr>
            <a:stCxn id="4" idx="0"/>
            <a:endCxn id="32" idx="2"/>
          </p:cNvCxnSpPr>
          <p:nvPr/>
        </p:nvCxnSpPr>
        <p:spPr>
          <a:xfrm rot="5400000" flipH="1" flipV="1">
            <a:off x="6813895" y="4963681"/>
            <a:ext cx="571987" cy="380646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A23FC2F5-B3C2-66B7-164B-031DABAD4DF8}"/>
              </a:ext>
            </a:extLst>
          </p:cNvPr>
          <p:cNvCxnSpPr>
            <a:stCxn id="5" idx="0"/>
            <a:endCxn id="32" idx="2"/>
          </p:cNvCxnSpPr>
          <p:nvPr/>
        </p:nvCxnSpPr>
        <p:spPr>
          <a:xfrm rot="16200000" flipV="1">
            <a:off x="7264234" y="4893987"/>
            <a:ext cx="571824" cy="51987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55265191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2907</TotalTime>
  <Words>1067</Words>
  <Application>Microsoft Office PowerPoint</Application>
  <PresentationFormat>Widescreen</PresentationFormat>
  <Paragraphs>196</Paragraphs>
  <Slides>8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Aptos</vt:lpstr>
      <vt:lpstr>Aptos Display</vt:lpstr>
      <vt:lpstr>Arial</vt:lpstr>
      <vt:lpstr>Tema di Office</vt:lpstr>
      <vt:lpstr>Package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Massimo Del prete</dc:creator>
  <cp:lastModifiedBy>Del Prete, Massimo</cp:lastModifiedBy>
  <cp:revision>213</cp:revision>
  <dcterms:created xsi:type="dcterms:W3CDTF">2025-11-19T16:40:24Z</dcterms:created>
  <dcterms:modified xsi:type="dcterms:W3CDTF">2025-12-05T12:04:37Z</dcterms:modified>
</cp:coreProperties>
</file>